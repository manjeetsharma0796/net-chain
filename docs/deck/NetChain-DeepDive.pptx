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7FA6C9"/>
          </a:solidFill>
          <a:ln/>
        </p:spPr>
      </p:sp>
      <p:sp>
        <p:nvSpPr>
          <p:cNvPr id="3" name="Text 1"/>
          <p:cNvSpPr/>
          <p:nvPr/>
        </p:nvSpPr>
        <p:spPr>
          <a:xfrm>
            <a:off x="640080" y="1828800"/>
            <a:ext cx="10911535" cy="1097280"/>
          </a:xfrm>
          <a:prstGeom prst="rect">
            <a:avLst/>
          </a:prstGeom>
          <a:noFill/>
          <a:ln/>
        </p:spPr>
        <p:txBody>
          <a:bodyPr wrap="square" rtlCol="0" anchor="ctr"/>
          <a:lstStyle/>
          <a:p>
            <a:pPr indent="0" marL="0">
              <a:buNone/>
            </a:pPr>
            <a:r>
              <a:rPr lang="en-US" sz="6000" b="1" dirty="0">
                <a:solidFill>
                  <a:srgbClr val="FFFFFF"/>
                </a:solidFill>
                <a:latin typeface="Segoe UI" pitchFamily="34" charset="0"/>
                <a:ea typeface="Segoe UI" pitchFamily="34" charset="-122"/>
                <a:cs typeface="Segoe UI" pitchFamily="34" charset="-120"/>
              </a:rPr>
              <a:t>NetChain</a:t>
            </a:r>
            <a:endParaRPr lang="en-US" sz="6000" dirty="0"/>
          </a:p>
        </p:txBody>
      </p:sp>
      <p:sp>
        <p:nvSpPr>
          <p:cNvPr id="4" name="Text 2"/>
          <p:cNvSpPr/>
          <p:nvPr/>
        </p:nvSpPr>
        <p:spPr>
          <a:xfrm>
            <a:off x="640080" y="2971800"/>
            <a:ext cx="10058400" cy="548640"/>
          </a:xfrm>
          <a:prstGeom prst="rect">
            <a:avLst/>
          </a:prstGeom>
          <a:noFill/>
          <a:ln/>
        </p:spPr>
        <p:txBody>
          <a:bodyPr wrap="square" rtlCol="0" anchor="ctr"/>
          <a:lstStyle/>
          <a:p>
            <a:pPr indent="0" marL="0">
              <a:buNone/>
            </a:pPr>
            <a:r>
              <a:rPr lang="en-US" sz="2200" dirty="0">
                <a:solidFill>
                  <a:srgbClr val="E6EDF3"/>
                </a:solidFill>
                <a:latin typeface="Segoe UI" pitchFamily="34" charset="0"/>
                <a:ea typeface="Segoe UI" pitchFamily="34" charset="-122"/>
                <a:cs typeface="Segoe UI" pitchFamily="34" charset="-120"/>
              </a:rPr>
              <a:t>A deep dive into the platform and how it works</a:t>
            </a:r>
            <a:endParaRPr lang="en-US" sz="2200" dirty="0"/>
          </a:p>
        </p:txBody>
      </p:sp>
      <p:sp>
        <p:nvSpPr>
          <p:cNvPr id="5" name="Text 3"/>
          <p:cNvSpPr/>
          <p:nvPr/>
        </p:nvSpPr>
        <p:spPr>
          <a:xfrm>
            <a:off x="640080" y="3611880"/>
            <a:ext cx="10515600" cy="548640"/>
          </a:xfrm>
          <a:prstGeom prst="rect">
            <a:avLst/>
          </a:prstGeom>
          <a:noFill/>
          <a:ln/>
        </p:spPr>
        <p:txBody>
          <a:bodyPr wrap="square" rtlCol="0" anchor="ctr"/>
          <a:lstStyle/>
          <a:p>
            <a:pPr indent="0" marL="0">
              <a:buNone/>
            </a:pPr>
            <a:r>
              <a:rPr lang="en-US" sz="1500" i="1" dirty="0">
                <a:solidFill>
                  <a:srgbClr val="7FA6C9"/>
                </a:solidFill>
                <a:latin typeface="Segoe UI" pitchFamily="34" charset="0"/>
                <a:ea typeface="Segoe UI" pitchFamily="34" charset="-122"/>
                <a:cs typeface="Segoe UI" pitchFamily="34" charset="-120"/>
              </a:rPr>
              <a:t>Confidential multilateral netting with atomic settlement on Canton. AI proposes, the ledger disposes.</a:t>
            </a:r>
            <a:endParaRPr lang="en-US" sz="1500" dirty="0"/>
          </a:p>
        </p:txBody>
      </p:sp>
      <p:sp>
        <p:nvSpPr>
          <p:cNvPr id="6" name="Text 4"/>
          <p:cNvSpPr/>
          <p:nvPr/>
        </p:nvSpPr>
        <p:spPr>
          <a:xfrm>
            <a:off x="640080" y="5669280"/>
            <a:ext cx="10972800" cy="365760"/>
          </a:xfrm>
          <a:prstGeom prst="rect">
            <a:avLst/>
          </a:prstGeom>
          <a:noFill/>
          <a:ln/>
        </p:spPr>
        <p:txBody>
          <a:bodyPr wrap="square" rtlCol="0" anchor="ctr"/>
          <a:lstStyle/>
          <a:p>
            <a:pPr indent="0" marL="0">
              <a:buNone/>
            </a:pPr>
            <a:r>
              <a:rPr lang="en-US" sz="1200" dirty="0">
                <a:solidFill>
                  <a:srgbClr val="5F7486"/>
                </a:solidFill>
                <a:latin typeface="Segoe UI" pitchFamily="34" charset="0"/>
                <a:ea typeface="Segoe UI" pitchFamily="34" charset="-122"/>
                <a:cs typeface="Segoe UI" pitchFamily="34" charset="-120"/>
              </a:rPr>
              <a:t>Live on Canton Devnet  ·  </a:t>
            </a:r>
            <a:pPr indent="0" marL="0">
              <a:buNone/>
            </a:pPr>
            <a:r>
              <a:rPr lang="en-US" sz="1200" dirty="0">
                <a:solidFill>
                  <a:srgbClr val="38E1A4"/>
                </a:solidFill>
                <a:latin typeface="Segoe UI" pitchFamily="34" charset="0"/>
                <a:ea typeface="Segoe UI" pitchFamily="34" charset="-122"/>
                <a:cs typeface="Segoe UI" pitchFamily="34" charset="-120"/>
              </a:rPr>
              <a:t>netchain.vercel.app</a:t>
            </a:r>
            <a:pPr indent="0" marL="0">
              <a:buNone/>
            </a:pPr>
            <a:r>
              <a:rPr lang="en-US" sz="1200" dirty="0">
                <a:solidFill>
                  <a:srgbClr val="5F7486"/>
                </a:solidFill>
                <a:latin typeface="Segoe UI" pitchFamily="34" charset="0"/>
                <a:ea typeface="Segoe UI" pitchFamily="34" charset="-122"/>
                <a:cs typeface="Segoe UI" pitchFamily="34" charset="-120"/>
              </a:rPr>
              <a:t>  ·  every screen in this deck is a real screenshot of the live app</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7FA6C9"/>
          </a:solidFill>
          <a:ln/>
        </p:spPr>
      </p:sp>
      <p:sp>
        <p:nvSpPr>
          <p:cNvPr id="3" name="Text 1"/>
          <p:cNvSpPr/>
          <p:nvPr/>
        </p:nvSpPr>
        <p:spPr>
          <a:xfrm>
            <a:off x="640080" y="384048"/>
            <a:ext cx="10911535" cy="274320"/>
          </a:xfrm>
          <a:prstGeom prst="rect">
            <a:avLst/>
          </a:prstGeom>
          <a:noFill/>
          <a:ln/>
        </p:spPr>
        <p:txBody>
          <a:bodyPr wrap="square" rtlCol="0" anchor="ctr"/>
          <a:lstStyle/>
          <a:p>
            <a:pPr indent="0" marL="0">
              <a:buNone/>
            </a:pPr>
            <a:r>
              <a:rPr lang="en-US" sz="1100" b="1" spc="300" kern="0" dirty="0">
                <a:solidFill>
                  <a:srgbClr val="7FA6C9"/>
                </a:solidFill>
                <a:latin typeface="Segoe UI" pitchFamily="34" charset="0"/>
                <a:ea typeface="Segoe UI" pitchFamily="34" charset="-122"/>
                <a:cs typeface="Segoe UI" pitchFamily="34" charset="-120"/>
              </a:rPr>
              <a:t>IN ONE SCREEN</a:t>
            </a:r>
            <a:endParaRPr lang="en-US" sz="1100" dirty="0"/>
          </a:p>
        </p:txBody>
      </p:sp>
      <p:sp>
        <p:nvSpPr>
          <p:cNvPr id="4" name="Text 2"/>
          <p:cNvSpPr/>
          <p:nvPr/>
        </p:nvSpPr>
        <p:spPr>
          <a:xfrm>
            <a:off x="640080" y="658368"/>
            <a:ext cx="10911535" cy="731520"/>
          </a:xfrm>
          <a:prstGeom prst="rect">
            <a:avLst/>
          </a:prstGeom>
          <a:noFill/>
          <a:ln/>
        </p:spPr>
        <p:txBody>
          <a:bodyPr wrap="square" rtlCol="0" anchor="ctr"/>
          <a:lstStyle/>
          <a:p>
            <a:pPr indent="0" marL="0">
              <a:buNone/>
            </a:pPr>
            <a:r>
              <a:rPr lang="en-US" sz="2700" b="1" dirty="0">
                <a:solidFill>
                  <a:srgbClr val="E6EDF3"/>
                </a:solidFill>
                <a:latin typeface="Segoe UI" pitchFamily="34" charset="0"/>
                <a:ea typeface="Segoe UI" pitchFamily="34" charset="-122"/>
                <a:cs typeface="Segoe UI" pitchFamily="34" charset="-120"/>
              </a:rPr>
              <a:t>What NetChain does</a:t>
            </a:r>
            <a:endParaRPr lang="en-US" sz="2700" dirty="0"/>
          </a:p>
        </p:txBody>
      </p:sp>
      <p:sp>
        <p:nvSpPr>
          <p:cNvPr id="5" name="Text 3"/>
          <p:cNvSpPr/>
          <p:nvPr/>
        </p:nvSpPr>
        <p:spPr>
          <a:xfrm>
            <a:off x="640080" y="6446520"/>
            <a:ext cx="5486400" cy="274320"/>
          </a:xfrm>
          <a:prstGeom prst="rect">
            <a:avLst/>
          </a:prstGeom>
          <a:noFill/>
          <a:ln/>
        </p:spPr>
        <p:txBody>
          <a:bodyPr wrap="square" rtlCol="0" anchor="ctr"/>
          <a:lstStyle/>
          <a:p>
            <a:pPr indent="0" marL="0">
              <a:buNone/>
            </a:pPr>
            <a:r>
              <a:rPr lang="en-US" sz="900" b="1" dirty="0">
                <a:solidFill>
                  <a:srgbClr val="E6EDF3"/>
                </a:solidFill>
                <a:latin typeface="Segoe UI" pitchFamily="34" charset="0"/>
                <a:ea typeface="Segoe UI" pitchFamily="34" charset="-122"/>
                <a:cs typeface="Segoe UI" pitchFamily="34" charset="-120"/>
              </a:rPr>
              <a:t>NetChain</a:t>
            </a:r>
            <a:pPr indent="0" marL="0">
              <a:buNone/>
            </a:pPr>
            <a:r>
              <a:rPr lang="en-US" sz="900" dirty="0">
                <a:solidFill>
                  <a:srgbClr val="5F7486"/>
                </a:solidFill>
                <a:latin typeface="Segoe UI" pitchFamily="34" charset="0"/>
                <a:ea typeface="Segoe UI" pitchFamily="34" charset="-122"/>
                <a:cs typeface="Segoe UI" pitchFamily="34" charset="-120"/>
              </a:rPr>
              <a:t>  deep dive</a:t>
            </a:r>
            <a:endParaRPr lang="en-US" sz="900" dirty="0"/>
          </a:p>
        </p:txBody>
      </p:sp>
      <p:sp>
        <p:nvSpPr>
          <p:cNvPr id="6" name="Text 4"/>
          <p:cNvSpPr/>
          <p:nvPr/>
        </p:nvSpPr>
        <p:spPr>
          <a:xfrm>
            <a:off x="8808415" y="6446520"/>
            <a:ext cx="2743200" cy="274320"/>
          </a:xfrm>
          <a:prstGeom prst="rect">
            <a:avLst/>
          </a:prstGeom>
          <a:noFill/>
          <a:ln/>
        </p:spPr>
        <p:txBody>
          <a:bodyPr wrap="square" rtlCol="0" anchor="ctr"/>
          <a:lstStyle/>
          <a:p>
            <a:pPr algn="r" indent="0" marL="0">
              <a:buNone/>
            </a:pPr>
            <a:r>
              <a:rPr lang="en-US" sz="900" dirty="0">
                <a:solidFill>
                  <a:srgbClr val="5F7486"/>
                </a:solidFill>
                <a:latin typeface="Segoe UI" pitchFamily="34" charset="0"/>
                <a:ea typeface="Segoe UI" pitchFamily="34" charset="-122"/>
                <a:cs typeface="Segoe UI" pitchFamily="34" charset="-120"/>
              </a:rPr>
              <a:t>netchain.vercel.app</a:t>
            </a:r>
            <a:endParaRPr lang="en-US" sz="900" dirty="0"/>
          </a:p>
        </p:txBody>
      </p:sp>
      <p:pic>
        <p:nvPicPr>
          <p:cNvPr id="7" name="Image 0" descr="screens/shot-dashboard.png">    </p:cNvPr>
          <p:cNvPicPr>
            <a:picLocks noChangeAspect="1"/>
          </p:cNvPicPr>
          <p:nvPr/>
        </p:nvPicPr>
        <p:blipFill>
          <a:blip r:embed="rId1"/>
          <a:stretch>
            <a:fillRect/>
          </a:stretch>
        </p:blipFill>
        <p:spPr>
          <a:xfrm>
            <a:off x="640080" y="1554480"/>
            <a:ext cx="6400800" cy="4000500"/>
          </a:xfrm>
          <a:prstGeom prst="rect">
            <a:avLst/>
          </a:prstGeom>
        </p:spPr>
      </p:pic>
      <p:sp>
        <p:nvSpPr>
          <p:cNvPr id="8" name="Shape 5"/>
          <p:cNvSpPr/>
          <p:nvPr/>
        </p:nvSpPr>
        <p:spPr>
          <a:xfrm>
            <a:off x="640080" y="1554480"/>
            <a:ext cx="6400800" cy="4000500"/>
          </a:xfrm>
          <a:prstGeom prst="roundRect">
            <a:avLst>
              <a:gd name="adj" fmla="val 686"/>
            </a:avLst>
          </a:prstGeom>
          <a:ln w="12700">
            <a:solidFill>
              <a:srgbClr val="223040"/>
            </a:solidFill>
            <a:prstDash val="solid"/>
          </a:ln>
        </p:spPr>
      </p:sp>
      <p:sp>
        <p:nvSpPr>
          <p:cNvPr id="9" name="Text 6"/>
          <p:cNvSpPr/>
          <p:nvPr/>
        </p:nvSpPr>
        <p:spPr>
          <a:xfrm>
            <a:off x="640080" y="5600700"/>
            <a:ext cx="6400800" cy="274320"/>
          </a:xfrm>
          <a:prstGeom prst="rect">
            <a:avLst/>
          </a:prstGeom>
          <a:noFill/>
          <a:ln/>
        </p:spPr>
        <p:txBody>
          <a:bodyPr wrap="square" rtlCol="0" anchor="ctr"/>
          <a:lstStyle/>
          <a:p>
            <a:pPr algn="ctr" indent="0" marL="0">
              <a:buNone/>
            </a:pPr>
            <a:r>
              <a:rPr lang="en-US" sz="1000" i="1" dirty="0">
                <a:solidFill>
                  <a:srgbClr val="5F7486"/>
                </a:solidFill>
                <a:latin typeface="Segoe UI" pitchFamily="34" charset="0"/>
                <a:ea typeface="Segoe UI" pitchFamily="34" charset="-122"/>
                <a:cs typeface="Segoe UI" pitchFamily="34" charset="-120"/>
              </a:rPr>
              <a:t>The live dashboard, LIVE badge = reads come straight from the Canton validator</a:t>
            </a:r>
            <a:endParaRPr lang="en-US" sz="1000" dirty="0"/>
          </a:p>
        </p:txBody>
      </p:sp>
      <p:sp>
        <p:nvSpPr>
          <p:cNvPr id="10" name="Shape 7"/>
          <p:cNvSpPr/>
          <p:nvPr/>
        </p:nvSpPr>
        <p:spPr>
          <a:xfrm>
            <a:off x="7406640" y="1554480"/>
            <a:ext cx="4142232" cy="4023360"/>
          </a:xfrm>
          <a:prstGeom prst="roundRect">
            <a:avLst>
              <a:gd name="adj" fmla="val 2045"/>
            </a:avLst>
          </a:prstGeom>
          <a:solidFill>
            <a:srgbClr val="141C25"/>
          </a:solidFill>
          <a:ln w="12700">
            <a:solidFill>
              <a:srgbClr val="223040"/>
            </a:solidFill>
            <a:prstDash val="solid"/>
          </a:ln>
        </p:spPr>
      </p:sp>
      <p:sp>
        <p:nvSpPr>
          <p:cNvPr id="11" name="Text 8"/>
          <p:cNvSpPr/>
          <p:nvPr/>
        </p:nvSpPr>
        <p:spPr>
          <a:xfrm>
            <a:off x="7635240" y="1828800"/>
            <a:ext cx="3657600" cy="3657600"/>
          </a:xfrm>
          <a:prstGeom prst="rect">
            <a:avLst/>
          </a:prstGeom>
          <a:noFill/>
          <a:ln/>
        </p:spPr>
        <p:txBody>
          <a:bodyPr wrap="square" rtlCol="0" anchor="t"/>
          <a:lstStyle/>
          <a:p>
            <a:pPr marL="203200" indent="-203200">
              <a:lnSpc>
                <a:spcPct val="120000"/>
              </a:lnSpc>
              <a:spcAft>
                <a:spcPts val="800"/>
              </a:spcAft>
              <a:buSzPct val="100000"/>
              <a:buChar char="•"/>
            </a:pPr>
            <a:r>
              <a:rPr lang="en-US" sz="1350" dirty="0">
                <a:solidFill>
                  <a:srgbClr val="E6EDF3"/>
                </a:solidFill>
                <a:latin typeface="Segoe UI" pitchFamily="34" charset="0"/>
                <a:ea typeface="Segoe UI" pitchFamily="34" charset="-122"/>
                <a:cs typeface="Segoe UI" pitchFamily="34" charset="-120"/>
              </a:rPr>
              <a:t>Companies that owe each other net down to one payment each, then settle.</a:t>
            </a:r>
            <a:endParaRPr lang="en-US" sz="1350" dirty="0"/>
          </a:p>
          <a:p>
            <a:pPr marL="203200" indent="-203200">
              <a:lnSpc>
                <a:spcPct val="120000"/>
              </a:lnSpc>
              <a:spcAft>
                <a:spcPts val="800"/>
              </a:spcAft>
              <a:buSzPct val="100000"/>
              <a:buChar char="•"/>
            </a:pPr>
            <a:r>
              <a:rPr lang="en-US" sz="1350" dirty="0">
                <a:solidFill>
                  <a:srgbClr val="E6EDF3"/>
                </a:solidFill>
                <a:latin typeface="Segoe UI" pitchFamily="34" charset="0"/>
                <a:ea typeface="Segoe UI" pitchFamily="34" charset="-122"/>
                <a:cs typeface="Segoe UI" pitchFamily="34" charset="-120"/>
              </a:rPr>
              <a:t>The catch everywhere else: to net, someone sees the whole web of who-owes-whom.</a:t>
            </a:r>
            <a:endParaRPr lang="en-US" sz="1350" dirty="0"/>
          </a:p>
          <a:p>
            <a:pPr marL="203200" indent="-203200">
              <a:lnSpc>
                <a:spcPct val="120000"/>
              </a:lnSpc>
              <a:spcAft>
                <a:spcPts val="800"/>
              </a:spcAft>
              <a:buSzPct val="100000"/>
              <a:buChar char="•"/>
            </a:pPr>
            <a:r>
              <a:rPr lang="en-US" sz="1350" dirty="0">
                <a:solidFill>
                  <a:srgbClr val="E6EDF3"/>
                </a:solidFill>
                <a:latin typeface="Segoe UI" pitchFamily="34" charset="0"/>
                <a:ea typeface="Segoe UI" pitchFamily="34" charset="-122"/>
                <a:cs typeface="Segoe UI" pitchFamily="34" charset="-120"/>
              </a:rPr>
              <a:t>NetChain keeps counterparties blind to each other AND settles every net leg atomically, in one Canton transaction.</a:t>
            </a:r>
            <a:endParaRPr lang="en-US" sz="1350" dirty="0"/>
          </a:p>
          <a:p>
            <a:pPr marL="203200" indent="-203200">
              <a:lnSpc>
                <a:spcPct val="120000"/>
              </a:lnSpc>
              <a:spcAft>
                <a:spcPts val="800"/>
              </a:spcAft>
              <a:buSzPct val="100000"/>
              <a:buChar char="•"/>
            </a:pPr>
            <a:r>
              <a:rPr lang="en-US" sz="1350" dirty="0">
                <a:solidFill>
                  <a:srgbClr val="E6EDF3"/>
                </a:solidFill>
                <a:latin typeface="Segoe UI" pitchFamily="34" charset="0"/>
                <a:ea typeface="Segoe UI" pitchFamily="34" charset="-122"/>
                <a:cs typeface="Segoe UI" pitchFamily="34" charset="-120"/>
              </a:rPr>
              <a:t>An on-ledger policy bounds it, so even an AI agent driving it cannot overspend.</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7FA6C9"/>
          </a:solidFill>
          <a:ln/>
        </p:spPr>
      </p:sp>
      <p:sp>
        <p:nvSpPr>
          <p:cNvPr id="3" name="Text 1"/>
          <p:cNvSpPr/>
          <p:nvPr/>
        </p:nvSpPr>
        <p:spPr>
          <a:xfrm>
            <a:off x="640080" y="384048"/>
            <a:ext cx="10911535" cy="274320"/>
          </a:xfrm>
          <a:prstGeom prst="rect">
            <a:avLst/>
          </a:prstGeom>
          <a:noFill/>
          <a:ln/>
        </p:spPr>
        <p:txBody>
          <a:bodyPr wrap="square" rtlCol="0" anchor="ctr"/>
          <a:lstStyle/>
          <a:p>
            <a:pPr indent="0" marL="0">
              <a:buNone/>
            </a:pPr>
            <a:r>
              <a:rPr lang="en-US" sz="1100" b="1" spc="300" kern="0" dirty="0">
                <a:solidFill>
                  <a:srgbClr val="7FA6C9"/>
                </a:solidFill>
                <a:latin typeface="Segoe UI" pitchFamily="34" charset="0"/>
                <a:ea typeface="Segoe UI" pitchFamily="34" charset="-122"/>
                <a:cs typeface="Segoe UI" pitchFamily="34" charset="-120"/>
              </a:rPr>
              <a:t>THE CAST</a:t>
            </a:r>
            <a:endParaRPr lang="en-US" sz="1100" dirty="0"/>
          </a:p>
        </p:txBody>
      </p:sp>
      <p:sp>
        <p:nvSpPr>
          <p:cNvPr id="4" name="Text 2"/>
          <p:cNvSpPr/>
          <p:nvPr/>
        </p:nvSpPr>
        <p:spPr>
          <a:xfrm>
            <a:off x="640080" y="658368"/>
            <a:ext cx="10911535" cy="731520"/>
          </a:xfrm>
          <a:prstGeom prst="rect">
            <a:avLst/>
          </a:prstGeom>
          <a:noFill/>
          <a:ln/>
        </p:spPr>
        <p:txBody>
          <a:bodyPr wrap="square" rtlCol="0" anchor="ctr"/>
          <a:lstStyle/>
          <a:p>
            <a:pPr indent="0" marL="0">
              <a:buNone/>
            </a:pPr>
            <a:r>
              <a:rPr lang="en-US" sz="2700" b="1" dirty="0">
                <a:solidFill>
                  <a:srgbClr val="E6EDF3"/>
                </a:solidFill>
                <a:latin typeface="Segoe UI" pitchFamily="34" charset="0"/>
                <a:ea typeface="Segoe UI" pitchFamily="34" charset="-122"/>
                <a:cs typeface="Segoe UI" pitchFamily="34" charset="-120"/>
              </a:rPr>
              <a:t>One operator, three companies</a:t>
            </a:r>
            <a:endParaRPr lang="en-US" sz="2700" dirty="0"/>
          </a:p>
        </p:txBody>
      </p:sp>
      <p:sp>
        <p:nvSpPr>
          <p:cNvPr id="5" name="Text 3"/>
          <p:cNvSpPr/>
          <p:nvPr/>
        </p:nvSpPr>
        <p:spPr>
          <a:xfrm>
            <a:off x="640080" y="6446520"/>
            <a:ext cx="5486400" cy="274320"/>
          </a:xfrm>
          <a:prstGeom prst="rect">
            <a:avLst/>
          </a:prstGeom>
          <a:noFill/>
          <a:ln/>
        </p:spPr>
        <p:txBody>
          <a:bodyPr wrap="square" rtlCol="0" anchor="ctr"/>
          <a:lstStyle/>
          <a:p>
            <a:pPr indent="0" marL="0">
              <a:buNone/>
            </a:pPr>
            <a:r>
              <a:rPr lang="en-US" sz="900" b="1" dirty="0">
                <a:solidFill>
                  <a:srgbClr val="E6EDF3"/>
                </a:solidFill>
                <a:latin typeface="Segoe UI" pitchFamily="34" charset="0"/>
                <a:ea typeface="Segoe UI" pitchFamily="34" charset="-122"/>
                <a:cs typeface="Segoe UI" pitchFamily="34" charset="-120"/>
              </a:rPr>
              <a:t>NetChain</a:t>
            </a:r>
            <a:pPr indent="0" marL="0">
              <a:buNone/>
            </a:pPr>
            <a:r>
              <a:rPr lang="en-US" sz="900" dirty="0">
                <a:solidFill>
                  <a:srgbClr val="5F7486"/>
                </a:solidFill>
                <a:latin typeface="Segoe UI" pitchFamily="34" charset="0"/>
                <a:ea typeface="Segoe UI" pitchFamily="34" charset="-122"/>
                <a:cs typeface="Segoe UI" pitchFamily="34" charset="-120"/>
              </a:rPr>
              <a:t>  deep dive</a:t>
            </a:r>
            <a:endParaRPr lang="en-US" sz="900" dirty="0"/>
          </a:p>
        </p:txBody>
      </p:sp>
      <p:sp>
        <p:nvSpPr>
          <p:cNvPr id="6" name="Text 4"/>
          <p:cNvSpPr/>
          <p:nvPr/>
        </p:nvSpPr>
        <p:spPr>
          <a:xfrm>
            <a:off x="8808415" y="6446520"/>
            <a:ext cx="2743200" cy="274320"/>
          </a:xfrm>
          <a:prstGeom prst="rect">
            <a:avLst/>
          </a:prstGeom>
          <a:noFill/>
          <a:ln/>
        </p:spPr>
        <p:txBody>
          <a:bodyPr wrap="square" rtlCol="0" anchor="ctr"/>
          <a:lstStyle/>
          <a:p>
            <a:pPr algn="r" indent="0" marL="0">
              <a:buNone/>
            </a:pPr>
            <a:r>
              <a:rPr lang="en-US" sz="900" dirty="0">
                <a:solidFill>
                  <a:srgbClr val="5F7486"/>
                </a:solidFill>
                <a:latin typeface="Segoe UI" pitchFamily="34" charset="0"/>
                <a:ea typeface="Segoe UI" pitchFamily="34" charset="-122"/>
                <a:cs typeface="Segoe UI" pitchFamily="34" charset="-120"/>
              </a:rPr>
              <a:t>netchain.vercel.app</a:t>
            </a:r>
            <a:endParaRPr lang="en-US" sz="900" dirty="0"/>
          </a:p>
        </p:txBody>
      </p:sp>
      <p:sp>
        <p:nvSpPr>
          <p:cNvPr id="7" name="Shape 5"/>
          <p:cNvSpPr/>
          <p:nvPr/>
        </p:nvSpPr>
        <p:spPr>
          <a:xfrm>
            <a:off x="5029200" y="1554480"/>
            <a:ext cx="2103120" cy="822960"/>
          </a:xfrm>
          <a:prstGeom prst="roundRect">
            <a:avLst>
              <a:gd name="adj" fmla="val 8889"/>
            </a:avLst>
          </a:prstGeom>
          <a:solidFill>
            <a:srgbClr val="141C25"/>
          </a:solidFill>
          <a:ln w="19050">
            <a:solidFill>
              <a:srgbClr val="F5C451"/>
            </a:solidFill>
            <a:prstDash val="solid"/>
          </a:ln>
        </p:spPr>
      </p:sp>
      <p:sp>
        <p:nvSpPr>
          <p:cNvPr id="8" name="Text 6"/>
          <p:cNvSpPr/>
          <p:nvPr/>
        </p:nvSpPr>
        <p:spPr>
          <a:xfrm>
            <a:off x="5120640" y="1554480"/>
            <a:ext cx="1920240" cy="822960"/>
          </a:xfrm>
          <a:prstGeom prst="rect">
            <a:avLst/>
          </a:prstGeom>
          <a:noFill/>
          <a:ln/>
        </p:spPr>
        <p:txBody>
          <a:bodyPr wrap="square" rtlCol="0" anchor="ctr"/>
          <a:lstStyle/>
          <a:p>
            <a:pPr algn="ctr" indent="0" marL="0">
              <a:buNone/>
            </a:pPr>
            <a:r>
              <a:rPr lang="en-US" sz="1300" b="1" dirty="0">
                <a:solidFill>
                  <a:srgbClr val="E6EDF3"/>
                </a:solidFill>
                <a:latin typeface="Segoe UI" pitchFamily="34" charset="0"/>
                <a:ea typeface="Segoe UI" pitchFamily="34" charset="-122"/>
                <a:cs typeface="Segoe UI" pitchFamily="34" charset="-120"/>
              </a:rPr>
              <a:t>Operator</a:t>
            </a:r>
            <a:endParaRPr lang="en-US" sz="1300" dirty="0"/>
          </a:p>
          <a:p>
            <a:pPr algn="ctr" indent="0" marL="0">
              <a:buNone/>
            </a:pPr>
            <a:r>
              <a:rPr lang="en-US" sz="1000" b="1" dirty="0">
                <a:solidFill>
                  <a:srgbClr val="8FA6B8"/>
                </a:solidFill>
                <a:latin typeface="Segoe UI" pitchFamily="34" charset="0"/>
                <a:ea typeface="Segoe UI" pitchFamily="34" charset="-122"/>
                <a:cs typeface="Segoe UI" pitchFamily="34" charset="-120"/>
              </a:rPr>
              <a:t>netting bank / coordinator</a:t>
            </a:r>
            <a:endParaRPr lang="en-US" sz="1300" dirty="0"/>
          </a:p>
        </p:txBody>
      </p:sp>
      <p:sp>
        <p:nvSpPr>
          <p:cNvPr id="9" name="Shape 7"/>
          <p:cNvSpPr/>
          <p:nvPr/>
        </p:nvSpPr>
        <p:spPr>
          <a:xfrm>
            <a:off x="1554480" y="3291840"/>
            <a:ext cx="2194560" cy="822960"/>
          </a:xfrm>
          <a:prstGeom prst="roundRect">
            <a:avLst>
              <a:gd name="adj" fmla="val 8889"/>
            </a:avLst>
          </a:prstGeom>
          <a:solidFill>
            <a:srgbClr val="141C25"/>
          </a:solidFill>
          <a:ln w="19050">
            <a:solidFill>
              <a:srgbClr val="7FA6C9"/>
            </a:solidFill>
            <a:prstDash val="solid"/>
          </a:ln>
        </p:spPr>
      </p:sp>
      <p:sp>
        <p:nvSpPr>
          <p:cNvPr id="10" name="Text 8"/>
          <p:cNvSpPr/>
          <p:nvPr/>
        </p:nvSpPr>
        <p:spPr>
          <a:xfrm>
            <a:off x="1645920" y="3291840"/>
            <a:ext cx="2011680" cy="822960"/>
          </a:xfrm>
          <a:prstGeom prst="rect">
            <a:avLst/>
          </a:prstGeom>
          <a:noFill/>
          <a:ln/>
        </p:spPr>
        <p:txBody>
          <a:bodyPr wrap="square" rtlCol="0" anchor="ctr"/>
          <a:lstStyle/>
          <a:p>
            <a:pPr algn="ctr" indent="0" marL="0">
              <a:buNone/>
            </a:pPr>
            <a:r>
              <a:rPr lang="en-US" sz="1300" b="1" dirty="0">
                <a:solidFill>
                  <a:srgbClr val="E6EDF3"/>
                </a:solidFill>
                <a:latin typeface="Segoe UI" pitchFamily="34" charset="0"/>
                <a:ea typeface="Segoe UI" pitchFamily="34" charset="-122"/>
                <a:cs typeface="Segoe UI" pitchFamily="34" charset="-120"/>
              </a:rPr>
              <a:t>Company A</a:t>
            </a:r>
            <a:endParaRPr lang="en-US" sz="1300" dirty="0"/>
          </a:p>
          <a:p>
            <a:pPr algn="ctr" indent="0" marL="0">
              <a:buNone/>
            </a:pPr>
            <a:r>
              <a:rPr lang="en-US" sz="1000" b="1" dirty="0">
                <a:solidFill>
                  <a:srgbClr val="8FA6B8"/>
                </a:solidFill>
                <a:latin typeface="Segoe UI" pitchFamily="34" charset="0"/>
                <a:ea typeface="Segoe UI" pitchFamily="34" charset="-122"/>
                <a:cs typeface="Segoe UI" pitchFamily="34" charset="-120"/>
              </a:rPr>
              <a:t>Aurora Manufacturing</a:t>
            </a:r>
            <a:endParaRPr lang="en-US" sz="1300" dirty="0"/>
          </a:p>
        </p:txBody>
      </p:sp>
      <p:sp>
        <p:nvSpPr>
          <p:cNvPr id="11" name="Shape 9"/>
          <p:cNvSpPr/>
          <p:nvPr/>
        </p:nvSpPr>
        <p:spPr>
          <a:xfrm>
            <a:off x="4983480" y="3291840"/>
            <a:ext cx="2194560" cy="822960"/>
          </a:xfrm>
          <a:prstGeom prst="roundRect">
            <a:avLst>
              <a:gd name="adj" fmla="val 8889"/>
            </a:avLst>
          </a:prstGeom>
          <a:solidFill>
            <a:srgbClr val="141C25"/>
          </a:solidFill>
          <a:ln w="19050">
            <a:solidFill>
              <a:srgbClr val="7FA6C9"/>
            </a:solidFill>
            <a:prstDash val="solid"/>
          </a:ln>
        </p:spPr>
      </p:sp>
      <p:sp>
        <p:nvSpPr>
          <p:cNvPr id="12" name="Text 10"/>
          <p:cNvSpPr/>
          <p:nvPr/>
        </p:nvSpPr>
        <p:spPr>
          <a:xfrm>
            <a:off x="5074920" y="3291840"/>
            <a:ext cx="2011680" cy="822960"/>
          </a:xfrm>
          <a:prstGeom prst="rect">
            <a:avLst/>
          </a:prstGeom>
          <a:noFill/>
          <a:ln/>
        </p:spPr>
        <p:txBody>
          <a:bodyPr wrap="square" rtlCol="0" anchor="ctr"/>
          <a:lstStyle/>
          <a:p>
            <a:pPr algn="ctr" indent="0" marL="0">
              <a:buNone/>
            </a:pPr>
            <a:r>
              <a:rPr lang="en-US" sz="1300" b="1" dirty="0">
                <a:solidFill>
                  <a:srgbClr val="E6EDF3"/>
                </a:solidFill>
                <a:latin typeface="Segoe UI" pitchFamily="34" charset="0"/>
                <a:ea typeface="Segoe UI" pitchFamily="34" charset="-122"/>
                <a:cs typeface="Segoe UI" pitchFamily="34" charset="-120"/>
              </a:rPr>
              <a:t>Company B</a:t>
            </a:r>
            <a:endParaRPr lang="en-US" sz="1300" dirty="0"/>
          </a:p>
          <a:p>
            <a:pPr algn="ctr" indent="0" marL="0">
              <a:buNone/>
            </a:pPr>
            <a:r>
              <a:rPr lang="en-US" sz="1000" b="1" dirty="0">
                <a:solidFill>
                  <a:srgbClr val="8FA6B8"/>
                </a:solidFill>
                <a:latin typeface="Segoe UI" pitchFamily="34" charset="0"/>
                <a:ea typeface="Segoe UI" pitchFamily="34" charset="-122"/>
                <a:cs typeface="Segoe UI" pitchFamily="34" charset="-120"/>
              </a:rPr>
              <a:t>Borealis Logistics</a:t>
            </a:r>
            <a:endParaRPr lang="en-US" sz="1300" dirty="0"/>
          </a:p>
        </p:txBody>
      </p:sp>
      <p:sp>
        <p:nvSpPr>
          <p:cNvPr id="13" name="Shape 11"/>
          <p:cNvSpPr/>
          <p:nvPr/>
        </p:nvSpPr>
        <p:spPr>
          <a:xfrm>
            <a:off x="8412480" y="3291840"/>
            <a:ext cx="2194560" cy="822960"/>
          </a:xfrm>
          <a:prstGeom prst="roundRect">
            <a:avLst>
              <a:gd name="adj" fmla="val 8889"/>
            </a:avLst>
          </a:prstGeom>
          <a:solidFill>
            <a:srgbClr val="141C25"/>
          </a:solidFill>
          <a:ln w="19050">
            <a:solidFill>
              <a:srgbClr val="7FA6C9"/>
            </a:solidFill>
            <a:prstDash val="solid"/>
          </a:ln>
        </p:spPr>
      </p:sp>
      <p:sp>
        <p:nvSpPr>
          <p:cNvPr id="14" name="Text 12"/>
          <p:cNvSpPr/>
          <p:nvPr/>
        </p:nvSpPr>
        <p:spPr>
          <a:xfrm>
            <a:off x="8503920" y="3291840"/>
            <a:ext cx="2011680" cy="822960"/>
          </a:xfrm>
          <a:prstGeom prst="rect">
            <a:avLst/>
          </a:prstGeom>
          <a:noFill/>
          <a:ln/>
        </p:spPr>
        <p:txBody>
          <a:bodyPr wrap="square" rtlCol="0" anchor="ctr"/>
          <a:lstStyle/>
          <a:p>
            <a:pPr algn="ctr" indent="0" marL="0">
              <a:buNone/>
            </a:pPr>
            <a:r>
              <a:rPr lang="en-US" sz="1300" b="1" dirty="0">
                <a:solidFill>
                  <a:srgbClr val="E6EDF3"/>
                </a:solidFill>
                <a:latin typeface="Segoe UI" pitchFamily="34" charset="0"/>
                <a:ea typeface="Segoe UI" pitchFamily="34" charset="-122"/>
                <a:cs typeface="Segoe UI" pitchFamily="34" charset="-120"/>
              </a:rPr>
              <a:t>Company C</a:t>
            </a:r>
            <a:endParaRPr lang="en-US" sz="1300" dirty="0"/>
          </a:p>
          <a:p>
            <a:pPr algn="ctr" indent="0" marL="0">
              <a:buNone/>
            </a:pPr>
            <a:r>
              <a:rPr lang="en-US" sz="1000" b="1" dirty="0">
                <a:solidFill>
                  <a:srgbClr val="8FA6B8"/>
                </a:solidFill>
                <a:latin typeface="Segoe UI" pitchFamily="34" charset="0"/>
                <a:ea typeface="Segoe UI" pitchFamily="34" charset="-122"/>
                <a:cs typeface="Segoe UI" pitchFamily="34" charset="-120"/>
              </a:rPr>
              <a:t>Cirrus Components</a:t>
            </a:r>
            <a:endParaRPr lang="en-US" sz="1300" dirty="0"/>
          </a:p>
        </p:txBody>
      </p:sp>
      <p:sp>
        <p:nvSpPr>
          <p:cNvPr id="15" name="Shape 13"/>
          <p:cNvSpPr/>
          <p:nvPr/>
        </p:nvSpPr>
        <p:spPr>
          <a:xfrm flipH="1">
            <a:off x="2651760" y="2377440"/>
            <a:ext cx="3429000" cy="914400"/>
          </a:xfrm>
          <a:prstGeom prst="line">
            <a:avLst/>
          </a:prstGeom>
          <a:noFill/>
          <a:ln w="22225">
            <a:solidFill>
              <a:srgbClr val="5F7486"/>
            </a:solidFill>
            <a:prstDash val="solid"/>
            <a:tailEnd type="triangle"/>
          </a:ln>
        </p:spPr>
      </p:sp>
      <p:sp>
        <p:nvSpPr>
          <p:cNvPr id="16" name="Shape 14"/>
          <p:cNvSpPr/>
          <p:nvPr/>
        </p:nvSpPr>
        <p:spPr>
          <a:xfrm>
            <a:off x="6080760" y="2377440"/>
            <a:ext cx="0" cy="914400"/>
          </a:xfrm>
          <a:prstGeom prst="line">
            <a:avLst/>
          </a:prstGeom>
          <a:noFill/>
          <a:ln w="22225">
            <a:solidFill>
              <a:srgbClr val="5F7486"/>
            </a:solidFill>
            <a:prstDash val="solid"/>
            <a:tailEnd type="triangle"/>
          </a:ln>
        </p:spPr>
      </p:sp>
      <p:sp>
        <p:nvSpPr>
          <p:cNvPr id="17" name="Shape 15"/>
          <p:cNvSpPr/>
          <p:nvPr/>
        </p:nvSpPr>
        <p:spPr>
          <a:xfrm>
            <a:off x="6080760" y="2377440"/>
            <a:ext cx="3429000" cy="914400"/>
          </a:xfrm>
          <a:prstGeom prst="line">
            <a:avLst/>
          </a:prstGeom>
          <a:noFill/>
          <a:ln w="22225">
            <a:solidFill>
              <a:srgbClr val="5F7486"/>
            </a:solidFill>
            <a:prstDash val="solid"/>
            <a:tailEnd type="triangle"/>
          </a:ln>
        </p:spPr>
      </p:sp>
      <p:sp>
        <p:nvSpPr>
          <p:cNvPr id="18" name="Text 16"/>
          <p:cNvSpPr/>
          <p:nvPr/>
        </p:nvSpPr>
        <p:spPr>
          <a:xfrm>
            <a:off x="640080" y="4572000"/>
            <a:ext cx="10911535" cy="2926080"/>
          </a:xfrm>
          <a:prstGeom prst="rect">
            <a:avLst/>
          </a:prstGeom>
          <a:noFill/>
          <a:ln/>
        </p:spPr>
        <p:txBody>
          <a:bodyPr wrap="square" rtlCol="0" anchor="t"/>
          <a:lstStyle/>
          <a:p>
            <a:pPr marL="203200" indent="-203200">
              <a:lnSpc>
                <a:spcPct val="120000"/>
              </a:lnSpc>
              <a:spcAft>
                <a:spcPts val="800"/>
              </a:spcAft>
              <a:buSzPct val="100000"/>
              <a:buChar char="•"/>
            </a:pPr>
            <a:r>
              <a:rPr lang="en-US" sz="1300" dirty="0">
                <a:solidFill>
                  <a:srgbClr val="E6EDF3"/>
                </a:solidFill>
                <a:latin typeface="Segoe UI" pitchFamily="34" charset="0"/>
                <a:ea typeface="Segoe UI" pitchFamily="34" charset="-122"/>
                <a:cs typeface="Segoe UI" pitchFamily="34" charset="-120"/>
              </a:rPr>
              <a:t>The operator observes every obligation and runs the netting cycle. It is the one trusted, regulated coordinator, exactly the CLS / in-house-bank model.</a:t>
            </a:r>
            <a:endParaRPr lang="en-US" sz="1300" dirty="0"/>
          </a:p>
          <a:p>
            <a:pPr marL="203200" indent="-203200">
              <a:lnSpc>
                <a:spcPct val="120000"/>
              </a:lnSpc>
              <a:spcAft>
                <a:spcPts val="800"/>
              </a:spcAft>
              <a:buSzPct val="100000"/>
              <a:buChar char="•"/>
            </a:pPr>
            <a:r>
              <a:rPr lang="en-US" sz="1300" dirty="0">
                <a:solidFill>
                  <a:srgbClr val="E6EDF3"/>
                </a:solidFill>
                <a:latin typeface="Segoe UI" pitchFamily="34" charset="0"/>
                <a:ea typeface="Segoe UI" pitchFamily="34" charset="-122"/>
                <a:cs typeface="Segoe UI" pitchFamily="34" charset="-120"/>
              </a:rPr>
              <a:t>Each company sees ONLY its own slice of the ledger (per-party projection). A never sees B's dealings with C.</a:t>
            </a:r>
            <a:endParaRPr lang="en-US" sz="1300" dirty="0"/>
          </a:p>
          <a:p>
            <a:pPr marL="203200" indent="-203200">
              <a:lnSpc>
                <a:spcPct val="120000"/>
              </a:lnSpc>
              <a:spcAft>
                <a:spcPts val="800"/>
              </a:spcAft>
              <a:buSzPct val="100000"/>
              <a:buChar char="•"/>
            </a:pPr>
            <a:r>
              <a:rPr lang="en-US" sz="1300" dirty="0">
                <a:solidFill>
                  <a:srgbClr val="E6EDF3"/>
                </a:solidFill>
                <a:latin typeface="Segoe UI" pitchFamily="34" charset="0"/>
                <a:ea typeface="Segoe UI" pitchFamily="34" charset="-122"/>
                <a:cs typeface="Segoe UI" pitchFamily="34" charset="-120"/>
              </a:rPr>
              <a:t>In the demo all four are driven by one shared machine identity on the shared Devnet; per-user signing is the named next step.</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7FA6C9"/>
          </a:solidFill>
          <a:ln/>
        </p:spPr>
      </p:sp>
      <p:sp>
        <p:nvSpPr>
          <p:cNvPr id="3" name="Text 1"/>
          <p:cNvSpPr/>
          <p:nvPr/>
        </p:nvSpPr>
        <p:spPr>
          <a:xfrm>
            <a:off x="640080" y="384048"/>
            <a:ext cx="10911535" cy="274320"/>
          </a:xfrm>
          <a:prstGeom prst="rect">
            <a:avLst/>
          </a:prstGeom>
          <a:noFill/>
          <a:ln/>
        </p:spPr>
        <p:txBody>
          <a:bodyPr wrap="square" rtlCol="0" anchor="ctr"/>
          <a:lstStyle/>
          <a:p>
            <a:pPr indent="0" marL="0">
              <a:buNone/>
            </a:pPr>
            <a:r>
              <a:rPr lang="en-US" sz="1100" b="1" spc="300" kern="0" dirty="0">
                <a:solidFill>
                  <a:srgbClr val="7FA6C9"/>
                </a:solidFill>
                <a:latin typeface="Segoe UI" pitchFamily="34" charset="0"/>
                <a:ea typeface="Segoe UI" pitchFamily="34" charset="-122"/>
                <a:cs typeface="Segoe UI" pitchFamily="34" charset="-120"/>
              </a:rPr>
              <a:t>ARCHITECTURE</a:t>
            </a:r>
            <a:endParaRPr lang="en-US" sz="1100" dirty="0"/>
          </a:p>
        </p:txBody>
      </p:sp>
      <p:sp>
        <p:nvSpPr>
          <p:cNvPr id="4" name="Text 2"/>
          <p:cNvSpPr/>
          <p:nvPr/>
        </p:nvSpPr>
        <p:spPr>
          <a:xfrm>
            <a:off x="640080" y="658368"/>
            <a:ext cx="10911535" cy="731520"/>
          </a:xfrm>
          <a:prstGeom prst="rect">
            <a:avLst/>
          </a:prstGeom>
          <a:noFill/>
          <a:ln/>
        </p:spPr>
        <p:txBody>
          <a:bodyPr wrap="square" rtlCol="0" anchor="ctr"/>
          <a:lstStyle/>
          <a:p>
            <a:pPr indent="0" marL="0">
              <a:buNone/>
            </a:pPr>
            <a:r>
              <a:rPr lang="en-US" sz="2700" b="1" dirty="0">
                <a:solidFill>
                  <a:srgbClr val="E6EDF3"/>
                </a:solidFill>
                <a:latin typeface="Segoe UI" pitchFamily="34" charset="0"/>
                <a:ea typeface="Segoe UI" pitchFamily="34" charset="-122"/>
                <a:cs typeface="Segoe UI" pitchFamily="34" charset="-120"/>
              </a:rPr>
              <a:t>The stack, top to bottom</a:t>
            </a:r>
            <a:endParaRPr lang="en-US" sz="2700" dirty="0"/>
          </a:p>
        </p:txBody>
      </p:sp>
      <p:sp>
        <p:nvSpPr>
          <p:cNvPr id="5" name="Text 3"/>
          <p:cNvSpPr/>
          <p:nvPr/>
        </p:nvSpPr>
        <p:spPr>
          <a:xfrm>
            <a:off x="640080" y="6446520"/>
            <a:ext cx="5486400" cy="274320"/>
          </a:xfrm>
          <a:prstGeom prst="rect">
            <a:avLst/>
          </a:prstGeom>
          <a:noFill/>
          <a:ln/>
        </p:spPr>
        <p:txBody>
          <a:bodyPr wrap="square" rtlCol="0" anchor="ctr"/>
          <a:lstStyle/>
          <a:p>
            <a:pPr indent="0" marL="0">
              <a:buNone/>
            </a:pPr>
            <a:r>
              <a:rPr lang="en-US" sz="900" b="1" dirty="0">
                <a:solidFill>
                  <a:srgbClr val="E6EDF3"/>
                </a:solidFill>
                <a:latin typeface="Segoe UI" pitchFamily="34" charset="0"/>
                <a:ea typeface="Segoe UI" pitchFamily="34" charset="-122"/>
                <a:cs typeface="Segoe UI" pitchFamily="34" charset="-120"/>
              </a:rPr>
              <a:t>NetChain</a:t>
            </a:r>
            <a:pPr indent="0" marL="0">
              <a:buNone/>
            </a:pPr>
            <a:r>
              <a:rPr lang="en-US" sz="900" dirty="0">
                <a:solidFill>
                  <a:srgbClr val="5F7486"/>
                </a:solidFill>
                <a:latin typeface="Segoe UI" pitchFamily="34" charset="0"/>
                <a:ea typeface="Segoe UI" pitchFamily="34" charset="-122"/>
                <a:cs typeface="Segoe UI" pitchFamily="34" charset="-120"/>
              </a:rPr>
              <a:t>  deep dive</a:t>
            </a:r>
            <a:endParaRPr lang="en-US" sz="900" dirty="0"/>
          </a:p>
        </p:txBody>
      </p:sp>
      <p:sp>
        <p:nvSpPr>
          <p:cNvPr id="6" name="Text 4"/>
          <p:cNvSpPr/>
          <p:nvPr/>
        </p:nvSpPr>
        <p:spPr>
          <a:xfrm>
            <a:off x="8808415" y="6446520"/>
            <a:ext cx="2743200" cy="274320"/>
          </a:xfrm>
          <a:prstGeom prst="rect">
            <a:avLst/>
          </a:prstGeom>
          <a:noFill/>
          <a:ln/>
        </p:spPr>
        <p:txBody>
          <a:bodyPr wrap="square" rtlCol="0" anchor="ctr"/>
          <a:lstStyle/>
          <a:p>
            <a:pPr algn="r" indent="0" marL="0">
              <a:buNone/>
            </a:pPr>
            <a:r>
              <a:rPr lang="en-US" sz="900" dirty="0">
                <a:solidFill>
                  <a:srgbClr val="5F7486"/>
                </a:solidFill>
                <a:latin typeface="Segoe UI" pitchFamily="34" charset="0"/>
                <a:ea typeface="Segoe UI" pitchFamily="34" charset="-122"/>
                <a:cs typeface="Segoe UI" pitchFamily="34" charset="-120"/>
              </a:rPr>
              <a:t>netchain.vercel.app</a:t>
            </a:r>
            <a:endParaRPr lang="en-US" sz="900" dirty="0"/>
          </a:p>
        </p:txBody>
      </p:sp>
      <p:sp>
        <p:nvSpPr>
          <p:cNvPr id="7" name="Shape 5"/>
          <p:cNvSpPr/>
          <p:nvPr/>
        </p:nvSpPr>
        <p:spPr>
          <a:xfrm>
            <a:off x="2194560" y="1508760"/>
            <a:ext cx="7772400" cy="749808"/>
          </a:xfrm>
          <a:prstGeom prst="roundRect">
            <a:avLst>
              <a:gd name="adj" fmla="val 9756"/>
            </a:avLst>
          </a:prstGeom>
          <a:solidFill>
            <a:srgbClr val="141C25"/>
          </a:solidFill>
          <a:ln w="19050">
            <a:solidFill>
              <a:srgbClr val="7FA6C9"/>
            </a:solidFill>
            <a:prstDash val="solid"/>
          </a:ln>
        </p:spPr>
      </p:sp>
      <p:sp>
        <p:nvSpPr>
          <p:cNvPr id="8" name="Text 6"/>
          <p:cNvSpPr/>
          <p:nvPr/>
        </p:nvSpPr>
        <p:spPr>
          <a:xfrm>
            <a:off x="2286000" y="1508760"/>
            <a:ext cx="7589520" cy="749808"/>
          </a:xfrm>
          <a:prstGeom prst="rect">
            <a:avLst/>
          </a:prstGeom>
          <a:noFill/>
          <a:ln/>
        </p:spPr>
        <p:txBody>
          <a:bodyPr wrap="square" rtlCol="0" anchor="ctr"/>
          <a:lstStyle/>
          <a:p>
            <a:pPr algn="ctr" indent="0" marL="0">
              <a:buNone/>
            </a:pPr>
            <a:endParaRPr lang="en-US" sz="1300" dirty="0"/>
          </a:p>
        </p:txBody>
      </p:sp>
      <p:sp>
        <p:nvSpPr>
          <p:cNvPr id="9" name="Text 7"/>
          <p:cNvSpPr/>
          <p:nvPr/>
        </p:nvSpPr>
        <p:spPr>
          <a:xfrm>
            <a:off x="2377440" y="1508760"/>
            <a:ext cx="7406640" cy="749808"/>
          </a:xfrm>
          <a:prstGeom prst="rect">
            <a:avLst/>
          </a:prstGeom>
          <a:noFill/>
          <a:ln/>
        </p:spPr>
        <p:txBody>
          <a:bodyPr wrap="square" rtlCol="0" anchor="ctr"/>
          <a:lstStyle/>
          <a:p>
            <a:pPr indent="0" marL="0">
              <a:buNone/>
            </a:pPr>
            <a:r>
              <a:rPr lang="en-US" sz="1300" b="1" dirty="0">
                <a:solidFill>
                  <a:srgbClr val="E6EDF3"/>
                </a:solidFill>
                <a:latin typeface="Segoe UI" pitchFamily="34" charset="0"/>
                <a:ea typeface="Segoe UI" pitchFamily="34" charset="-122"/>
                <a:cs typeface="Segoe UI" pitchFamily="34" charset="-120"/>
              </a:rPr>
              <a:t>Browser  ·  Next.js 14 App Router + Zustand</a:t>
            </a:r>
            <a:endParaRPr lang="en-US" sz="1300" dirty="0"/>
          </a:p>
          <a:p>
            <a:pPr indent="0" marL="0">
              <a:buNone/>
            </a:pPr>
            <a:r>
              <a:rPr lang="en-US" sz="1050" dirty="0">
                <a:solidFill>
                  <a:srgbClr val="8FA6B8"/>
                </a:solidFill>
                <a:latin typeface="Segoe UI" pitchFamily="34" charset="0"/>
                <a:ea typeface="Segoe UI" pitchFamily="34" charset="-122"/>
                <a:cs typeface="Segoe UI" pitchFamily="34" charset="-120"/>
              </a:rPr>
              <a:t>lib/ledger.ts client wrappers  (LIVE/mock switch, silent fallback)</a:t>
            </a:r>
            <a:endParaRPr lang="en-US" sz="1300" dirty="0"/>
          </a:p>
        </p:txBody>
      </p:sp>
      <p:sp>
        <p:nvSpPr>
          <p:cNvPr id="10" name="Shape 8"/>
          <p:cNvSpPr/>
          <p:nvPr/>
        </p:nvSpPr>
        <p:spPr>
          <a:xfrm>
            <a:off x="6080760" y="2258568"/>
            <a:ext cx="0" cy="192024"/>
          </a:xfrm>
          <a:prstGeom prst="line">
            <a:avLst/>
          </a:prstGeom>
          <a:noFill/>
          <a:ln w="22225">
            <a:solidFill>
              <a:srgbClr val="5F7486"/>
            </a:solidFill>
            <a:prstDash val="solid"/>
            <a:tailEnd type="triangle"/>
          </a:ln>
        </p:spPr>
      </p:sp>
      <p:sp>
        <p:nvSpPr>
          <p:cNvPr id="11" name="Shape 9"/>
          <p:cNvSpPr/>
          <p:nvPr/>
        </p:nvSpPr>
        <p:spPr>
          <a:xfrm>
            <a:off x="2194560" y="2450592"/>
            <a:ext cx="7772400" cy="749808"/>
          </a:xfrm>
          <a:prstGeom prst="roundRect">
            <a:avLst>
              <a:gd name="adj" fmla="val 9756"/>
            </a:avLst>
          </a:prstGeom>
          <a:solidFill>
            <a:srgbClr val="141C25"/>
          </a:solidFill>
          <a:ln w="19050">
            <a:solidFill>
              <a:srgbClr val="7FA6C9"/>
            </a:solidFill>
            <a:prstDash val="solid"/>
          </a:ln>
        </p:spPr>
      </p:sp>
      <p:sp>
        <p:nvSpPr>
          <p:cNvPr id="12" name="Text 10"/>
          <p:cNvSpPr/>
          <p:nvPr/>
        </p:nvSpPr>
        <p:spPr>
          <a:xfrm>
            <a:off x="2286000" y="2450592"/>
            <a:ext cx="7589520" cy="749808"/>
          </a:xfrm>
          <a:prstGeom prst="rect">
            <a:avLst/>
          </a:prstGeom>
          <a:noFill/>
          <a:ln/>
        </p:spPr>
        <p:txBody>
          <a:bodyPr wrap="square" rtlCol="0" anchor="ctr"/>
          <a:lstStyle/>
          <a:p>
            <a:pPr algn="ctr" indent="0" marL="0">
              <a:buNone/>
            </a:pPr>
            <a:endParaRPr lang="en-US" sz="1300" dirty="0"/>
          </a:p>
        </p:txBody>
      </p:sp>
      <p:sp>
        <p:nvSpPr>
          <p:cNvPr id="13" name="Text 11"/>
          <p:cNvSpPr/>
          <p:nvPr/>
        </p:nvSpPr>
        <p:spPr>
          <a:xfrm>
            <a:off x="2377440" y="2450592"/>
            <a:ext cx="7406640" cy="749808"/>
          </a:xfrm>
          <a:prstGeom prst="rect">
            <a:avLst/>
          </a:prstGeom>
          <a:noFill/>
          <a:ln/>
        </p:spPr>
        <p:txBody>
          <a:bodyPr wrap="square" rtlCol="0" anchor="ctr"/>
          <a:lstStyle/>
          <a:p>
            <a:pPr indent="0" marL="0">
              <a:buNone/>
            </a:pPr>
            <a:r>
              <a:rPr lang="en-US" sz="1300" b="1" dirty="0">
                <a:solidFill>
                  <a:srgbClr val="E6EDF3"/>
                </a:solidFill>
                <a:latin typeface="Segoe UI" pitchFamily="34" charset="0"/>
                <a:ea typeface="Segoe UI" pitchFamily="34" charset="-122"/>
                <a:cs typeface="Segoe UI" pitchFamily="34" charset="-120"/>
              </a:rPr>
              <a:t>Server routes  ·  /api/ledger/[op]  +  /api/cron/net</a:t>
            </a:r>
            <a:endParaRPr lang="en-US" sz="1300" dirty="0"/>
          </a:p>
          <a:p>
            <a:pPr indent="0" marL="0">
              <a:buNone/>
            </a:pPr>
            <a:r>
              <a:rPr lang="en-US" sz="1050" dirty="0">
                <a:solidFill>
                  <a:srgbClr val="8FA6B8"/>
                </a:solidFill>
                <a:latin typeface="Segoe UI" pitchFamily="34" charset="0"/>
                <a:ea typeface="Segoe UI" pitchFamily="34" charset="-122"/>
                <a:cs typeface="Segoe UI" pitchFamily="34" charset="-120"/>
              </a:rPr>
              <a:t>hold the M2M secret; the browser never touches a credential</a:t>
            </a:r>
            <a:endParaRPr lang="en-US" sz="1300" dirty="0"/>
          </a:p>
        </p:txBody>
      </p:sp>
      <p:sp>
        <p:nvSpPr>
          <p:cNvPr id="14" name="Shape 12"/>
          <p:cNvSpPr/>
          <p:nvPr/>
        </p:nvSpPr>
        <p:spPr>
          <a:xfrm>
            <a:off x="6080760" y="3200400"/>
            <a:ext cx="0" cy="192024"/>
          </a:xfrm>
          <a:prstGeom prst="line">
            <a:avLst/>
          </a:prstGeom>
          <a:noFill/>
          <a:ln w="22225">
            <a:solidFill>
              <a:srgbClr val="5F7486"/>
            </a:solidFill>
            <a:prstDash val="solid"/>
            <a:tailEnd type="triangle"/>
          </a:ln>
        </p:spPr>
      </p:sp>
      <p:sp>
        <p:nvSpPr>
          <p:cNvPr id="15" name="Shape 13"/>
          <p:cNvSpPr/>
          <p:nvPr/>
        </p:nvSpPr>
        <p:spPr>
          <a:xfrm>
            <a:off x="2194560" y="3392424"/>
            <a:ext cx="7772400" cy="749808"/>
          </a:xfrm>
          <a:prstGeom prst="roundRect">
            <a:avLst>
              <a:gd name="adj" fmla="val 9756"/>
            </a:avLst>
          </a:prstGeom>
          <a:solidFill>
            <a:srgbClr val="141C25"/>
          </a:solidFill>
          <a:ln w="19050">
            <a:solidFill>
              <a:srgbClr val="7FA6C9"/>
            </a:solidFill>
            <a:prstDash val="solid"/>
          </a:ln>
        </p:spPr>
      </p:sp>
      <p:sp>
        <p:nvSpPr>
          <p:cNvPr id="16" name="Text 14"/>
          <p:cNvSpPr/>
          <p:nvPr/>
        </p:nvSpPr>
        <p:spPr>
          <a:xfrm>
            <a:off x="2286000" y="3392424"/>
            <a:ext cx="7589520" cy="749808"/>
          </a:xfrm>
          <a:prstGeom prst="rect">
            <a:avLst/>
          </a:prstGeom>
          <a:noFill/>
          <a:ln/>
        </p:spPr>
        <p:txBody>
          <a:bodyPr wrap="square" rtlCol="0" anchor="ctr"/>
          <a:lstStyle/>
          <a:p>
            <a:pPr algn="ctr" indent="0" marL="0">
              <a:buNone/>
            </a:pPr>
            <a:endParaRPr lang="en-US" sz="1300" dirty="0"/>
          </a:p>
        </p:txBody>
      </p:sp>
      <p:sp>
        <p:nvSpPr>
          <p:cNvPr id="17" name="Text 15"/>
          <p:cNvSpPr/>
          <p:nvPr/>
        </p:nvSpPr>
        <p:spPr>
          <a:xfrm>
            <a:off x="2377440" y="3392424"/>
            <a:ext cx="7406640" cy="749808"/>
          </a:xfrm>
          <a:prstGeom prst="rect">
            <a:avLst/>
          </a:prstGeom>
          <a:noFill/>
          <a:ln/>
        </p:spPr>
        <p:txBody>
          <a:bodyPr wrap="square" rtlCol="0" anchor="ctr"/>
          <a:lstStyle/>
          <a:p>
            <a:pPr indent="0" marL="0">
              <a:buNone/>
            </a:pPr>
            <a:r>
              <a:rPr lang="en-US" sz="1300" b="1" dirty="0">
                <a:solidFill>
                  <a:srgbClr val="E6EDF3"/>
                </a:solidFill>
                <a:latin typeface="Segoe UI" pitchFamily="34" charset="0"/>
                <a:ea typeface="Segoe UI" pitchFamily="34" charset="-122"/>
                <a:cs typeface="Segoe UI" pitchFamily="34" charset="-120"/>
              </a:rPr>
              <a:t>lib/ledger-server.ts</a:t>
            </a:r>
            <a:endParaRPr lang="en-US" sz="1300" dirty="0"/>
          </a:p>
          <a:p>
            <a:pPr indent="0" marL="0">
              <a:buNone/>
            </a:pPr>
            <a:r>
              <a:rPr lang="en-US" sz="1050" dirty="0">
                <a:solidFill>
                  <a:srgbClr val="8FA6B8"/>
                </a:solidFill>
                <a:latin typeface="Segoe UI" pitchFamily="34" charset="0"/>
                <a:ea typeface="Segoe UI" pitchFamily="34" charset="-122"/>
                <a:cs typeface="Segoe UI" pitchFamily="34" charset="-120"/>
              </a:rPr>
              <a:t>builds JSON Ledger API commands, maps ledger ids &lt;-&gt; company-a/b/c</a:t>
            </a:r>
            <a:endParaRPr lang="en-US" sz="1300" dirty="0"/>
          </a:p>
        </p:txBody>
      </p:sp>
      <p:sp>
        <p:nvSpPr>
          <p:cNvPr id="18" name="Shape 16"/>
          <p:cNvSpPr/>
          <p:nvPr/>
        </p:nvSpPr>
        <p:spPr>
          <a:xfrm>
            <a:off x="6080760" y="4142232"/>
            <a:ext cx="0" cy="192024"/>
          </a:xfrm>
          <a:prstGeom prst="line">
            <a:avLst/>
          </a:prstGeom>
          <a:noFill/>
          <a:ln w="22225">
            <a:solidFill>
              <a:srgbClr val="5F7486"/>
            </a:solidFill>
            <a:prstDash val="solid"/>
            <a:tailEnd type="triangle"/>
          </a:ln>
        </p:spPr>
      </p:sp>
      <p:sp>
        <p:nvSpPr>
          <p:cNvPr id="19" name="Shape 17"/>
          <p:cNvSpPr/>
          <p:nvPr/>
        </p:nvSpPr>
        <p:spPr>
          <a:xfrm>
            <a:off x="2194560" y="4334256"/>
            <a:ext cx="7772400" cy="749808"/>
          </a:xfrm>
          <a:prstGeom prst="roundRect">
            <a:avLst>
              <a:gd name="adj" fmla="val 9756"/>
            </a:avLst>
          </a:prstGeom>
          <a:solidFill>
            <a:srgbClr val="141C25"/>
          </a:solidFill>
          <a:ln w="19050">
            <a:solidFill>
              <a:srgbClr val="38E1A4"/>
            </a:solidFill>
            <a:prstDash val="solid"/>
          </a:ln>
        </p:spPr>
      </p:sp>
      <p:sp>
        <p:nvSpPr>
          <p:cNvPr id="20" name="Text 18"/>
          <p:cNvSpPr/>
          <p:nvPr/>
        </p:nvSpPr>
        <p:spPr>
          <a:xfrm>
            <a:off x="2286000" y="4334256"/>
            <a:ext cx="7589520" cy="749808"/>
          </a:xfrm>
          <a:prstGeom prst="rect">
            <a:avLst/>
          </a:prstGeom>
          <a:noFill/>
          <a:ln/>
        </p:spPr>
        <p:txBody>
          <a:bodyPr wrap="square" rtlCol="0" anchor="ctr"/>
          <a:lstStyle/>
          <a:p>
            <a:pPr algn="ctr" indent="0" marL="0">
              <a:buNone/>
            </a:pPr>
            <a:endParaRPr lang="en-US" sz="1300" dirty="0"/>
          </a:p>
        </p:txBody>
      </p:sp>
      <p:sp>
        <p:nvSpPr>
          <p:cNvPr id="21" name="Text 19"/>
          <p:cNvSpPr/>
          <p:nvPr/>
        </p:nvSpPr>
        <p:spPr>
          <a:xfrm>
            <a:off x="2377440" y="4334256"/>
            <a:ext cx="7406640" cy="749808"/>
          </a:xfrm>
          <a:prstGeom prst="rect">
            <a:avLst/>
          </a:prstGeom>
          <a:noFill/>
          <a:ln/>
        </p:spPr>
        <p:txBody>
          <a:bodyPr wrap="square" rtlCol="0" anchor="ctr"/>
          <a:lstStyle/>
          <a:p>
            <a:pPr indent="0" marL="0">
              <a:buNone/>
            </a:pPr>
            <a:r>
              <a:rPr lang="en-US" sz="1300" b="1" dirty="0">
                <a:solidFill>
                  <a:srgbClr val="E6EDF3"/>
                </a:solidFill>
                <a:latin typeface="Segoe UI" pitchFamily="34" charset="0"/>
                <a:ea typeface="Segoe UI" pitchFamily="34" charset="-122"/>
                <a:cs typeface="Segoe UI" pitchFamily="34" charset="-120"/>
              </a:rPr>
              <a:t>JSON Ledger API v2  ·  5N Devnet validator</a:t>
            </a:r>
            <a:endParaRPr lang="en-US" sz="1300" dirty="0"/>
          </a:p>
          <a:p>
            <a:pPr indent="0" marL="0">
              <a:buNone/>
            </a:pPr>
            <a:r>
              <a:rPr lang="en-US" sz="1050" dirty="0">
                <a:solidFill>
                  <a:srgbClr val="8FA6B8"/>
                </a:solidFill>
                <a:latin typeface="Segoe UI" pitchFamily="34" charset="0"/>
                <a:ea typeface="Segoe UI" pitchFamily="34" charset="-122"/>
                <a:cs typeface="Segoe UI" pitchFamily="34" charset="-120"/>
              </a:rPr>
              <a:t>/v2/commands, /v2/state/active-contracts, /v2/updates</a:t>
            </a:r>
            <a:endParaRPr lang="en-US" sz="1300" dirty="0"/>
          </a:p>
        </p:txBody>
      </p:sp>
      <p:sp>
        <p:nvSpPr>
          <p:cNvPr id="22" name="Shape 20"/>
          <p:cNvSpPr/>
          <p:nvPr/>
        </p:nvSpPr>
        <p:spPr>
          <a:xfrm>
            <a:off x="6080760" y="5084064"/>
            <a:ext cx="0" cy="192024"/>
          </a:xfrm>
          <a:prstGeom prst="line">
            <a:avLst/>
          </a:prstGeom>
          <a:noFill/>
          <a:ln w="22225">
            <a:solidFill>
              <a:srgbClr val="5F7486"/>
            </a:solidFill>
            <a:prstDash val="solid"/>
            <a:tailEnd type="triangle"/>
          </a:ln>
        </p:spPr>
      </p:sp>
      <p:sp>
        <p:nvSpPr>
          <p:cNvPr id="23" name="Shape 21"/>
          <p:cNvSpPr/>
          <p:nvPr/>
        </p:nvSpPr>
        <p:spPr>
          <a:xfrm>
            <a:off x="2194560" y="5276088"/>
            <a:ext cx="7772400" cy="749808"/>
          </a:xfrm>
          <a:prstGeom prst="roundRect">
            <a:avLst>
              <a:gd name="adj" fmla="val 9756"/>
            </a:avLst>
          </a:prstGeom>
          <a:solidFill>
            <a:srgbClr val="141C25"/>
          </a:solidFill>
          <a:ln w="19050">
            <a:solidFill>
              <a:srgbClr val="38E1A4"/>
            </a:solidFill>
            <a:prstDash val="solid"/>
          </a:ln>
        </p:spPr>
      </p:sp>
      <p:sp>
        <p:nvSpPr>
          <p:cNvPr id="24" name="Text 22"/>
          <p:cNvSpPr/>
          <p:nvPr/>
        </p:nvSpPr>
        <p:spPr>
          <a:xfrm>
            <a:off x="2286000" y="5276088"/>
            <a:ext cx="7589520" cy="749808"/>
          </a:xfrm>
          <a:prstGeom prst="rect">
            <a:avLst/>
          </a:prstGeom>
          <a:noFill/>
          <a:ln/>
        </p:spPr>
        <p:txBody>
          <a:bodyPr wrap="square" rtlCol="0" anchor="ctr"/>
          <a:lstStyle/>
          <a:p>
            <a:pPr algn="ctr" indent="0" marL="0">
              <a:buNone/>
            </a:pPr>
            <a:endParaRPr lang="en-US" sz="1300" dirty="0"/>
          </a:p>
        </p:txBody>
      </p:sp>
      <p:sp>
        <p:nvSpPr>
          <p:cNvPr id="25" name="Text 23"/>
          <p:cNvSpPr/>
          <p:nvPr/>
        </p:nvSpPr>
        <p:spPr>
          <a:xfrm>
            <a:off x="2377440" y="5276088"/>
            <a:ext cx="7406640" cy="749808"/>
          </a:xfrm>
          <a:prstGeom prst="rect">
            <a:avLst/>
          </a:prstGeom>
          <a:noFill/>
          <a:ln/>
        </p:spPr>
        <p:txBody>
          <a:bodyPr wrap="square" rtlCol="0" anchor="ctr"/>
          <a:lstStyle/>
          <a:p>
            <a:pPr indent="0" marL="0">
              <a:buNone/>
            </a:pPr>
            <a:r>
              <a:rPr lang="en-US" sz="1300" b="1" dirty="0">
                <a:solidFill>
                  <a:srgbClr val="E6EDF3"/>
                </a:solidFill>
                <a:latin typeface="Segoe UI" pitchFamily="34" charset="0"/>
                <a:ea typeface="Segoe UI" pitchFamily="34" charset="-122"/>
                <a:cs typeface="Segoe UI" pitchFamily="34" charset="-120"/>
              </a:rPr>
              <a:t>Canton  ·  Daml package  (netchain, LF 2.3, PV35)</a:t>
            </a:r>
            <a:endParaRPr lang="en-US" sz="1300" dirty="0"/>
          </a:p>
          <a:p>
            <a:pPr indent="0" marL="0">
              <a:buNone/>
            </a:pPr>
            <a:r>
              <a:rPr lang="en-US" sz="1050" dirty="0">
                <a:solidFill>
                  <a:srgbClr val="8FA6B8"/>
                </a:solidFill>
                <a:latin typeface="Segoe UI" pitchFamily="34" charset="0"/>
                <a:ea typeface="Segoe UI" pitchFamily="34" charset="-122"/>
                <a:cs typeface="Segoe UI" pitchFamily="34" charset="-120"/>
              </a:rPr>
              <a:t>Obligation · NettingCycle · TreasuryPolicy(+Proposal) · Account · NetPosition</a:t>
            </a:r>
            <a:endParaRPr lang="en-US" sz="1300" dirty="0"/>
          </a:p>
        </p:txBody>
      </p:sp>
      <p:sp>
        <p:nvSpPr>
          <p:cNvPr id="26" name="Text 24"/>
          <p:cNvSpPr/>
          <p:nvPr/>
        </p:nvSpPr>
        <p:spPr>
          <a:xfrm>
            <a:off x="640080" y="5989320"/>
            <a:ext cx="10911535" cy="274320"/>
          </a:xfrm>
          <a:prstGeom prst="rect">
            <a:avLst/>
          </a:prstGeom>
          <a:noFill/>
          <a:ln/>
        </p:spPr>
        <p:txBody>
          <a:bodyPr wrap="square" rtlCol="0" anchor="ctr"/>
          <a:lstStyle/>
          <a:p>
            <a:pPr algn="ctr" indent="0" marL="0">
              <a:buNone/>
            </a:pPr>
            <a:r>
              <a:rPr lang="en-US" sz="1200" i="1" dirty="0">
                <a:solidFill>
                  <a:srgbClr val="5F7486"/>
                </a:solidFill>
                <a:latin typeface="Segoe UI" pitchFamily="34" charset="0"/>
                <a:ea typeface="Segoe UI" pitchFamily="34" charset="-122"/>
                <a:cs typeface="Segoe UI" pitchFamily="34" charset="-120"/>
              </a:rPr>
              <a:t>One request's path is the same every time: wrapper → route → ledger-server → validator → Daml, and back.</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7FA6C9"/>
          </a:solidFill>
          <a:ln/>
        </p:spPr>
      </p:sp>
      <p:sp>
        <p:nvSpPr>
          <p:cNvPr id="3" name="Text 1"/>
          <p:cNvSpPr/>
          <p:nvPr/>
        </p:nvSpPr>
        <p:spPr>
          <a:xfrm>
            <a:off x="640080" y="384048"/>
            <a:ext cx="10911535" cy="274320"/>
          </a:xfrm>
          <a:prstGeom prst="rect">
            <a:avLst/>
          </a:prstGeom>
          <a:noFill/>
          <a:ln/>
        </p:spPr>
        <p:txBody>
          <a:bodyPr wrap="square" rtlCol="0" anchor="ctr"/>
          <a:lstStyle/>
          <a:p>
            <a:pPr indent="0" marL="0">
              <a:buNone/>
            </a:pPr>
            <a:r>
              <a:rPr lang="en-US" sz="1100" b="1" spc="300" kern="0" dirty="0">
                <a:solidFill>
                  <a:srgbClr val="7FA6C9"/>
                </a:solidFill>
                <a:latin typeface="Segoe UI" pitchFamily="34" charset="0"/>
                <a:ea typeface="Segoe UI" pitchFamily="34" charset="-122"/>
                <a:cs typeface="Segoe UI" pitchFamily="34" charset="-120"/>
              </a:rPr>
              <a:t>CORE CONCEPT</a:t>
            </a:r>
            <a:endParaRPr lang="en-US" sz="1100" dirty="0"/>
          </a:p>
        </p:txBody>
      </p:sp>
      <p:sp>
        <p:nvSpPr>
          <p:cNvPr id="4" name="Text 2"/>
          <p:cNvSpPr/>
          <p:nvPr/>
        </p:nvSpPr>
        <p:spPr>
          <a:xfrm>
            <a:off x="640080" y="658368"/>
            <a:ext cx="10911535" cy="731520"/>
          </a:xfrm>
          <a:prstGeom prst="rect">
            <a:avLst/>
          </a:prstGeom>
          <a:noFill/>
          <a:ln/>
        </p:spPr>
        <p:txBody>
          <a:bodyPr wrap="square" rtlCol="0" anchor="ctr"/>
          <a:lstStyle/>
          <a:p>
            <a:pPr indent="0" marL="0">
              <a:buNone/>
            </a:pPr>
            <a:r>
              <a:rPr lang="en-US" sz="2700" b="1" dirty="0">
                <a:solidFill>
                  <a:srgbClr val="E6EDF3"/>
                </a:solidFill>
                <a:latin typeface="Segoe UI" pitchFamily="34" charset="0"/>
                <a:ea typeface="Segoe UI" pitchFamily="34" charset="-122"/>
                <a:cs typeface="Segoe UI" pitchFamily="34" charset="-120"/>
              </a:rPr>
              <a:t>Multilateral netting: 460k gross collapses to 45k net</a:t>
            </a:r>
            <a:endParaRPr lang="en-US" sz="2700" dirty="0"/>
          </a:p>
        </p:txBody>
      </p:sp>
      <p:sp>
        <p:nvSpPr>
          <p:cNvPr id="5" name="Text 3"/>
          <p:cNvSpPr/>
          <p:nvPr/>
        </p:nvSpPr>
        <p:spPr>
          <a:xfrm>
            <a:off x="640080" y="6446520"/>
            <a:ext cx="5486400" cy="274320"/>
          </a:xfrm>
          <a:prstGeom prst="rect">
            <a:avLst/>
          </a:prstGeom>
          <a:noFill/>
          <a:ln/>
        </p:spPr>
        <p:txBody>
          <a:bodyPr wrap="square" rtlCol="0" anchor="ctr"/>
          <a:lstStyle/>
          <a:p>
            <a:pPr indent="0" marL="0">
              <a:buNone/>
            </a:pPr>
            <a:r>
              <a:rPr lang="en-US" sz="900" b="1" dirty="0">
                <a:solidFill>
                  <a:srgbClr val="E6EDF3"/>
                </a:solidFill>
                <a:latin typeface="Segoe UI" pitchFamily="34" charset="0"/>
                <a:ea typeface="Segoe UI" pitchFamily="34" charset="-122"/>
                <a:cs typeface="Segoe UI" pitchFamily="34" charset="-120"/>
              </a:rPr>
              <a:t>NetChain</a:t>
            </a:r>
            <a:pPr indent="0" marL="0">
              <a:buNone/>
            </a:pPr>
            <a:r>
              <a:rPr lang="en-US" sz="900" dirty="0">
                <a:solidFill>
                  <a:srgbClr val="5F7486"/>
                </a:solidFill>
                <a:latin typeface="Segoe UI" pitchFamily="34" charset="0"/>
                <a:ea typeface="Segoe UI" pitchFamily="34" charset="-122"/>
                <a:cs typeface="Segoe UI" pitchFamily="34" charset="-120"/>
              </a:rPr>
              <a:t>  deep dive</a:t>
            </a:r>
            <a:endParaRPr lang="en-US" sz="900" dirty="0"/>
          </a:p>
        </p:txBody>
      </p:sp>
      <p:sp>
        <p:nvSpPr>
          <p:cNvPr id="6" name="Text 4"/>
          <p:cNvSpPr/>
          <p:nvPr/>
        </p:nvSpPr>
        <p:spPr>
          <a:xfrm>
            <a:off x="8808415" y="6446520"/>
            <a:ext cx="2743200" cy="274320"/>
          </a:xfrm>
          <a:prstGeom prst="rect">
            <a:avLst/>
          </a:prstGeom>
          <a:noFill/>
          <a:ln/>
        </p:spPr>
        <p:txBody>
          <a:bodyPr wrap="square" rtlCol="0" anchor="ctr"/>
          <a:lstStyle/>
          <a:p>
            <a:pPr algn="r" indent="0" marL="0">
              <a:buNone/>
            </a:pPr>
            <a:r>
              <a:rPr lang="en-US" sz="900" dirty="0">
                <a:solidFill>
                  <a:srgbClr val="5F7486"/>
                </a:solidFill>
                <a:latin typeface="Segoe UI" pitchFamily="34" charset="0"/>
                <a:ea typeface="Segoe UI" pitchFamily="34" charset="-122"/>
                <a:cs typeface="Segoe UI" pitchFamily="34" charset="-120"/>
              </a:rPr>
              <a:t>netchain.vercel.app</a:t>
            </a:r>
            <a:endParaRPr lang="en-US" sz="900" dirty="0"/>
          </a:p>
        </p:txBody>
      </p:sp>
      <p:pic>
        <p:nvPicPr>
          <p:cNvPr id="7" name="Image 0" descr="screens/shot-graph-gross.png">    </p:cNvPr>
          <p:cNvPicPr>
            <a:picLocks noChangeAspect="1"/>
          </p:cNvPicPr>
          <p:nvPr/>
        </p:nvPicPr>
        <p:blipFill>
          <a:blip r:embed="rId1"/>
          <a:stretch>
            <a:fillRect/>
          </a:stretch>
        </p:blipFill>
        <p:spPr>
          <a:xfrm>
            <a:off x="640080" y="1508760"/>
            <a:ext cx="5486400" cy="3429000"/>
          </a:xfrm>
          <a:prstGeom prst="rect">
            <a:avLst/>
          </a:prstGeom>
        </p:spPr>
      </p:pic>
      <p:sp>
        <p:nvSpPr>
          <p:cNvPr id="8" name="Shape 5"/>
          <p:cNvSpPr/>
          <p:nvPr/>
        </p:nvSpPr>
        <p:spPr>
          <a:xfrm>
            <a:off x="640080" y="1508760"/>
            <a:ext cx="5486400" cy="3429000"/>
          </a:xfrm>
          <a:prstGeom prst="roundRect">
            <a:avLst>
              <a:gd name="adj" fmla="val 800"/>
            </a:avLst>
          </a:prstGeom>
          <a:ln w="12700">
            <a:solidFill>
              <a:srgbClr val="223040"/>
            </a:solidFill>
            <a:prstDash val="solid"/>
          </a:ln>
        </p:spPr>
      </p:sp>
      <p:sp>
        <p:nvSpPr>
          <p:cNvPr id="9" name="Text 6"/>
          <p:cNvSpPr/>
          <p:nvPr/>
        </p:nvSpPr>
        <p:spPr>
          <a:xfrm>
            <a:off x="640080" y="4983480"/>
            <a:ext cx="5486400" cy="274320"/>
          </a:xfrm>
          <a:prstGeom prst="rect">
            <a:avLst/>
          </a:prstGeom>
          <a:noFill/>
          <a:ln/>
        </p:spPr>
        <p:txBody>
          <a:bodyPr wrap="square" rtlCol="0" anchor="ctr"/>
          <a:lstStyle/>
          <a:p>
            <a:pPr algn="ctr" indent="0" marL="0">
              <a:buNone/>
            </a:pPr>
            <a:r>
              <a:rPr lang="en-US" sz="1000" i="1" dirty="0">
                <a:solidFill>
                  <a:srgbClr val="5F7486"/>
                </a:solidFill>
                <a:latin typeface="Segoe UI" pitchFamily="34" charset="0"/>
                <a:ea typeface="Segoe UI" pitchFamily="34" charset="-122"/>
                <a:cs typeface="Segoe UI" pitchFamily="34" charset="-120"/>
              </a:rPr>
              <a:t>GROSS: 6 bilateral obligations, 460,000 USDCx</a:t>
            </a:r>
            <a:endParaRPr lang="en-US" sz="1000" dirty="0"/>
          </a:p>
        </p:txBody>
      </p:sp>
      <p:pic>
        <p:nvPicPr>
          <p:cNvPr id="10" name="Image 1" descr="screens/shot-graph-net.png">    </p:cNvPr>
          <p:cNvPicPr>
            <a:picLocks noChangeAspect="1"/>
          </p:cNvPicPr>
          <p:nvPr/>
        </p:nvPicPr>
        <p:blipFill>
          <a:blip r:embed="rId2"/>
          <a:stretch>
            <a:fillRect/>
          </a:stretch>
        </p:blipFill>
        <p:spPr>
          <a:xfrm>
            <a:off x="6355080" y="1508760"/>
            <a:ext cx="5486400" cy="3429000"/>
          </a:xfrm>
          <a:prstGeom prst="rect">
            <a:avLst/>
          </a:prstGeom>
        </p:spPr>
      </p:pic>
      <p:sp>
        <p:nvSpPr>
          <p:cNvPr id="11" name="Shape 7"/>
          <p:cNvSpPr/>
          <p:nvPr/>
        </p:nvSpPr>
        <p:spPr>
          <a:xfrm>
            <a:off x="6355080" y="1508760"/>
            <a:ext cx="5486400" cy="3429000"/>
          </a:xfrm>
          <a:prstGeom prst="roundRect">
            <a:avLst>
              <a:gd name="adj" fmla="val 800"/>
            </a:avLst>
          </a:prstGeom>
          <a:ln w="12700">
            <a:solidFill>
              <a:srgbClr val="223040"/>
            </a:solidFill>
            <a:prstDash val="solid"/>
          </a:ln>
        </p:spPr>
      </p:sp>
      <p:sp>
        <p:nvSpPr>
          <p:cNvPr id="12" name="Text 8"/>
          <p:cNvSpPr/>
          <p:nvPr/>
        </p:nvSpPr>
        <p:spPr>
          <a:xfrm>
            <a:off x="6355080" y="4983480"/>
            <a:ext cx="5486400" cy="274320"/>
          </a:xfrm>
          <a:prstGeom prst="rect">
            <a:avLst/>
          </a:prstGeom>
          <a:noFill/>
          <a:ln/>
        </p:spPr>
        <p:txBody>
          <a:bodyPr wrap="square" rtlCol="0" anchor="ctr"/>
          <a:lstStyle/>
          <a:p>
            <a:pPr algn="ctr" indent="0" marL="0">
              <a:buNone/>
            </a:pPr>
            <a:r>
              <a:rPr lang="en-US" sz="1000" i="1" dirty="0">
                <a:solidFill>
                  <a:srgbClr val="5F7486"/>
                </a:solidFill>
                <a:latin typeface="Segoe UI" pitchFamily="34" charset="0"/>
                <a:ea typeface="Segoe UI" pitchFamily="34" charset="-122"/>
                <a:cs typeface="Segoe UI" pitchFamily="34" charset="-120"/>
              </a:rPr>
              <a:t>NET: one figure per party, sum = 0</a:t>
            </a:r>
            <a:endParaRPr lang="en-US" sz="1000" dirty="0"/>
          </a:p>
        </p:txBody>
      </p:sp>
      <p:sp>
        <p:nvSpPr>
          <p:cNvPr id="13" name="Shape 9"/>
          <p:cNvSpPr/>
          <p:nvPr/>
        </p:nvSpPr>
        <p:spPr>
          <a:xfrm>
            <a:off x="640080" y="5029200"/>
            <a:ext cx="10911535" cy="1051560"/>
          </a:xfrm>
          <a:prstGeom prst="roundRect">
            <a:avLst>
              <a:gd name="adj" fmla="val 7826"/>
            </a:avLst>
          </a:prstGeom>
          <a:solidFill>
            <a:srgbClr val="141C25"/>
          </a:solidFill>
          <a:ln w="12700">
            <a:solidFill>
              <a:srgbClr val="223040"/>
            </a:solidFill>
            <a:prstDash val="solid"/>
          </a:ln>
        </p:spPr>
      </p:sp>
      <p:sp>
        <p:nvSpPr>
          <p:cNvPr id="14" name="Text 10"/>
          <p:cNvSpPr/>
          <p:nvPr/>
        </p:nvSpPr>
        <p:spPr>
          <a:xfrm>
            <a:off x="914400" y="5074920"/>
            <a:ext cx="10362895" cy="960120"/>
          </a:xfrm>
          <a:prstGeom prst="rect">
            <a:avLst/>
          </a:prstGeom>
          <a:noFill/>
          <a:ln/>
        </p:spPr>
        <p:txBody>
          <a:bodyPr wrap="square" rtlCol="0" anchor="ctr"/>
          <a:lstStyle/>
          <a:p>
            <a:pPr indent="0" marL="0">
              <a:lnSpc>
                <a:spcPct val="115000"/>
              </a:lnSpc>
              <a:buNone/>
            </a:pPr>
            <a:r>
              <a:rPr lang="en-US" sz="1200" dirty="0">
                <a:solidFill>
                  <a:srgbClr val="8FA6B8"/>
                </a:solidFill>
                <a:latin typeface="Segoe UI" pitchFamily="34" charset="0"/>
                <a:ea typeface="Segoe UI" pitchFamily="34" charset="-122"/>
                <a:cs typeface="Segoe UI" pitchFamily="34" charset="-120"/>
              </a:rPr>
              <a:t>A owes B 120k, B owes C 95k, C owes A 150k, A owes C 40k, B owes A 25k, C owes B 30k   </a:t>
            </a:r>
            <a:pPr indent="0" marL="0">
              <a:lnSpc>
                <a:spcPct val="115000"/>
              </a:lnSpc>
              <a:buNone/>
            </a:pPr>
            <a:r>
              <a:rPr lang="en-US" sz="1200" dirty="0">
                <a:solidFill>
                  <a:srgbClr val="5F7486"/>
                </a:solidFill>
                <a:latin typeface="Segoe UI" pitchFamily="34" charset="0"/>
                <a:ea typeface="Segoe UI" pitchFamily="34" charset="-122"/>
                <a:cs typeface="Segoe UI" pitchFamily="34" charset="-120"/>
              </a:rPr>
              <a:t>-&gt;   </a:t>
            </a:r>
            <a:pPr indent="0" marL="0">
              <a:lnSpc>
                <a:spcPct val="115000"/>
              </a:lnSpc>
              <a:buNone/>
            </a:pPr>
            <a:r>
              <a:rPr lang="en-US" sz="1300" b="1" dirty="0">
                <a:solidFill>
                  <a:srgbClr val="38E1A4"/>
                </a:solidFill>
                <a:latin typeface="Segoe UI" pitchFamily="34" charset="0"/>
                <a:ea typeface="Segoe UI" pitchFamily="34" charset="-122"/>
                <a:cs typeface="Segoe UI" pitchFamily="34" charset="-120"/>
              </a:rPr>
              <a:t>A +15k   B +30k   C -45k   (Σ = 0)</a:t>
            </a:r>
            <a:pPr indent="0" marL="0">
              <a:lnSpc>
                <a:spcPct val="115000"/>
              </a:lnSpc>
              <a:buNone/>
            </a:pPr>
            <a:endParaRPr lang="en-US" sz="1200" dirty="0"/>
          </a:p>
          <a:p>
            <a:pPr indent="0" marL="0">
              <a:lnSpc>
                <a:spcPct val="115000"/>
              </a:lnSpc>
              <a:buNone/>
            </a:pPr>
            <a:r>
              <a:rPr lang="en-US" sz="1200" dirty="0">
                <a:solidFill>
                  <a:srgbClr val="E6EDF3"/>
                </a:solidFill>
                <a:latin typeface="Segoe UI" pitchFamily="34" charset="0"/>
                <a:ea typeface="Segoe UI" pitchFamily="34" charset="-122"/>
                <a:cs typeface="Segoe UI" pitchFamily="34" charset="-120"/>
              </a:rPr>
              <a:t>90% less value has to actually move. The graph animates the collapse live (Gross &lt;-&gt; Net toggle).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7FA6C9"/>
          </a:solidFill>
          <a:ln/>
        </p:spPr>
      </p:sp>
      <p:sp>
        <p:nvSpPr>
          <p:cNvPr id="3" name="Text 1"/>
          <p:cNvSpPr/>
          <p:nvPr/>
        </p:nvSpPr>
        <p:spPr>
          <a:xfrm>
            <a:off x="640080" y="384048"/>
            <a:ext cx="10911535" cy="274320"/>
          </a:xfrm>
          <a:prstGeom prst="rect">
            <a:avLst/>
          </a:prstGeom>
          <a:noFill/>
          <a:ln/>
        </p:spPr>
        <p:txBody>
          <a:bodyPr wrap="square" rtlCol="0" anchor="ctr"/>
          <a:lstStyle/>
          <a:p>
            <a:pPr indent="0" marL="0">
              <a:buNone/>
            </a:pPr>
            <a:r>
              <a:rPr lang="en-US" sz="1100" b="1" spc="300" kern="0" dirty="0">
                <a:solidFill>
                  <a:srgbClr val="7FA6C9"/>
                </a:solidFill>
                <a:latin typeface="Segoe UI" pitchFamily="34" charset="0"/>
                <a:ea typeface="Segoe UI" pitchFamily="34" charset="-122"/>
                <a:cs typeface="Segoe UI" pitchFamily="34" charset="-120"/>
              </a:rPr>
              <a:t>CORE CONCEPT</a:t>
            </a:r>
            <a:endParaRPr lang="en-US" sz="1100" dirty="0"/>
          </a:p>
        </p:txBody>
      </p:sp>
      <p:sp>
        <p:nvSpPr>
          <p:cNvPr id="4" name="Text 2"/>
          <p:cNvSpPr/>
          <p:nvPr/>
        </p:nvSpPr>
        <p:spPr>
          <a:xfrm>
            <a:off x="640080" y="658368"/>
            <a:ext cx="10911535" cy="731520"/>
          </a:xfrm>
          <a:prstGeom prst="rect">
            <a:avLst/>
          </a:prstGeom>
          <a:noFill/>
          <a:ln/>
        </p:spPr>
        <p:txBody>
          <a:bodyPr wrap="square" rtlCol="0" anchor="ctr"/>
          <a:lstStyle/>
          <a:p>
            <a:pPr indent="0" marL="0">
              <a:buNone/>
            </a:pPr>
            <a:r>
              <a:rPr lang="en-US" sz="2700" b="1" dirty="0">
                <a:solidFill>
                  <a:srgbClr val="E6EDF3"/>
                </a:solidFill>
                <a:latin typeface="Segoe UI" pitchFamily="34" charset="0"/>
                <a:ea typeface="Segoe UI" pitchFamily="34" charset="-122"/>
                <a:cs typeface="Segoe UI" pitchFamily="34" charset="-120"/>
              </a:rPr>
              <a:t>Atomic settlement: all legs move, or none do</a:t>
            </a:r>
            <a:endParaRPr lang="en-US" sz="2700" dirty="0"/>
          </a:p>
        </p:txBody>
      </p:sp>
      <p:sp>
        <p:nvSpPr>
          <p:cNvPr id="5" name="Text 3"/>
          <p:cNvSpPr/>
          <p:nvPr/>
        </p:nvSpPr>
        <p:spPr>
          <a:xfrm>
            <a:off x="640080" y="6446520"/>
            <a:ext cx="5486400" cy="274320"/>
          </a:xfrm>
          <a:prstGeom prst="rect">
            <a:avLst/>
          </a:prstGeom>
          <a:noFill/>
          <a:ln/>
        </p:spPr>
        <p:txBody>
          <a:bodyPr wrap="square" rtlCol="0" anchor="ctr"/>
          <a:lstStyle/>
          <a:p>
            <a:pPr indent="0" marL="0">
              <a:buNone/>
            </a:pPr>
            <a:r>
              <a:rPr lang="en-US" sz="900" b="1" dirty="0">
                <a:solidFill>
                  <a:srgbClr val="E6EDF3"/>
                </a:solidFill>
                <a:latin typeface="Segoe UI" pitchFamily="34" charset="0"/>
                <a:ea typeface="Segoe UI" pitchFamily="34" charset="-122"/>
                <a:cs typeface="Segoe UI" pitchFamily="34" charset="-120"/>
              </a:rPr>
              <a:t>NetChain</a:t>
            </a:r>
            <a:pPr indent="0" marL="0">
              <a:buNone/>
            </a:pPr>
            <a:r>
              <a:rPr lang="en-US" sz="900" dirty="0">
                <a:solidFill>
                  <a:srgbClr val="5F7486"/>
                </a:solidFill>
                <a:latin typeface="Segoe UI" pitchFamily="34" charset="0"/>
                <a:ea typeface="Segoe UI" pitchFamily="34" charset="-122"/>
                <a:cs typeface="Segoe UI" pitchFamily="34" charset="-120"/>
              </a:rPr>
              <a:t>  deep dive</a:t>
            </a:r>
            <a:endParaRPr lang="en-US" sz="900" dirty="0"/>
          </a:p>
        </p:txBody>
      </p:sp>
      <p:sp>
        <p:nvSpPr>
          <p:cNvPr id="6" name="Text 4"/>
          <p:cNvSpPr/>
          <p:nvPr/>
        </p:nvSpPr>
        <p:spPr>
          <a:xfrm>
            <a:off x="8808415" y="6446520"/>
            <a:ext cx="2743200" cy="274320"/>
          </a:xfrm>
          <a:prstGeom prst="rect">
            <a:avLst/>
          </a:prstGeom>
          <a:noFill/>
          <a:ln/>
        </p:spPr>
        <p:txBody>
          <a:bodyPr wrap="square" rtlCol="0" anchor="ctr"/>
          <a:lstStyle/>
          <a:p>
            <a:pPr algn="r" indent="0" marL="0">
              <a:buNone/>
            </a:pPr>
            <a:r>
              <a:rPr lang="en-US" sz="900" dirty="0">
                <a:solidFill>
                  <a:srgbClr val="5F7486"/>
                </a:solidFill>
                <a:latin typeface="Segoe UI" pitchFamily="34" charset="0"/>
                <a:ea typeface="Segoe UI" pitchFamily="34" charset="-122"/>
                <a:cs typeface="Segoe UI" pitchFamily="34" charset="-120"/>
              </a:rPr>
              <a:t>netchain.vercel.app</a:t>
            </a:r>
            <a:endParaRPr lang="en-US" sz="900" dirty="0"/>
          </a:p>
        </p:txBody>
      </p:sp>
      <p:pic>
        <p:nvPicPr>
          <p:cNvPr id="7" name="Image 0" descr="screens/shot-settlement.png">    </p:cNvPr>
          <p:cNvPicPr>
            <a:picLocks noChangeAspect="1"/>
          </p:cNvPicPr>
          <p:nvPr/>
        </p:nvPicPr>
        <p:blipFill>
          <a:blip r:embed="rId1"/>
          <a:stretch>
            <a:fillRect/>
          </a:stretch>
        </p:blipFill>
        <p:spPr>
          <a:xfrm>
            <a:off x="640080" y="1554480"/>
            <a:ext cx="6035040" cy="3771900"/>
          </a:xfrm>
          <a:prstGeom prst="rect">
            <a:avLst/>
          </a:prstGeom>
        </p:spPr>
      </p:pic>
      <p:sp>
        <p:nvSpPr>
          <p:cNvPr id="8" name="Shape 5"/>
          <p:cNvSpPr/>
          <p:nvPr/>
        </p:nvSpPr>
        <p:spPr>
          <a:xfrm>
            <a:off x="640080" y="1554480"/>
            <a:ext cx="6035040" cy="3771900"/>
          </a:xfrm>
          <a:prstGeom prst="roundRect">
            <a:avLst>
              <a:gd name="adj" fmla="val 727"/>
            </a:avLst>
          </a:prstGeom>
          <a:ln w="12700">
            <a:solidFill>
              <a:srgbClr val="223040"/>
            </a:solidFill>
            <a:prstDash val="solid"/>
          </a:ln>
        </p:spPr>
      </p:sp>
      <p:sp>
        <p:nvSpPr>
          <p:cNvPr id="9" name="Text 6"/>
          <p:cNvSpPr/>
          <p:nvPr/>
        </p:nvSpPr>
        <p:spPr>
          <a:xfrm>
            <a:off x="640080" y="5372100"/>
            <a:ext cx="6035040" cy="274320"/>
          </a:xfrm>
          <a:prstGeom prst="rect">
            <a:avLst/>
          </a:prstGeom>
          <a:noFill/>
          <a:ln/>
        </p:spPr>
        <p:txBody>
          <a:bodyPr wrap="square" rtlCol="0" anchor="ctr"/>
          <a:lstStyle/>
          <a:p>
            <a:pPr algn="ctr" indent="0" marL="0">
              <a:buNone/>
            </a:pPr>
            <a:r>
              <a:rPr lang="en-US" sz="1000" i="1" dirty="0">
                <a:solidFill>
                  <a:srgbClr val="5F7486"/>
                </a:solidFill>
                <a:latin typeface="Segoe UI" pitchFamily="34" charset="0"/>
                <a:ea typeface="Segoe UI" pitchFamily="34" charset="-122"/>
                <a:cs typeface="Segoe UI" pitchFamily="34" charset="-120"/>
              </a:rPr>
              <a:t>Settlement page: every net leg flips to Settled together, with a real tx id</a:t>
            </a:r>
            <a:endParaRPr lang="en-US" sz="1000" dirty="0"/>
          </a:p>
        </p:txBody>
      </p:sp>
      <p:sp>
        <p:nvSpPr>
          <p:cNvPr id="10" name="Shape 7"/>
          <p:cNvSpPr/>
          <p:nvPr/>
        </p:nvSpPr>
        <p:spPr>
          <a:xfrm>
            <a:off x="7086600" y="1554480"/>
            <a:ext cx="4462272" cy="4114800"/>
          </a:xfrm>
          <a:prstGeom prst="roundRect">
            <a:avLst>
              <a:gd name="adj" fmla="val 2000"/>
            </a:avLst>
          </a:prstGeom>
          <a:solidFill>
            <a:srgbClr val="141C25"/>
          </a:solidFill>
          <a:ln w="12700">
            <a:solidFill>
              <a:srgbClr val="223040"/>
            </a:solidFill>
            <a:prstDash val="solid"/>
          </a:ln>
        </p:spPr>
      </p:sp>
      <p:sp>
        <p:nvSpPr>
          <p:cNvPr id="11" name="Text 8"/>
          <p:cNvSpPr/>
          <p:nvPr/>
        </p:nvSpPr>
        <p:spPr>
          <a:xfrm>
            <a:off x="7315200" y="1828800"/>
            <a:ext cx="3977640" cy="3657600"/>
          </a:xfrm>
          <a:prstGeom prst="rect">
            <a:avLst/>
          </a:prstGeom>
          <a:noFill/>
          <a:ln/>
        </p:spPr>
        <p:txBody>
          <a:bodyPr wrap="square" rtlCol="0" anchor="t"/>
          <a:lstStyle/>
          <a:p>
            <a:pPr marL="203200" indent="-203200">
              <a:lnSpc>
                <a:spcPct val="120000"/>
              </a:lnSpc>
              <a:spcAft>
                <a:spcPts val="800"/>
              </a:spcAft>
              <a:buSzPct val="100000"/>
              <a:buChar char="•"/>
            </a:pPr>
            <a:r>
              <a:rPr lang="en-US" sz="1300" dirty="0">
                <a:solidFill>
                  <a:srgbClr val="E6EDF3"/>
                </a:solidFill>
                <a:latin typeface="Segoe UI" pitchFamily="34" charset="0"/>
                <a:ea typeface="Segoe UI" pitchFamily="34" charset="-122"/>
                <a:cs typeface="Segoe UI" pitchFamily="34" charset="-120"/>
              </a:rPr>
              <a:t>Settle moves every party's balance inside ONE Canton transaction.</a:t>
            </a:r>
            <a:endParaRPr lang="en-US" sz="1300" dirty="0"/>
          </a:p>
          <a:p>
            <a:pPr marL="203200" indent="-203200">
              <a:lnSpc>
                <a:spcPct val="120000"/>
              </a:lnSpc>
              <a:spcAft>
                <a:spcPts val="800"/>
              </a:spcAft>
              <a:buSzPct val="100000"/>
              <a:buChar char="•"/>
            </a:pPr>
            <a:r>
              <a:rPr lang="en-US" sz="1300" dirty="0">
                <a:solidFill>
                  <a:srgbClr val="E6EDF3"/>
                </a:solidFill>
                <a:latin typeface="Segoe UI" pitchFamily="34" charset="0"/>
                <a:ea typeface="Segoe UI" pitchFamily="34" charset="-122"/>
                <a:cs typeface="Segoe UI" pitchFamily="34" charset="-120"/>
              </a:rPr>
              <a:t>Any failed assertion rolls back the WHOLE commit: no partial fills, no timing risk.</a:t>
            </a:r>
            <a:endParaRPr lang="en-US" sz="1300" dirty="0"/>
          </a:p>
          <a:p>
            <a:pPr marL="203200" indent="-203200">
              <a:lnSpc>
                <a:spcPct val="120000"/>
              </a:lnSpc>
              <a:spcAft>
                <a:spcPts val="800"/>
              </a:spcAft>
              <a:buSzPct val="100000"/>
              <a:buChar char="•"/>
            </a:pPr>
            <a:r>
              <a:rPr lang="en-US" sz="1300" dirty="0">
                <a:solidFill>
                  <a:srgbClr val="E6EDF3"/>
                </a:solidFill>
                <a:latin typeface="Segoe UI" pitchFamily="34" charset="0"/>
                <a:ea typeface="Segoe UI" pitchFamily="34" charset="-122"/>
                <a:cs typeface="Segoe UI" pitchFamily="34" charset="-120"/>
              </a:rPr>
              <a:t>An over-cap attempt aborts in-transaction and moves nothing, not by a cent, verifiable on the balances.</a:t>
            </a:r>
            <a:endParaRPr lang="en-US" sz="1300" dirty="0"/>
          </a:p>
          <a:p>
            <a:pPr marL="203200" indent="-203200">
              <a:lnSpc>
                <a:spcPct val="120000"/>
              </a:lnSpc>
              <a:spcAft>
                <a:spcPts val="800"/>
              </a:spcAft>
              <a:buSzPct val="100000"/>
              <a:buChar char="•"/>
            </a:pPr>
            <a:r>
              <a:rPr lang="en-US" sz="1300" dirty="0">
                <a:solidFill>
                  <a:srgbClr val="E6EDF3"/>
                </a:solidFill>
                <a:latin typeface="Segoe UI" pitchFamily="34" charset="0"/>
                <a:ea typeface="Segoe UI" pitchFamily="34" charset="-122"/>
                <a:cs typeface="Segoe UI" pitchFamily="34" charset="-120"/>
              </a:rPr>
              <a:t>This all-or-nothing DvP is the whole reason to settle on a ledger instead of over SWIFT.</a:t>
            </a:r>
            <a:endParaRPr lang="en-US" sz="1300" dirty="0"/>
          </a:p>
          <a:p>
            <a:pPr marL="203200" indent="-203200">
              <a:lnSpc>
                <a:spcPct val="120000"/>
              </a:lnSpc>
              <a:spcAft>
                <a:spcPts val="800"/>
              </a:spcAft>
              <a:buSzPct val="100000"/>
              <a:buChar char="•"/>
            </a:pPr>
            <a:r>
              <a:rPr lang="en-US" sz="1300" dirty="0">
                <a:solidFill>
                  <a:srgbClr val="E6EDF3"/>
                </a:solidFill>
                <a:latin typeface="Segoe UI" pitchFamily="34" charset="0"/>
                <a:ea typeface="Segoe UI" pitchFamily="34" charset="-122"/>
                <a:cs typeface="Segoe UI" pitchFamily="34" charset="-120"/>
              </a:rPr>
              <a:t>Funding is checked first; an underfunded party is dropped and the solvent remainder re-nets and settles.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7FA6C9"/>
          </a:solidFill>
          <a:ln/>
        </p:spPr>
      </p:sp>
      <p:sp>
        <p:nvSpPr>
          <p:cNvPr id="3" name="Text 1"/>
          <p:cNvSpPr/>
          <p:nvPr/>
        </p:nvSpPr>
        <p:spPr>
          <a:xfrm>
            <a:off x="640080" y="384048"/>
            <a:ext cx="10911535" cy="274320"/>
          </a:xfrm>
          <a:prstGeom prst="rect">
            <a:avLst/>
          </a:prstGeom>
          <a:noFill/>
          <a:ln/>
        </p:spPr>
        <p:txBody>
          <a:bodyPr wrap="square" rtlCol="0" anchor="ctr"/>
          <a:lstStyle/>
          <a:p>
            <a:pPr indent="0" marL="0">
              <a:buNone/>
            </a:pPr>
            <a:r>
              <a:rPr lang="en-US" sz="1100" b="1" spc="300" kern="0" dirty="0">
                <a:solidFill>
                  <a:srgbClr val="7FA6C9"/>
                </a:solidFill>
                <a:latin typeface="Segoe UI" pitchFamily="34" charset="0"/>
                <a:ea typeface="Segoe UI" pitchFamily="34" charset="-122"/>
                <a:cs typeface="Segoe UI" pitchFamily="34" charset="-120"/>
              </a:rPr>
              <a:t>CORE CONCEPT</a:t>
            </a:r>
            <a:endParaRPr lang="en-US" sz="1100" dirty="0"/>
          </a:p>
        </p:txBody>
      </p:sp>
      <p:sp>
        <p:nvSpPr>
          <p:cNvPr id="4" name="Text 2"/>
          <p:cNvSpPr/>
          <p:nvPr/>
        </p:nvSpPr>
        <p:spPr>
          <a:xfrm>
            <a:off x="640080" y="658368"/>
            <a:ext cx="10911535" cy="731520"/>
          </a:xfrm>
          <a:prstGeom prst="rect">
            <a:avLst/>
          </a:prstGeom>
          <a:noFill/>
          <a:ln/>
        </p:spPr>
        <p:txBody>
          <a:bodyPr wrap="square" rtlCol="0" anchor="ctr"/>
          <a:lstStyle/>
          <a:p>
            <a:pPr indent="0" marL="0">
              <a:buNone/>
            </a:pPr>
            <a:r>
              <a:rPr lang="en-US" sz="2700" b="1" dirty="0">
                <a:solidFill>
                  <a:srgbClr val="E6EDF3"/>
                </a:solidFill>
                <a:latin typeface="Segoe UI" pitchFamily="34" charset="0"/>
                <a:ea typeface="Segoe UI" pitchFamily="34" charset="-122"/>
                <a:cs typeface="Segoe UI" pitchFamily="34" charset="-120"/>
              </a:rPr>
              <a:t>Per-party privacy is a ledger property, not a UI mask</a:t>
            </a:r>
            <a:endParaRPr lang="en-US" sz="2700" dirty="0"/>
          </a:p>
        </p:txBody>
      </p:sp>
      <p:sp>
        <p:nvSpPr>
          <p:cNvPr id="5" name="Text 3"/>
          <p:cNvSpPr/>
          <p:nvPr/>
        </p:nvSpPr>
        <p:spPr>
          <a:xfrm>
            <a:off x="640080" y="6446520"/>
            <a:ext cx="5486400" cy="274320"/>
          </a:xfrm>
          <a:prstGeom prst="rect">
            <a:avLst/>
          </a:prstGeom>
          <a:noFill/>
          <a:ln/>
        </p:spPr>
        <p:txBody>
          <a:bodyPr wrap="square" rtlCol="0" anchor="ctr"/>
          <a:lstStyle/>
          <a:p>
            <a:pPr indent="0" marL="0">
              <a:buNone/>
            </a:pPr>
            <a:r>
              <a:rPr lang="en-US" sz="900" b="1" dirty="0">
                <a:solidFill>
                  <a:srgbClr val="E6EDF3"/>
                </a:solidFill>
                <a:latin typeface="Segoe UI" pitchFamily="34" charset="0"/>
                <a:ea typeface="Segoe UI" pitchFamily="34" charset="-122"/>
                <a:cs typeface="Segoe UI" pitchFamily="34" charset="-120"/>
              </a:rPr>
              <a:t>NetChain</a:t>
            </a:r>
            <a:pPr indent="0" marL="0">
              <a:buNone/>
            </a:pPr>
            <a:r>
              <a:rPr lang="en-US" sz="900" dirty="0">
                <a:solidFill>
                  <a:srgbClr val="5F7486"/>
                </a:solidFill>
                <a:latin typeface="Segoe UI" pitchFamily="34" charset="0"/>
                <a:ea typeface="Segoe UI" pitchFamily="34" charset="-122"/>
                <a:cs typeface="Segoe UI" pitchFamily="34" charset="-120"/>
              </a:rPr>
              <a:t>  deep dive</a:t>
            </a:r>
            <a:endParaRPr lang="en-US" sz="900" dirty="0"/>
          </a:p>
        </p:txBody>
      </p:sp>
      <p:sp>
        <p:nvSpPr>
          <p:cNvPr id="6" name="Text 4"/>
          <p:cNvSpPr/>
          <p:nvPr/>
        </p:nvSpPr>
        <p:spPr>
          <a:xfrm>
            <a:off x="8808415" y="6446520"/>
            <a:ext cx="2743200" cy="274320"/>
          </a:xfrm>
          <a:prstGeom prst="rect">
            <a:avLst/>
          </a:prstGeom>
          <a:noFill/>
          <a:ln/>
        </p:spPr>
        <p:txBody>
          <a:bodyPr wrap="square" rtlCol="0" anchor="ctr"/>
          <a:lstStyle/>
          <a:p>
            <a:pPr algn="r" indent="0" marL="0">
              <a:buNone/>
            </a:pPr>
            <a:r>
              <a:rPr lang="en-US" sz="900" dirty="0">
                <a:solidFill>
                  <a:srgbClr val="5F7486"/>
                </a:solidFill>
                <a:latin typeface="Segoe UI" pitchFamily="34" charset="0"/>
                <a:ea typeface="Segoe UI" pitchFamily="34" charset="-122"/>
                <a:cs typeface="Segoe UI" pitchFamily="34" charset="-120"/>
              </a:rPr>
              <a:t>netchain.vercel.app</a:t>
            </a:r>
            <a:endParaRPr lang="en-US" sz="900" dirty="0"/>
          </a:p>
        </p:txBody>
      </p:sp>
      <p:pic>
        <p:nvPicPr>
          <p:cNvPr id="7" name="Image 0" descr="screens/shot-privacy.png">    </p:cNvPr>
          <p:cNvPicPr>
            <a:picLocks noChangeAspect="1"/>
          </p:cNvPicPr>
          <p:nvPr/>
        </p:nvPicPr>
        <p:blipFill>
          <a:blip r:embed="rId1"/>
          <a:stretch>
            <a:fillRect/>
          </a:stretch>
        </p:blipFill>
        <p:spPr>
          <a:xfrm>
            <a:off x="640080" y="1554480"/>
            <a:ext cx="6035040" cy="3771900"/>
          </a:xfrm>
          <a:prstGeom prst="rect">
            <a:avLst/>
          </a:prstGeom>
        </p:spPr>
      </p:pic>
      <p:sp>
        <p:nvSpPr>
          <p:cNvPr id="8" name="Shape 5"/>
          <p:cNvSpPr/>
          <p:nvPr/>
        </p:nvSpPr>
        <p:spPr>
          <a:xfrm>
            <a:off x="640080" y="1554480"/>
            <a:ext cx="6035040" cy="3771900"/>
          </a:xfrm>
          <a:prstGeom prst="roundRect">
            <a:avLst>
              <a:gd name="adj" fmla="val 727"/>
            </a:avLst>
          </a:prstGeom>
          <a:ln w="12700">
            <a:solidFill>
              <a:srgbClr val="223040"/>
            </a:solidFill>
            <a:prstDash val="solid"/>
          </a:ln>
        </p:spPr>
      </p:sp>
      <p:sp>
        <p:nvSpPr>
          <p:cNvPr id="9" name="Text 6"/>
          <p:cNvSpPr/>
          <p:nvPr/>
        </p:nvSpPr>
        <p:spPr>
          <a:xfrm>
            <a:off x="640080" y="5372100"/>
            <a:ext cx="6035040" cy="274320"/>
          </a:xfrm>
          <a:prstGeom prst="rect">
            <a:avLst/>
          </a:prstGeom>
          <a:noFill/>
          <a:ln/>
        </p:spPr>
        <p:txBody>
          <a:bodyPr wrap="square" rtlCol="0" anchor="ctr"/>
          <a:lstStyle/>
          <a:p>
            <a:pPr algn="ctr" indent="0" marL="0">
              <a:buNone/>
            </a:pPr>
            <a:r>
              <a:rPr lang="en-US" sz="1000" i="1" dirty="0">
                <a:solidFill>
                  <a:srgbClr val="5F7486"/>
                </a:solidFill>
                <a:latin typeface="Segoe UI" pitchFamily="34" charset="0"/>
                <a:ea typeface="Segoe UI" pitchFamily="34" charset="-122"/>
                <a:cs typeface="Segoe UI" pitchFamily="34" charset="-120"/>
              </a:rPr>
              <a:t>Privacy Check: as Company C, an A&lt;-&gt;B contract returns a real 404</a:t>
            </a:r>
            <a:endParaRPr lang="en-US" sz="1000" dirty="0"/>
          </a:p>
        </p:txBody>
      </p:sp>
      <p:sp>
        <p:nvSpPr>
          <p:cNvPr id="10" name="Shape 7"/>
          <p:cNvSpPr/>
          <p:nvPr/>
        </p:nvSpPr>
        <p:spPr>
          <a:xfrm>
            <a:off x="7086600" y="1554480"/>
            <a:ext cx="4462272" cy="4114800"/>
          </a:xfrm>
          <a:prstGeom prst="roundRect">
            <a:avLst>
              <a:gd name="adj" fmla="val 2000"/>
            </a:avLst>
          </a:prstGeom>
          <a:solidFill>
            <a:srgbClr val="141C25"/>
          </a:solidFill>
          <a:ln w="12700">
            <a:solidFill>
              <a:srgbClr val="223040"/>
            </a:solidFill>
            <a:prstDash val="solid"/>
          </a:ln>
        </p:spPr>
      </p:sp>
      <p:sp>
        <p:nvSpPr>
          <p:cNvPr id="11" name="Text 8"/>
          <p:cNvSpPr/>
          <p:nvPr/>
        </p:nvSpPr>
        <p:spPr>
          <a:xfrm>
            <a:off x="7315200" y="1783080"/>
            <a:ext cx="4023360" cy="320040"/>
          </a:xfrm>
          <a:prstGeom prst="rect">
            <a:avLst/>
          </a:prstGeom>
          <a:noFill/>
          <a:ln/>
        </p:spPr>
        <p:txBody>
          <a:bodyPr wrap="square" rtlCol="0" anchor="ctr"/>
          <a:lstStyle/>
          <a:p>
            <a:pPr indent="0" marL="0">
              <a:buNone/>
            </a:pPr>
            <a:r>
              <a:rPr lang="en-US" sz="1500" b="1" dirty="0">
                <a:solidFill>
                  <a:srgbClr val="7FA6C9"/>
                </a:solidFill>
                <a:latin typeface="Segoe UI" pitchFamily="34" charset="0"/>
                <a:ea typeface="Segoe UI" pitchFamily="34" charset="-122"/>
                <a:cs typeface="Segoe UI" pitchFamily="34" charset="-120"/>
              </a:rPr>
              <a:t>How it works</a:t>
            </a:r>
            <a:endParaRPr lang="en-US" sz="1500" dirty="0"/>
          </a:p>
        </p:txBody>
      </p:sp>
      <p:sp>
        <p:nvSpPr>
          <p:cNvPr id="12" name="Text 9"/>
          <p:cNvSpPr/>
          <p:nvPr/>
        </p:nvSpPr>
        <p:spPr>
          <a:xfrm>
            <a:off x="7315200" y="2194560"/>
            <a:ext cx="3977640" cy="3291840"/>
          </a:xfrm>
          <a:prstGeom prst="rect">
            <a:avLst/>
          </a:prstGeom>
          <a:noFill/>
          <a:ln/>
        </p:spPr>
        <p:txBody>
          <a:bodyPr wrap="square" rtlCol="0" anchor="t"/>
          <a:lstStyle/>
          <a:p>
            <a:pPr marL="203200" indent="-203200">
              <a:lnSpc>
                <a:spcPct val="120000"/>
              </a:lnSpc>
              <a:spcAft>
                <a:spcPts val="800"/>
              </a:spcAft>
              <a:buSzPct val="100000"/>
              <a:buChar char="•"/>
            </a:pPr>
            <a:r>
              <a:rPr lang="en-US" sz="1250" dirty="0">
                <a:solidFill>
                  <a:srgbClr val="E6EDF3"/>
                </a:solidFill>
                <a:latin typeface="Segoe UI" pitchFamily="34" charset="0"/>
                <a:ea typeface="Segoe UI" pitchFamily="34" charset="-122"/>
                <a:cs typeface="Segoe UI" pitchFamily="34" charset="-120"/>
              </a:rPr>
              <a:t>Canton projects each party only the sub-transactions it is a stakeholder in.</a:t>
            </a:r>
            <a:endParaRPr lang="en-US" sz="1250" dirty="0"/>
          </a:p>
          <a:p>
            <a:pPr marL="203200" indent="-203200">
              <a:lnSpc>
                <a:spcPct val="120000"/>
              </a:lnSpc>
              <a:spcAft>
                <a:spcPts val="800"/>
              </a:spcAft>
              <a:buSzPct val="100000"/>
              <a:buChar char="•"/>
            </a:pPr>
            <a:r>
              <a:rPr lang="en-US" sz="1250" dirty="0">
                <a:solidFill>
                  <a:srgbClr val="E6EDF3"/>
                </a:solidFill>
                <a:latin typeface="Segoe UI" pitchFamily="34" charset="0"/>
                <a:ea typeface="Segoe UI" pitchFamily="34" charset="-122"/>
                <a:cs typeface="Segoe UI" pitchFamily="34" charset="-120"/>
              </a:rPr>
              <a:t>Ask for a foreign contract as C: the validator returns HTTP 404, it will not even confirm it exists.</a:t>
            </a:r>
            <a:endParaRPr lang="en-US" sz="1250" dirty="0"/>
          </a:p>
          <a:p>
            <a:pPr marL="203200" indent="-203200">
              <a:lnSpc>
                <a:spcPct val="120000"/>
              </a:lnSpc>
              <a:spcAft>
                <a:spcPts val="800"/>
              </a:spcAft>
              <a:buSzPct val="100000"/>
              <a:buChar char="•"/>
            </a:pPr>
            <a:r>
              <a:rPr lang="en-US" sz="1250" dirty="0">
                <a:solidFill>
                  <a:srgbClr val="E6EDF3"/>
                </a:solidFill>
                <a:latin typeface="Segoe UI" pitchFamily="34" charset="0"/>
                <a:ea typeface="Segoe UI" pitchFamily="34" charset="-122"/>
                <a:cs typeface="Segoe UI" pitchFamily="34" charset="-120"/>
              </a:rPr>
              <a:t>Same id as Company A (a real stakeholder): resolves 200 with the amount.</a:t>
            </a:r>
            <a:endParaRPr lang="en-US" sz="1250" dirty="0"/>
          </a:p>
          <a:p>
            <a:pPr marL="203200" indent="-203200">
              <a:lnSpc>
                <a:spcPct val="120000"/>
              </a:lnSpc>
              <a:spcAft>
                <a:spcPts val="800"/>
              </a:spcAft>
              <a:buSzPct val="100000"/>
              <a:buChar char="•"/>
            </a:pPr>
            <a:r>
              <a:rPr lang="en-US" sz="1250" dirty="0">
                <a:solidFill>
                  <a:srgbClr val="E6EDF3"/>
                </a:solidFill>
                <a:latin typeface="Segoe UI" pitchFamily="34" charset="0"/>
                <a:ea typeface="Segoe UI" pitchFamily="34" charset="-122"/>
                <a:cs typeface="Segoe UI" pitchFamily="34" charset="-120"/>
              </a:rPr>
              <a:t>There is no `if (party != owner) hide()` in app code, the boundary is the node's.</a:t>
            </a:r>
            <a:endParaRPr lang="en-US" sz="1250" dirty="0"/>
          </a:p>
          <a:p>
            <a:pPr marL="203200" indent="-203200">
              <a:lnSpc>
                <a:spcPct val="120000"/>
              </a:lnSpc>
              <a:spcAft>
                <a:spcPts val="800"/>
              </a:spcAft>
              <a:buSzPct val="100000"/>
              <a:buChar char="•"/>
            </a:pPr>
            <a:r>
              <a:rPr lang="en-US" sz="1250" dirty="0">
                <a:solidFill>
                  <a:srgbClr val="E6EDF3"/>
                </a:solidFill>
                <a:latin typeface="Segoe UI" pitchFamily="34" charset="0"/>
                <a:ea typeface="Segoe UI" pitchFamily="34" charset="-122"/>
                <a:cs typeface="Segoe UI" pitchFamily="34" charset="-120"/>
              </a:rPr>
              <a:t>Impossible to fake with database access control, where a DB admin can always peek.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7FA6C9"/>
          </a:solidFill>
          <a:ln/>
        </p:spPr>
      </p:sp>
      <p:sp>
        <p:nvSpPr>
          <p:cNvPr id="3" name="Text 1"/>
          <p:cNvSpPr/>
          <p:nvPr/>
        </p:nvSpPr>
        <p:spPr>
          <a:xfrm>
            <a:off x="640080" y="384048"/>
            <a:ext cx="10911535" cy="274320"/>
          </a:xfrm>
          <a:prstGeom prst="rect">
            <a:avLst/>
          </a:prstGeom>
          <a:noFill/>
          <a:ln/>
        </p:spPr>
        <p:txBody>
          <a:bodyPr wrap="square" rtlCol="0" anchor="ctr"/>
          <a:lstStyle/>
          <a:p>
            <a:pPr indent="0" marL="0">
              <a:buNone/>
            </a:pPr>
            <a:r>
              <a:rPr lang="en-US" sz="1100" b="1" spc="300" kern="0" dirty="0">
                <a:solidFill>
                  <a:srgbClr val="7FA6C9"/>
                </a:solidFill>
                <a:latin typeface="Segoe UI" pitchFamily="34" charset="0"/>
                <a:ea typeface="Segoe UI" pitchFamily="34" charset="-122"/>
                <a:cs typeface="Segoe UI" pitchFamily="34" charset="-120"/>
              </a:rPr>
              <a:t>CAPABILITY</a:t>
            </a:r>
            <a:endParaRPr lang="en-US" sz="1100" dirty="0"/>
          </a:p>
        </p:txBody>
      </p:sp>
      <p:sp>
        <p:nvSpPr>
          <p:cNvPr id="4" name="Text 2"/>
          <p:cNvSpPr/>
          <p:nvPr/>
        </p:nvSpPr>
        <p:spPr>
          <a:xfrm>
            <a:off x="640080" y="658368"/>
            <a:ext cx="10911535" cy="731520"/>
          </a:xfrm>
          <a:prstGeom prst="rect">
            <a:avLst/>
          </a:prstGeom>
          <a:noFill/>
          <a:ln/>
        </p:spPr>
        <p:txBody>
          <a:bodyPr wrap="square" rtlCol="0" anchor="ctr"/>
          <a:lstStyle/>
          <a:p>
            <a:pPr indent="0" marL="0">
              <a:buNone/>
            </a:pPr>
            <a:r>
              <a:rPr lang="en-US" sz="2700" b="1" dirty="0">
                <a:solidFill>
                  <a:srgbClr val="E6EDF3"/>
                </a:solidFill>
                <a:latin typeface="Segoe UI" pitchFamily="34" charset="0"/>
                <a:ea typeface="Segoe UI" pitchFamily="34" charset="-122"/>
                <a:cs typeface="Segoe UI" pitchFamily="34" charset="-120"/>
              </a:rPr>
              <a:t>Obligations: from a raw invoice to an on-ledger contract</a:t>
            </a:r>
            <a:endParaRPr lang="en-US" sz="2700" dirty="0"/>
          </a:p>
        </p:txBody>
      </p:sp>
      <p:sp>
        <p:nvSpPr>
          <p:cNvPr id="5" name="Text 3"/>
          <p:cNvSpPr/>
          <p:nvPr/>
        </p:nvSpPr>
        <p:spPr>
          <a:xfrm>
            <a:off x="640080" y="6446520"/>
            <a:ext cx="5486400" cy="274320"/>
          </a:xfrm>
          <a:prstGeom prst="rect">
            <a:avLst/>
          </a:prstGeom>
          <a:noFill/>
          <a:ln/>
        </p:spPr>
        <p:txBody>
          <a:bodyPr wrap="square" rtlCol="0" anchor="ctr"/>
          <a:lstStyle/>
          <a:p>
            <a:pPr indent="0" marL="0">
              <a:buNone/>
            </a:pPr>
            <a:r>
              <a:rPr lang="en-US" sz="900" b="1" dirty="0">
                <a:solidFill>
                  <a:srgbClr val="E6EDF3"/>
                </a:solidFill>
                <a:latin typeface="Segoe UI" pitchFamily="34" charset="0"/>
                <a:ea typeface="Segoe UI" pitchFamily="34" charset="-122"/>
                <a:cs typeface="Segoe UI" pitchFamily="34" charset="-120"/>
              </a:rPr>
              <a:t>NetChain</a:t>
            </a:r>
            <a:pPr indent="0" marL="0">
              <a:buNone/>
            </a:pPr>
            <a:r>
              <a:rPr lang="en-US" sz="900" dirty="0">
                <a:solidFill>
                  <a:srgbClr val="5F7486"/>
                </a:solidFill>
                <a:latin typeface="Segoe UI" pitchFamily="34" charset="0"/>
                <a:ea typeface="Segoe UI" pitchFamily="34" charset="-122"/>
                <a:cs typeface="Segoe UI" pitchFamily="34" charset="-120"/>
              </a:rPr>
              <a:t>  deep dive</a:t>
            </a:r>
            <a:endParaRPr lang="en-US" sz="900" dirty="0"/>
          </a:p>
        </p:txBody>
      </p:sp>
      <p:sp>
        <p:nvSpPr>
          <p:cNvPr id="6" name="Text 4"/>
          <p:cNvSpPr/>
          <p:nvPr/>
        </p:nvSpPr>
        <p:spPr>
          <a:xfrm>
            <a:off x="8808415" y="6446520"/>
            <a:ext cx="2743200" cy="274320"/>
          </a:xfrm>
          <a:prstGeom prst="rect">
            <a:avLst/>
          </a:prstGeom>
          <a:noFill/>
          <a:ln/>
        </p:spPr>
        <p:txBody>
          <a:bodyPr wrap="square" rtlCol="0" anchor="ctr"/>
          <a:lstStyle/>
          <a:p>
            <a:pPr algn="r" indent="0" marL="0">
              <a:buNone/>
            </a:pPr>
            <a:r>
              <a:rPr lang="en-US" sz="900" dirty="0">
                <a:solidFill>
                  <a:srgbClr val="5F7486"/>
                </a:solidFill>
                <a:latin typeface="Segoe UI" pitchFamily="34" charset="0"/>
                <a:ea typeface="Segoe UI" pitchFamily="34" charset="-122"/>
                <a:cs typeface="Segoe UI" pitchFamily="34" charset="-120"/>
              </a:rPr>
              <a:t>netchain.vercel.app</a:t>
            </a:r>
            <a:endParaRPr lang="en-US" sz="900" dirty="0"/>
          </a:p>
        </p:txBody>
      </p:sp>
      <p:pic>
        <p:nvPicPr>
          <p:cNvPr id="7" name="Image 0" descr="screens/shot-obligations.png">    </p:cNvPr>
          <p:cNvPicPr>
            <a:picLocks noChangeAspect="1"/>
          </p:cNvPicPr>
          <p:nvPr/>
        </p:nvPicPr>
        <p:blipFill>
          <a:blip r:embed="rId1"/>
          <a:stretch>
            <a:fillRect/>
          </a:stretch>
        </p:blipFill>
        <p:spPr>
          <a:xfrm>
            <a:off x="640080" y="1554480"/>
            <a:ext cx="6400800" cy="4000500"/>
          </a:xfrm>
          <a:prstGeom prst="rect">
            <a:avLst/>
          </a:prstGeom>
        </p:spPr>
      </p:pic>
      <p:sp>
        <p:nvSpPr>
          <p:cNvPr id="8" name="Shape 5"/>
          <p:cNvSpPr/>
          <p:nvPr/>
        </p:nvSpPr>
        <p:spPr>
          <a:xfrm>
            <a:off x="640080" y="1554480"/>
            <a:ext cx="6400800" cy="4000500"/>
          </a:xfrm>
          <a:prstGeom prst="roundRect">
            <a:avLst>
              <a:gd name="adj" fmla="val 686"/>
            </a:avLst>
          </a:prstGeom>
          <a:ln w="12700">
            <a:solidFill>
              <a:srgbClr val="223040"/>
            </a:solidFill>
            <a:prstDash val="solid"/>
          </a:ln>
        </p:spPr>
      </p:sp>
      <p:sp>
        <p:nvSpPr>
          <p:cNvPr id="9" name="Text 6"/>
          <p:cNvSpPr/>
          <p:nvPr/>
        </p:nvSpPr>
        <p:spPr>
          <a:xfrm>
            <a:off x="640080" y="5600700"/>
            <a:ext cx="6400800" cy="274320"/>
          </a:xfrm>
          <a:prstGeom prst="rect">
            <a:avLst/>
          </a:prstGeom>
          <a:noFill/>
          <a:ln/>
        </p:spPr>
        <p:txBody>
          <a:bodyPr wrap="square" rtlCol="0" anchor="ctr"/>
          <a:lstStyle/>
          <a:p>
            <a:pPr algn="ctr" indent="0" marL="0">
              <a:buNone/>
            </a:pPr>
            <a:r>
              <a:rPr lang="en-US" sz="1000" i="1" dirty="0">
                <a:solidFill>
                  <a:srgbClr val="5F7486"/>
                </a:solidFill>
                <a:latin typeface="Segoe UI" pitchFamily="34" charset="0"/>
                <a:ea typeface="Segoe UI" pitchFamily="34" charset="-122"/>
                <a:cs typeface="Segoe UI" pitchFamily="34" charset="-120"/>
              </a:rPr>
              <a:t>Obligations table, each row is a real Daml Obligation in this party's projection</a:t>
            </a:r>
            <a:endParaRPr lang="en-US" sz="1000" dirty="0"/>
          </a:p>
        </p:txBody>
      </p:sp>
      <p:sp>
        <p:nvSpPr>
          <p:cNvPr id="10" name="Shape 7"/>
          <p:cNvSpPr/>
          <p:nvPr/>
        </p:nvSpPr>
        <p:spPr>
          <a:xfrm>
            <a:off x="7406640" y="1554480"/>
            <a:ext cx="4142232" cy="4114800"/>
          </a:xfrm>
          <a:prstGeom prst="roundRect">
            <a:avLst>
              <a:gd name="adj" fmla="val 2000"/>
            </a:avLst>
          </a:prstGeom>
          <a:solidFill>
            <a:srgbClr val="141C25"/>
          </a:solidFill>
          <a:ln w="12700">
            <a:solidFill>
              <a:srgbClr val="223040"/>
            </a:solidFill>
            <a:prstDash val="solid"/>
          </a:ln>
        </p:spPr>
      </p:sp>
      <p:sp>
        <p:nvSpPr>
          <p:cNvPr id="11" name="Text 8"/>
          <p:cNvSpPr/>
          <p:nvPr/>
        </p:nvSpPr>
        <p:spPr>
          <a:xfrm>
            <a:off x="7635240" y="1828800"/>
            <a:ext cx="3657600" cy="3657600"/>
          </a:xfrm>
          <a:prstGeom prst="rect">
            <a:avLst/>
          </a:prstGeom>
          <a:noFill/>
          <a:ln/>
        </p:spPr>
        <p:txBody>
          <a:bodyPr wrap="square" rtlCol="0" anchor="t"/>
          <a:lstStyle/>
          <a:p>
            <a:pPr marL="203200" indent="-203200">
              <a:lnSpc>
                <a:spcPct val="120000"/>
              </a:lnSpc>
              <a:spcAft>
                <a:spcPts val="800"/>
              </a:spcAft>
              <a:buSzPct val="100000"/>
              <a:buChar char="•"/>
            </a:pPr>
            <a:r>
              <a:rPr lang="en-US" sz="1300" dirty="0">
                <a:solidFill>
                  <a:srgbClr val="E6EDF3"/>
                </a:solidFill>
                <a:latin typeface="Segoe UI" pitchFamily="34" charset="0"/>
                <a:ea typeface="Segoe UI" pitchFamily="34" charset="-122"/>
                <a:cs typeface="Segoe UI" pitchFamily="34" charset="-120"/>
              </a:rPr>
              <a:t>Drop an invoice image: an AI agent (NVIDIA NIM vision) reads amount, counterparty, due date, reference.</a:t>
            </a:r>
            <a:endParaRPr lang="en-US" sz="1300" dirty="0"/>
          </a:p>
          <a:p>
            <a:pPr marL="203200" indent="-203200">
              <a:lnSpc>
                <a:spcPct val="120000"/>
              </a:lnSpc>
              <a:spcAft>
                <a:spcPts val="800"/>
              </a:spcAft>
              <a:buSzPct val="100000"/>
              <a:buChar char="•"/>
            </a:pPr>
            <a:r>
              <a:rPr lang="en-US" sz="1300" dirty="0">
                <a:solidFill>
                  <a:srgbClr val="E6EDF3"/>
                </a:solidFill>
                <a:latin typeface="Segoe UI" pitchFamily="34" charset="0"/>
                <a:ea typeface="Segoe UI" pitchFamily="34" charset="-122"/>
                <a:cs typeface="Segoe UI" pitchFamily="34" charset="-120"/>
              </a:rPr>
              <a:t>It proposes an on-ledger Obligation, stamped source = agent, with a UETR-style trace id.</a:t>
            </a:r>
            <a:endParaRPr lang="en-US" sz="1300" dirty="0"/>
          </a:p>
          <a:p>
            <a:pPr marL="203200" indent="-203200">
              <a:lnSpc>
                <a:spcPct val="120000"/>
              </a:lnSpc>
              <a:spcAft>
                <a:spcPts val="800"/>
              </a:spcAft>
              <a:buSzPct val="100000"/>
              <a:buChar char="•"/>
            </a:pPr>
            <a:r>
              <a:rPr lang="en-US" sz="1300" dirty="0">
                <a:solidFill>
                  <a:srgbClr val="E6EDF3"/>
                </a:solidFill>
                <a:latin typeface="Segoe UI" pitchFamily="34" charset="0"/>
                <a:ea typeface="Segoe UI" pitchFamily="34" charset="-122"/>
                <a:cs typeface="Segoe UI" pitchFamily="34" charset="-120"/>
              </a:rPr>
              <a:t>Manual entry is always right there as the always-works fallback.</a:t>
            </a:r>
            <a:endParaRPr lang="en-US" sz="1300" dirty="0"/>
          </a:p>
          <a:p>
            <a:pPr marL="203200" indent="-203200">
              <a:lnSpc>
                <a:spcPct val="120000"/>
              </a:lnSpc>
              <a:spcAft>
                <a:spcPts val="800"/>
              </a:spcAft>
              <a:buSzPct val="100000"/>
              <a:buChar char="•"/>
            </a:pPr>
            <a:r>
              <a:rPr lang="en-US" sz="1300" dirty="0">
                <a:solidFill>
                  <a:srgbClr val="E6EDF3"/>
                </a:solidFill>
                <a:latin typeface="Segoe UI" pitchFamily="34" charset="0"/>
                <a:ea typeface="Segoe UI" pitchFamily="34" charset="-122"/>
                <a:cs typeface="Segoe UI" pitchFamily="34" charset="-120"/>
              </a:rPr>
              <a:t>Signed by the obligor; observed only by the obligee and operator, so no third party sees it.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7FA6C9"/>
          </a:solidFill>
          <a:ln/>
        </p:spPr>
      </p:sp>
      <p:sp>
        <p:nvSpPr>
          <p:cNvPr id="3" name="Text 1"/>
          <p:cNvSpPr/>
          <p:nvPr/>
        </p:nvSpPr>
        <p:spPr>
          <a:xfrm>
            <a:off x="640080" y="384048"/>
            <a:ext cx="10911535" cy="274320"/>
          </a:xfrm>
          <a:prstGeom prst="rect">
            <a:avLst/>
          </a:prstGeom>
          <a:noFill/>
          <a:ln/>
        </p:spPr>
        <p:txBody>
          <a:bodyPr wrap="square" rtlCol="0" anchor="ctr"/>
          <a:lstStyle/>
          <a:p>
            <a:pPr indent="0" marL="0">
              <a:buNone/>
            </a:pPr>
            <a:r>
              <a:rPr lang="en-US" sz="1100" b="1" spc="300" kern="0" dirty="0">
                <a:solidFill>
                  <a:srgbClr val="7FA6C9"/>
                </a:solidFill>
                <a:latin typeface="Segoe UI" pitchFamily="34" charset="0"/>
                <a:ea typeface="Segoe UI" pitchFamily="34" charset="-122"/>
                <a:cs typeface="Segoe UI" pitchFamily="34" charset="-120"/>
              </a:rPr>
              <a:t>TRUST SAFEGUARD</a:t>
            </a:r>
            <a:endParaRPr lang="en-US" sz="1100" dirty="0"/>
          </a:p>
        </p:txBody>
      </p:sp>
      <p:sp>
        <p:nvSpPr>
          <p:cNvPr id="4" name="Text 2"/>
          <p:cNvSpPr/>
          <p:nvPr/>
        </p:nvSpPr>
        <p:spPr>
          <a:xfrm>
            <a:off x="640080" y="658368"/>
            <a:ext cx="10911535" cy="731520"/>
          </a:xfrm>
          <a:prstGeom prst="rect">
            <a:avLst/>
          </a:prstGeom>
          <a:noFill/>
          <a:ln/>
        </p:spPr>
        <p:txBody>
          <a:bodyPr wrap="square" rtlCol="0" anchor="ctr"/>
          <a:lstStyle/>
          <a:p>
            <a:pPr indent="0" marL="0">
              <a:buNone/>
            </a:pPr>
            <a:r>
              <a:rPr lang="en-US" sz="2700" b="1" dirty="0">
                <a:solidFill>
                  <a:srgbClr val="E6EDF3"/>
                </a:solidFill>
                <a:latin typeface="Segoe UI" pitchFamily="34" charset="0"/>
                <a:ea typeface="Segoe UI" pitchFamily="34" charset="-122"/>
                <a:cs typeface="Segoe UI" pitchFamily="34" charset="-120"/>
              </a:rPr>
              <a:t>Bilateral confirmation: a fake invoice can't settle</a:t>
            </a:r>
            <a:endParaRPr lang="en-US" sz="2700" dirty="0"/>
          </a:p>
        </p:txBody>
      </p:sp>
      <p:sp>
        <p:nvSpPr>
          <p:cNvPr id="5" name="Text 3"/>
          <p:cNvSpPr/>
          <p:nvPr/>
        </p:nvSpPr>
        <p:spPr>
          <a:xfrm>
            <a:off x="640080" y="6446520"/>
            <a:ext cx="5486400" cy="274320"/>
          </a:xfrm>
          <a:prstGeom prst="rect">
            <a:avLst/>
          </a:prstGeom>
          <a:noFill/>
          <a:ln/>
        </p:spPr>
        <p:txBody>
          <a:bodyPr wrap="square" rtlCol="0" anchor="ctr"/>
          <a:lstStyle/>
          <a:p>
            <a:pPr indent="0" marL="0">
              <a:buNone/>
            </a:pPr>
            <a:r>
              <a:rPr lang="en-US" sz="900" b="1" dirty="0">
                <a:solidFill>
                  <a:srgbClr val="E6EDF3"/>
                </a:solidFill>
                <a:latin typeface="Segoe UI" pitchFamily="34" charset="0"/>
                <a:ea typeface="Segoe UI" pitchFamily="34" charset="-122"/>
                <a:cs typeface="Segoe UI" pitchFamily="34" charset="-120"/>
              </a:rPr>
              <a:t>NetChain</a:t>
            </a:r>
            <a:pPr indent="0" marL="0">
              <a:buNone/>
            </a:pPr>
            <a:r>
              <a:rPr lang="en-US" sz="900" dirty="0">
                <a:solidFill>
                  <a:srgbClr val="5F7486"/>
                </a:solidFill>
                <a:latin typeface="Segoe UI" pitchFamily="34" charset="0"/>
                <a:ea typeface="Segoe UI" pitchFamily="34" charset="-122"/>
                <a:cs typeface="Segoe UI" pitchFamily="34" charset="-120"/>
              </a:rPr>
              <a:t>  deep dive</a:t>
            </a:r>
            <a:endParaRPr lang="en-US" sz="900" dirty="0"/>
          </a:p>
        </p:txBody>
      </p:sp>
      <p:sp>
        <p:nvSpPr>
          <p:cNvPr id="6" name="Text 4"/>
          <p:cNvSpPr/>
          <p:nvPr/>
        </p:nvSpPr>
        <p:spPr>
          <a:xfrm>
            <a:off x="8808415" y="6446520"/>
            <a:ext cx="2743200" cy="274320"/>
          </a:xfrm>
          <a:prstGeom prst="rect">
            <a:avLst/>
          </a:prstGeom>
          <a:noFill/>
          <a:ln/>
        </p:spPr>
        <p:txBody>
          <a:bodyPr wrap="square" rtlCol="0" anchor="ctr"/>
          <a:lstStyle/>
          <a:p>
            <a:pPr algn="r" indent="0" marL="0">
              <a:buNone/>
            </a:pPr>
            <a:r>
              <a:rPr lang="en-US" sz="900" dirty="0">
                <a:solidFill>
                  <a:srgbClr val="5F7486"/>
                </a:solidFill>
                <a:latin typeface="Segoe UI" pitchFamily="34" charset="0"/>
                <a:ea typeface="Segoe UI" pitchFamily="34" charset="-122"/>
                <a:cs typeface="Segoe UI" pitchFamily="34" charset="-120"/>
              </a:rPr>
              <a:t>netchain.vercel.app</a:t>
            </a:r>
            <a:endParaRPr lang="en-US" sz="900" dirty="0"/>
          </a:p>
        </p:txBody>
      </p:sp>
      <p:pic>
        <p:nvPicPr>
          <p:cNvPr id="7" name="Image 0" descr="screens/shot-bilateral.png">    </p:cNvPr>
          <p:cNvPicPr>
            <a:picLocks noChangeAspect="1"/>
          </p:cNvPicPr>
          <p:nvPr/>
        </p:nvPicPr>
        <p:blipFill>
          <a:blip r:embed="rId1"/>
          <a:stretch>
            <a:fillRect/>
          </a:stretch>
        </p:blipFill>
        <p:spPr>
          <a:xfrm>
            <a:off x="640080" y="1554480"/>
            <a:ext cx="5943600" cy="3714750"/>
          </a:xfrm>
          <a:prstGeom prst="rect">
            <a:avLst/>
          </a:prstGeom>
        </p:spPr>
      </p:pic>
      <p:sp>
        <p:nvSpPr>
          <p:cNvPr id="8" name="Shape 5"/>
          <p:cNvSpPr/>
          <p:nvPr/>
        </p:nvSpPr>
        <p:spPr>
          <a:xfrm>
            <a:off x="640080" y="1554480"/>
            <a:ext cx="5943600" cy="3714750"/>
          </a:xfrm>
          <a:prstGeom prst="roundRect">
            <a:avLst>
              <a:gd name="adj" fmla="val 738"/>
            </a:avLst>
          </a:prstGeom>
          <a:ln w="12700">
            <a:solidFill>
              <a:srgbClr val="223040"/>
            </a:solidFill>
            <a:prstDash val="solid"/>
          </a:ln>
        </p:spPr>
      </p:sp>
      <p:sp>
        <p:nvSpPr>
          <p:cNvPr id="9" name="Text 6"/>
          <p:cNvSpPr/>
          <p:nvPr/>
        </p:nvSpPr>
        <p:spPr>
          <a:xfrm>
            <a:off x="640080" y="5314950"/>
            <a:ext cx="5943600" cy="274320"/>
          </a:xfrm>
          <a:prstGeom prst="rect">
            <a:avLst/>
          </a:prstGeom>
          <a:noFill/>
          <a:ln/>
        </p:spPr>
        <p:txBody>
          <a:bodyPr wrap="square" rtlCol="0" anchor="ctr"/>
          <a:lstStyle/>
          <a:p>
            <a:pPr algn="ctr" indent="0" marL="0">
              <a:buNone/>
            </a:pPr>
            <a:r>
              <a:rPr lang="en-US" sz="1000" i="1" dirty="0">
                <a:solidFill>
                  <a:srgbClr val="5F7486"/>
                </a:solidFill>
                <a:latin typeface="Segoe UI" pitchFamily="34" charset="0"/>
                <a:ea typeface="Segoe UI" pitchFamily="34" charset="-122"/>
                <a:cs typeface="Segoe UI" pitchFamily="34" charset="-120"/>
              </a:rPr>
              <a:t>As the obligee: 'Pending your acceptance' with an Accept button</a:t>
            </a:r>
            <a:endParaRPr lang="en-US" sz="1000" dirty="0"/>
          </a:p>
        </p:txBody>
      </p:sp>
      <p:sp>
        <p:nvSpPr>
          <p:cNvPr id="10" name="Shape 7"/>
          <p:cNvSpPr/>
          <p:nvPr/>
        </p:nvSpPr>
        <p:spPr>
          <a:xfrm>
            <a:off x="7040880" y="1828800"/>
            <a:ext cx="4389120" cy="685800"/>
          </a:xfrm>
          <a:prstGeom prst="roundRect">
            <a:avLst>
              <a:gd name="adj" fmla="val 10667"/>
            </a:avLst>
          </a:prstGeom>
          <a:solidFill>
            <a:srgbClr val="141C25"/>
          </a:solidFill>
          <a:ln w="19050">
            <a:solidFill>
              <a:srgbClr val="7FA6C9"/>
            </a:solidFill>
            <a:prstDash val="solid"/>
          </a:ln>
        </p:spPr>
      </p:sp>
      <p:sp>
        <p:nvSpPr>
          <p:cNvPr id="11" name="Text 8"/>
          <p:cNvSpPr/>
          <p:nvPr/>
        </p:nvSpPr>
        <p:spPr>
          <a:xfrm>
            <a:off x="7132320" y="1828800"/>
            <a:ext cx="4206240" cy="685800"/>
          </a:xfrm>
          <a:prstGeom prst="rect">
            <a:avLst/>
          </a:prstGeom>
          <a:noFill/>
          <a:ln/>
        </p:spPr>
        <p:txBody>
          <a:bodyPr wrap="square" rtlCol="0" anchor="ctr"/>
          <a:lstStyle/>
          <a:p>
            <a:pPr algn="ctr" indent="0" marL="0">
              <a:buNone/>
            </a:pPr>
            <a:r>
              <a:rPr lang="en-US" sz="1300" b="1" dirty="0">
                <a:solidFill>
                  <a:srgbClr val="E6EDF3"/>
                </a:solidFill>
                <a:latin typeface="Segoe UI" pitchFamily="34" charset="0"/>
                <a:ea typeface="Segoe UI" pitchFamily="34" charset="-122"/>
                <a:cs typeface="Segoe UI" pitchFamily="34" charset="-120"/>
              </a:rPr>
              <a:t>1  Obligor records it</a:t>
            </a:r>
            <a:endParaRPr lang="en-US" sz="1300" dirty="0"/>
          </a:p>
          <a:p>
            <a:pPr algn="ctr" indent="0" marL="0">
              <a:buNone/>
            </a:pPr>
            <a:r>
              <a:rPr lang="en-US" sz="1000" b="1" dirty="0">
                <a:solidFill>
                  <a:srgbClr val="8FA6B8"/>
                </a:solidFill>
                <a:latin typeface="Segoe UI" pitchFamily="34" charset="0"/>
                <a:ea typeface="Segoe UI" pitchFamily="34" charset="-122"/>
                <a:cs typeface="Segoe UI" pitchFamily="34" charset="-120"/>
              </a:rPr>
              <a:t>lands PENDING, excluded from netting</a:t>
            </a:r>
            <a:endParaRPr lang="en-US" sz="1300" dirty="0"/>
          </a:p>
        </p:txBody>
      </p:sp>
      <p:sp>
        <p:nvSpPr>
          <p:cNvPr id="12" name="Shape 9"/>
          <p:cNvSpPr/>
          <p:nvPr/>
        </p:nvSpPr>
        <p:spPr>
          <a:xfrm>
            <a:off x="7040880" y="2880360"/>
            <a:ext cx="4389120" cy="685800"/>
          </a:xfrm>
          <a:prstGeom prst="roundRect">
            <a:avLst>
              <a:gd name="adj" fmla="val 10667"/>
            </a:avLst>
          </a:prstGeom>
          <a:solidFill>
            <a:srgbClr val="141C25"/>
          </a:solidFill>
          <a:ln w="19050">
            <a:solidFill>
              <a:srgbClr val="F5C451"/>
            </a:solidFill>
            <a:prstDash val="solid"/>
          </a:ln>
        </p:spPr>
      </p:sp>
      <p:sp>
        <p:nvSpPr>
          <p:cNvPr id="13" name="Text 10"/>
          <p:cNvSpPr/>
          <p:nvPr/>
        </p:nvSpPr>
        <p:spPr>
          <a:xfrm>
            <a:off x="7132320" y="2880360"/>
            <a:ext cx="4206240" cy="685800"/>
          </a:xfrm>
          <a:prstGeom prst="rect">
            <a:avLst/>
          </a:prstGeom>
          <a:noFill/>
          <a:ln/>
        </p:spPr>
        <p:txBody>
          <a:bodyPr wrap="square" rtlCol="0" anchor="ctr"/>
          <a:lstStyle/>
          <a:p>
            <a:pPr algn="ctr" indent="0" marL="0">
              <a:buNone/>
            </a:pPr>
            <a:r>
              <a:rPr lang="en-US" sz="1300" b="1" dirty="0">
                <a:solidFill>
                  <a:srgbClr val="E6EDF3"/>
                </a:solidFill>
                <a:latin typeface="Segoe UI" pitchFamily="34" charset="0"/>
                <a:ea typeface="Segoe UI" pitchFamily="34" charset="-122"/>
                <a:cs typeface="Segoe UI" pitchFamily="34" charset="-120"/>
              </a:rPr>
              <a:t>2  Obligee Accepts (on-ledger)</a:t>
            </a:r>
            <a:endParaRPr lang="en-US" sz="1300" dirty="0"/>
          </a:p>
          <a:p>
            <a:pPr algn="ctr" indent="0" marL="0">
              <a:buNone/>
            </a:pPr>
            <a:r>
              <a:rPr lang="en-US" sz="1000" b="1" dirty="0">
                <a:solidFill>
                  <a:srgbClr val="8FA6B8"/>
                </a:solidFill>
                <a:latin typeface="Segoe UI" pitchFamily="34" charset="0"/>
                <a:ea typeface="Segoe UI" pitchFamily="34" charset="-122"/>
                <a:cs typeface="Segoe UI" pitchFamily="34" charset="-120"/>
              </a:rPr>
              <a:t>the second signature</a:t>
            </a:r>
            <a:endParaRPr lang="en-US" sz="1300" dirty="0"/>
          </a:p>
        </p:txBody>
      </p:sp>
      <p:sp>
        <p:nvSpPr>
          <p:cNvPr id="14" name="Shape 11"/>
          <p:cNvSpPr/>
          <p:nvPr/>
        </p:nvSpPr>
        <p:spPr>
          <a:xfrm>
            <a:off x="7040880" y="3931920"/>
            <a:ext cx="4389120" cy="685800"/>
          </a:xfrm>
          <a:prstGeom prst="roundRect">
            <a:avLst>
              <a:gd name="adj" fmla="val 10667"/>
            </a:avLst>
          </a:prstGeom>
          <a:solidFill>
            <a:srgbClr val="141C25"/>
          </a:solidFill>
          <a:ln w="19050">
            <a:solidFill>
              <a:srgbClr val="38E1A4"/>
            </a:solidFill>
            <a:prstDash val="solid"/>
          </a:ln>
        </p:spPr>
      </p:sp>
      <p:sp>
        <p:nvSpPr>
          <p:cNvPr id="15" name="Text 12"/>
          <p:cNvSpPr/>
          <p:nvPr/>
        </p:nvSpPr>
        <p:spPr>
          <a:xfrm>
            <a:off x="7132320" y="3931920"/>
            <a:ext cx="4206240" cy="685800"/>
          </a:xfrm>
          <a:prstGeom prst="rect">
            <a:avLst/>
          </a:prstGeom>
          <a:noFill/>
          <a:ln/>
        </p:spPr>
        <p:txBody>
          <a:bodyPr wrap="square" rtlCol="0" anchor="ctr"/>
          <a:lstStyle/>
          <a:p>
            <a:pPr algn="ctr" indent="0" marL="0">
              <a:buNone/>
            </a:pPr>
            <a:r>
              <a:rPr lang="en-US" sz="1300" b="1" dirty="0">
                <a:solidFill>
                  <a:srgbClr val="E6EDF3"/>
                </a:solidFill>
                <a:latin typeface="Segoe UI" pitchFamily="34" charset="0"/>
                <a:ea typeface="Segoe UI" pitchFamily="34" charset="-122"/>
                <a:cs typeface="Segoe UI" pitchFamily="34" charset="-120"/>
              </a:rPr>
              <a:t>3  Now it nets</a:t>
            </a:r>
            <a:endParaRPr lang="en-US" sz="1300" dirty="0"/>
          </a:p>
          <a:p>
            <a:pPr algn="ctr" indent="0" marL="0">
              <a:buNone/>
            </a:pPr>
            <a:r>
              <a:rPr lang="en-US" sz="1000" b="1" dirty="0">
                <a:solidFill>
                  <a:srgbClr val="8FA6B8"/>
                </a:solidFill>
                <a:latin typeface="Segoe UI" pitchFamily="34" charset="0"/>
                <a:ea typeface="Segoe UI" pitchFamily="34" charset="-122"/>
                <a:cs typeface="Segoe UI" pitchFamily="34" charset="-120"/>
              </a:rPr>
              <a:t>both parties have consented</a:t>
            </a:r>
            <a:endParaRPr lang="en-US" sz="1300" dirty="0"/>
          </a:p>
        </p:txBody>
      </p:sp>
      <p:sp>
        <p:nvSpPr>
          <p:cNvPr id="16" name="Shape 13"/>
          <p:cNvSpPr/>
          <p:nvPr/>
        </p:nvSpPr>
        <p:spPr>
          <a:xfrm>
            <a:off x="9235440" y="2514600"/>
            <a:ext cx="0" cy="365760"/>
          </a:xfrm>
          <a:prstGeom prst="line">
            <a:avLst/>
          </a:prstGeom>
          <a:noFill/>
          <a:ln w="22225">
            <a:solidFill>
              <a:srgbClr val="5F7486"/>
            </a:solidFill>
            <a:prstDash val="solid"/>
            <a:tailEnd type="triangle"/>
          </a:ln>
        </p:spPr>
      </p:sp>
      <p:sp>
        <p:nvSpPr>
          <p:cNvPr id="17" name="Shape 14"/>
          <p:cNvSpPr/>
          <p:nvPr/>
        </p:nvSpPr>
        <p:spPr>
          <a:xfrm>
            <a:off x="9235440" y="3566160"/>
            <a:ext cx="0" cy="365760"/>
          </a:xfrm>
          <a:prstGeom prst="line">
            <a:avLst/>
          </a:prstGeom>
          <a:noFill/>
          <a:ln w="22225">
            <a:solidFill>
              <a:srgbClr val="5F7486"/>
            </a:solidFill>
            <a:prstDash val="solid"/>
            <a:tailEnd type="triangle"/>
          </a:ln>
        </p:spPr>
      </p:sp>
      <p:sp>
        <p:nvSpPr>
          <p:cNvPr id="18" name="Text 15"/>
          <p:cNvSpPr/>
          <p:nvPr/>
        </p:nvSpPr>
        <p:spPr>
          <a:xfrm>
            <a:off x="7040880" y="4800600"/>
            <a:ext cx="4480560" cy="822960"/>
          </a:xfrm>
          <a:prstGeom prst="rect">
            <a:avLst/>
          </a:prstGeom>
          <a:noFill/>
          <a:ln/>
        </p:spPr>
        <p:txBody>
          <a:bodyPr wrap="square" rtlCol="0" anchor="ctr"/>
          <a:lstStyle/>
          <a:p>
            <a:pPr indent="0" marL="0">
              <a:lnSpc>
                <a:spcPct val="115000"/>
              </a:lnSpc>
              <a:buNone/>
            </a:pPr>
            <a:r>
              <a:rPr lang="en-US" sz="1150" dirty="0">
                <a:solidFill>
                  <a:srgbClr val="E6EDF3"/>
                </a:solidFill>
                <a:latin typeface="Segoe UI" pitchFamily="34" charset="0"/>
                <a:ea typeface="Segoe UI" pitchFamily="34" charset="-122"/>
                <a:cs typeface="Segoe UI" pitchFamily="34" charset="-120"/>
              </a:rPr>
              <a:t>Enforced in the contract: ComputeNetPositions / Settle only count obligations where accepted = Some True. Neither a rogue party nor an AI agent can fabricate a debt that settles.</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7FA6C9"/>
          </a:solidFill>
          <a:ln/>
        </p:spPr>
      </p:sp>
      <p:sp>
        <p:nvSpPr>
          <p:cNvPr id="3" name="Text 1"/>
          <p:cNvSpPr/>
          <p:nvPr/>
        </p:nvSpPr>
        <p:spPr>
          <a:xfrm>
            <a:off x="640080" y="384048"/>
            <a:ext cx="10911535" cy="274320"/>
          </a:xfrm>
          <a:prstGeom prst="rect">
            <a:avLst/>
          </a:prstGeom>
          <a:noFill/>
          <a:ln/>
        </p:spPr>
        <p:txBody>
          <a:bodyPr wrap="square" rtlCol="0" anchor="ctr"/>
          <a:lstStyle/>
          <a:p>
            <a:pPr indent="0" marL="0">
              <a:buNone/>
            </a:pPr>
            <a:r>
              <a:rPr lang="en-US" sz="1100" b="1" spc="300" kern="0" dirty="0">
                <a:solidFill>
                  <a:srgbClr val="7FA6C9"/>
                </a:solidFill>
                <a:latin typeface="Segoe UI" pitchFamily="34" charset="0"/>
                <a:ea typeface="Segoe UI" pitchFamily="34" charset="-122"/>
                <a:cs typeface="Segoe UI" pitchFamily="34" charset="-120"/>
              </a:rPr>
              <a:t>GOVERNANCE</a:t>
            </a:r>
            <a:endParaRPr lang="en-US" sz="1100" dirty="0"/>
          </a:p>
        </p:txBody>
      </p:sp>
      <p:sp>
        <p:nvSpPr>
          <p:cNvPr id="4" name="Text 2"/>
          <p:cNvSpPr/>
          <p:nvPr/>
        </p:nvSpPr>
        <p:spPr>
          <a:xfrm>
            <a:off x="640080" y="658368"/>
            <a:ext cx="10911535" cy="731520"/>
          </a:xfrm>
          <a:prstGeom prst="rect">
            <a:avLst/>
          </a:prstGeom>
          <a:noFill/>
          <a:ln/>
        </p:spPr>
        <p:txBody>
          <a:bodyPr wrap="square" rtlCol="0" anchor="ctr"/>
          <a:lstStyle/>
          <a:p>
            <a:pPr indent="0" marL="0">
              <a:buNone/>
            </a:pPr>
            <a:r>
              <a:rPr lang="en-US" sz="2700" b="1" dirty="0">
                <a:solidFill>
                  <a:srgbClr val="E6EDF3"/>
                </a:solidFill>
                <a:latin typeface="Segoe UI" pitchFamily="34" charset="0"/>
                <a:ea typeface="Segoe UI" pitchFamily="34" charset="-122"/>
                <a:cs typeface="Segoe UI" pitchFamily="34" charset="-120"/>
              </a:rPr>
              <a:t>TreasuryPolicy cap + maker-checker cap changes</a:t>
            </a:r>
            <a:endParaRPr lang="en-US" sz="2700" dirty="0"/>
          </a:p>
        </p:txBody>
      </p:sp>
      <p:sp>
        <p:nvSpPr>
          <p:cNvPr id="5" name="Text 3"/>
          <p:cNvSpPr/>
          <p:nvPr/>
        </p:nvSpPr>
        <p:spPr>
          <a:xfrm>
            <a:off x="640080" y="6446520"/>
            <a:ext cx="5486400" cy="274320"/>
          </a:xfrm>
          <a:prstGeom prst="rect">
            <a:avLst/>
          </a:prstGeom>
          <a:noFill/>
          <a:ln/>
        </p:spPr>
        <p:txBody>
          <a:bodyPr wrap="square" rtlCol="0" anchor="ctr"/>
          <a:lstStyle/>
          <a:p>
            <a:pPr indent="0" marL="0">
              <a:buNone/>
            </a:pPr>
            <a:r>
              <a:rPr lang="en-US" sz="900" b="1" dirty="0">
                <a:solidFill>
                  <a:srgbClr val="E6EDF3"/>
                </a:solidFill>
                <a:latin typeface="Segoe UI" pitchFamily="34" charset="0"/>
                <a:ea typeface="Segoe UI" pitchFamily="34" charset="-122"/>
                <a:cs typeface="Segoe UI" pitchFamily="34" charset="-120"/>
              </a:rPr>
              <a:t>NetChain</a:t>
            </a:r>
            <a:pPr indent="0" marL="0">
              <a:buNone/>
            </a:pPr>
            <a:r>
              <a:rPr lang="en-US" sz="900" dirty="0">
                <a:solidFill>
                  <a:srgbClr val="5F7486"/>
                </a:solidFill>
                <a:latin typeface="Segoe UI" pitchFamily="34" charset="0"/>
                <a:ea typeface="Segoe UI" pitchFamily="34" charset="-122"/>
                <a:cs typeface="Segoe UI" pitchFamily="34" charset="-120"/>
              </a:rPr>
              <a:t>  deep dive</a:t>
            </a:r>
            <a:endParaRPr lang="en-US" sz="900" dirty="0"/>
          </a:p>
        </p:txBody>
      </p:sp>
      <p:sp>
        <p:nvSpPr>
          <p:cNvPr id="6" name="Text 4"/>
          <p:cNvSpPr/>
          <p:nvPr/>
        </p:nvSpPr>
        <p:spPr>
          <a:xfrm>
            <a:off x="8808415" y="6446520"/>
            <a:ext cx="2743200" cy="274320"/>
          </a:xfrm>
          <a:prstGeom prst="rect">
            <a:avLst/>
          </a:prstGeom>
          <a:noFill/>
          <a:ln/>
        </p:spPr>
        <p:txBody>
          <a:bodyPr wrap="square" rtlCol="0" anchor="ctr"/>
          <a:lstStyle/>
          <a:p>
            <a:pPr algn="r" indent="0" marL="0">
              <a:buNone/>
            </a:pPr>
            <a:r>
              <a:rPr lang="en-US" sz="900" dirty="0">
                <a:solidFill>
                  <a:srgbClr val="5F7486"/>
                </a:solidFill>
                <a:latin typeface="Segoe UI" pitchFamily="34" charset="0"/>
                <a:ea typeface="Segoe UI" pitchFamily="34" charset="-122"/>
                <a:cs typeface="Segoe UI" pitchFamily="34" charset="-120"/>
              </a:rPr>
              <a:t>netchain.vercel.app</a:t>
            </a:r>
            <a:endParaRPr lang="en-US" sz="900" dirty="0"/>
          </a:p>
        </p:txBody>
      </p:sp>
      <p:pic>
        <p:nvPicPr>
          <p:cNvPr id="7" name="Image 0" descr="screens/shot-policy.png">    </p:cNvPr>
          <p:cNvPicPr>
            <a:picLocks noChangeAspect="1"/>
          </p:cNvPicPr>
          <p:nvPr/>
        </p:nvPicPr>
        <p:blipFill>
          <a:blip r:embed="rId1"/>
          <a:stretch>
            <a:fillRect/>
          </a:stretch>
        </p:blipFill>
        <p:spPr>
          <a:xfrm>
            <a:off x="640080" y="1554480"/>
            <a:ext cx="5669280" cy="3543300"/>
          </a:xfrm>
          <a:prstGeom prst="rect">
            <a:avLst/>
          </a:prstGeom>
        </p:spPr>
      </p:pic>
      <p:sp>
        <p:nvSpPr>
          <p:cNvPr id="8" name="Shape 5"/>
          <p:cNvSpPr/>
          <p:nvPr/>
        </p:nvSpPr>
        <p:spPr>
          <a:xfrm>
            <a:off x="640080" y="1554480"/>
            <a:ext cx="5669280" cy="3543300"/>
          </a:xfrm>
          <a:prstGeom prst="roundRect">
            <a:avLst>
              <a:gd name="adj" fmla="val 774"/>
            </a:avLst>
          </a:prstGeom>
          <a:ln w="12700">
            <a:solidFill>
              <a:srgbClr val="223040"/>
            </a:solidFill>
            <a:prstDash val="solid"/>
          </a:ln>
        </p:spPr>
      </p:sp>
      <p:sp>
        <p:nvSpPr>
          <p:cNvPr id="9" name="Text 6"/>
          <p:cNvSpPr/>
          <p:nvPr/>
        </p:nvSpPr>
        <p:spPr>
          <a:xfrm>
            <a:off x="640080" y="5143500"/>
            <a:ext cx="5669280" cy="274320"/>
          </a:xfrm>
          <a:prstGeom prst="rect">
            <a:avLst/>
          </a:prstGeom>
          <a:noFill/>
          <a:ln/>
        </p:spPr>
        <p:txBody>
          <a:bodyPr wrap="square" rtlCol="0" anchor="ctr"/>
          <a:lstStyle/>
          <a:p>
            <a:pPr algn="ctr" indent="0" marL="0">
              <a:buNone/>
            </a:pPr>
            <a:r>
              <a:rPr lang="en-US" sz="1000" i="1" dirty="0">
                <a:solidFill>
                  <a:srgbClr val="5F7486"/>
                </a:solidFill>
                <a:latin typeface="Segoe UI" pitchFamily="34" charset="0"/>
                <a:ea typeface="Segoe UI" pitchFamily="34" charset="-122"/>
                <a:cs typeface="Segoe UI" pitchFamily="34" charset="-120"/>
              </a:rPr>
              <a:t>Policy page: the enforced cap + the maker-checker governance panel</a:t>
            </a:r>
            <a:endParaRPr lang="en-US" sz="1000" dirty="0"/>
          </a:p>
        </p:txBody>
      </p:sp>
      <p:sp>
        <p:nvSpPr>
          <p:cNvPr id="10" name="Shape 7"/>
          <p:cNvSpPr/>
          <p:nvPr/>
        </p:nvSpPr>
        <p:spPr>
          <a:xfrm>
            <a:off x="6720840" y="1554480"/>
            <a:ext cx="4828032" cy="4114800"/>
          </a:xfrm>
          <a:prstGeom prst="roundRect">
            <a:avLst>
              <a:gd name="adj" fmla="val 2000"/>
            </a:avLst>
          </a:prstGeom>
          <a:solidFill>
            <a:srgbClr val="141C25"/>
          </a:solidFill>
          <a:ln w="12700">
            <a:solidFill>
              <a:srgbClr val="223040"/>
            </a:solidFill>
            <a:prstDash val="solid"/>
          </a:ln>
        </p:spPr>
      </p:sp>
      <p:sp>
        <p:nvSpPr>
          <p:cNvPr id="11" name="Text 8"/>
          <p:cNvSpPr/>
          <p:nvPr/>
        </p:nvSpPr>
        <p:spPr>
          <a:xfrm>
            <a:off x="6949440" y="1783080"/>
            <a:ext cx="4389120" cy="320040"/>
          </a:xfrm>
          <a:prstGeom prst="rect">
            <a:avLst/>
          </a:prstGeom>
          <a:noFill/>
          <a:ln/>
        </p:spPr>
        <p:txBody>
          <a:bodyPr wrap="square" rtlCol="0" anchor="ctr"/>
          <a:lstStyle/>
          <a:p>
            <a:pPr indent="0" marL="0">
              <a:buNone/>
            </a:pPr>
            <a:r>
              <a:rPr lang="en-US" sz="1400" b="1" dirty="0">
                <a:solidFill>
                  <a:srgbClr val="7FA6C9"/>
                </a:solidFill>
                <a:latin typeface="Segoe UI" pitchFamily="34" charset="0"/>
                <a:ea typeface="Segoe UI" pitchFamily="34" charset="-122"/>
                <a:cs typeface="Segoe UI" pitchFamily="34" charset="-120"/>
              </a:rPr>
              <a:t>The cap the ledger enforces</a:t>
            </a:r>
            <a:endParaRPr lang="en-US" sz="1400" dirty="0"/>
          </a:p>
        </p:txBody>
      </p:sp>
      <p:sp>
        <p:nvSpPr>
          <p:cNvPr id="12" name="Text 9"/>
          <p:cNvSpPr/>
          <p:nvPr/>
        </p:nvSpPr>
        <p:spPr>
          <a:xfrm>
            <a:off x="6949440" y="2148840"/>
            <a:ext cx="4343400" cy="1188720"/>
          </a:xfrm>
          <a:prstGeom prst="rect">
            <a:avLst/>
          </a:prstGeom>
          <a:noFill/>
          <a:ln/>
        </p:spPr>
        <p:txBody>
          <a:bodyPr wrap="square" rtlCol="0" anchor="t"/>
          <a:lstStyle/>
          <a:p>
            <a:pPr marL="203200" indent="-203200">
              <a:lnSpc>
                <a:spcPct val="120000"/>
              </a:lnSpc>
              <a:spcAft>
                <a:spcPts val="800"/>
              </a:spcAft>
              <a:buSzPct val="100000"/>
              <a:buChar char="•"/>
            </a:pPr>
            <a:r>
              <a:rPr lang="en-US" sz="1200" dirty="0">
                <a:solidFill>
                  <a:srgbClr val="E6EDF3"/>
                </a:solidFill>
                <a:latin typeface="Segoe UI" pitchFamily="34" charset="0"/>
                <a:ea typeface="Segoe UI" pitchFamily="34" charset="-122"/>
                <a:cs typeface="Segoe UI" pitchFamily="34" charset="-120"/>
              </a:rPr>
              <a:t>maxSettlementPerCycle is asserted INSIDE the Settle transaction, not in the UI.</a:t>
            </a:r>
            <a:endParaRPr lang="en-US" sz="1200" dirty="0"/>
          </a:p>
          <a:p>
            <a:pPr marL="203200" indent="-203200">
              <a:lnSpc>
                <a:spcPct val="120000"/>
              </a:lnSpc>
              <a:spcAft>
                <a:spcPts val="800"/>
              </a:spcAft>
              <a:buSzPct val="100000"/>
              <a:buChar char="•"/>
            </a:pPr>
            <a:r>
              <a:rPr lang="en-US" sz="1200" dirty="0">
                <a:solidFill>
                  <a:srgbClr val="E6EDF3"/>
                </a:solidFill>
                <a:latin typeface="Segoe UI" pitchFamily="34" charset="0"/>
                <a:ea typeface="Segoe UI" pitchFamily="34" charset="-122"/>
                <a:cs typeface="Segoe UI" pitchFamily="34" charset="-120"/>
              </a:rPr>
              <a:t>Over-cap settle is refused on-ledger; no override flag exists for an agent to set.</a:t>
            </a:r>
            <a:endParaRPr lang="en-US" sz="1200" dirty="0"/>
          </a:p>
        </p:txBody>
      </p:sp>
      <p:sp>
        <p:nvSpPr>
          <p:cNvPr id="13" name="Text 10"/>
          <p:cNvSpPr/>
          <p:nvPr/>
        </p:nvSpPr>
        <p:spPr>
          <a:xfrm>
            <a:off x="6949440" y="3429000"/>
            <a:ext cx="4389120" cy="320040"/>
          </a:xfrm>
          <a:prstGeom prst="rect">
            <a:avLst/>
          </a:prstGeom>
          <a:noFill/>
          <a:ln/>
        </p:spPr>
        <p:txBody>
          <a:bodyPr wrap="square" rtlCol="0" anchor="ctr"/>
          <a:lstStyle/>
          <a:p>
            <a:pPr indent="0" marL="0">
              <a:buNone/>
            </a:pPr>
            <a:r>
              <a:rPr lang="en-US" sz="1400" b="1" dirty="0">
                <a:solidFill>
                  <a:srgbClr val="F5C451"/>
                </a:solidFill>
                <a:latin typeface="Segoe UI" pitchFamily="34" charset="0"/>
                <a:ea typeface="Segoe UI" pitchFamily="34" charset="-122"/>
                <a:cs typeface="Segoe UI" pitchFamily="34" charset="-120"/>
              </a:rPr>
              <a:t>Changing a cap: four-eyes</a:t>
            </a:r>
            <a:endParaRPr lang="en-US" sz="1400" dirty="0"/>
          </a:p>
        </p:txBody>
      </p:sp>
      <p:sp>
        <p:nvSpPr>
          <p:cNvPr id="14" name="Text 11"/>
          <p:cNvSpPr/>
          <p:nvPr/>
        </p:nvSpPr>
        <p:spPr>
          <a:xfrm>
            <a:off x="6949440" y="3794760"/>
            <a:ext cx="4343400" cy="1828800"/>
          </a:xfrm>
          <a:prstGeom prst="rect">
            <a:avLst/>
          </a:prstGeom>
          <a:noFill/>
          <a:ln/>
        </p:spPr>
        <p:txBody>
          <a:bodyPr wrap="square" rtlCol="0" anchor="t"/>
          <a:lstStyle/>
          <a:p>
            <a:pPr marL="203200" indent="-203200">
              <a:lnSpc>
                <a:spcPct val="120000"/>
              </a:lnSpc>
              <a:spcAft>
                <a:spcPts val="800"/>
              </a:spcAft>
              <a:buSzPct val="100000"/>
              <a:buChar char="•"/>
            </a:pPr>
            <a:r>
              <a:rPr lang="en-US" sz="1200" dirty="0">
                <a:solidFill>
                  <a:srgbClr val="E6EDF3"/>
                </a:solidFill>
                <a:latin typeface="Segoe UI" pitchFamily="34" charset="0"/>
                <a:ea typeface="Segoe UI" pitchFamily="34" charset="-122"/>
                <a:cs typeface="Segoe UI" pitchFamily="34" charset="-120"/>
              </a:rPr>
              <a:t>Party proposes a new cap (maker); operator approves (checker). Neither acts alone.</a:t>
            </a:r>
            <a:endParaRPr lang="en-US" sz="1200" dirty="0"/>
          </a:p>
          <a:p>
            <a:pPr marL="203200" indent="-203200">
              <a:lnSpc>
                <a:spcPct val="120000"/>
              </a:lnSpc>
              <a:spcAft>
                <a:spcPts val="800"/>
              </a:spcAft>
              <a:buSzPct val="100000"/>
              <a:buChar char="•"/>
            </a:pPr>
            <a:r>
              <a:rPr lang="en-US" sz="1200" dirty="0">
                <a:solidFill>
                  <a:srgbClr val="E6EDF3"/>
                </a:solidFill>
                <a:latin typeface="Segoe UI" pitchFamily="34" charset="0"/>
                <a:ea typeface="Segoe UI" pitchFamily="34" charset="-122"/>
                <a:cs typeface="Segoe UI" pitchFamily="34" charset="-120"/>
              </a:rPr>
              <a:t>The operator still cannot unilaterally RAISE a cap, only approve what the party proposed.</a:t>
            </a:r>
            <a:endParaRPr lang="en-US" sz="1200" dirty="0"/>
          </a:p>
          <a:p>
            <a:pPr marL="203200" indent="-203200">
              <a:lnSpc>
                <a:spcPct val="120000"/>
              </a:lnSpc>
              <a:spcAft>
                <a:spcPts val="800"/>
              </a:spcAft>
              <a:buSzPct val="100000"/>
              <a:buChar char="•"/>
            </a:pPr>
            <a:r>
              <a:rPr lang="en-US" sz="1200" dirty="0">
                <a:solidFill>
                  <a:srgbClr val="E6EDF3"/>
                </a:solidFill>
                <a:latin typeface="Segoe UI" pitchFamily="34" charset="0"/>
                <a:ea typeface="Segoe UI" pitchFamily="34" charset="-122"/>
                <a:cs typeface="Segoe UI" pitchFamily="34" charset="-120"/>
              </a:rPr>
              <a:t>The SOX / Basel / treasury segregation-of-duties standard, modeled on-ledger.</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7FA6C9"/>
          </a:solidFill>
          <a:ln/>
        </p:spPr>
      </p:sp>
      <p:sp>
        <p:nvSpPr>
          <p:cNvPr id="3" name="Text 1"/>
          <p:cNvSpPr/>
          <p:nvPr/>
        </p:nvSpPr>
        <p:spPr>
          <a:xfrm>
            <a:off x="640080" y="384048"/>
            <a:ext cx="10911535" cy="274320"/>
          </a:xfrm>
          <a:prstGeom prst="rect">
            <a:avLst/>
          </a:prstGeom>
          <a:noFill/>
          <a:ln/>
        </p:spPr>
        <p:txBody>
          <a:bodyPr wrap="square" rtlCol="0" anchor="ctr"/>
          <a:lstStyle/>
          <a:p>
            <a:pPr indent="0" marL="0">
              <a:buNone/>
            </a:pPr>
            <a:r>
              <a:rPr lang="en-US" sz="1100" b="1" spc="300" kern="0" dirty="0">
                <a:solidFill>
                  <a:srgbClr val="7FA6C9"/>
                </a:solidFill>
                <a:latin typeface="Segoe UI" pitchFamily="34" charset="0"/>
                <a:ea typeface="Segoe UI" pitchFamily="34" charset="-122"/>
                <a:cs typeface="Segoe UI" pitchFamily="34" charset="-120"/>
              </a:rPr>
              <a:t>AUTOMATION</a:t>
            </a:r>
            <a:endParaRPr lang="en-US" sz="1100" dirty="0"/>
          </a:p>
        </p:txBody>
      </p:sp>
      <p:sp>
        <p:nvSpPr>
          <p:cNvPr id="4" name="Text 2"/>
          <p:cNvSpPr/>
          <p:nvPr/>
        </p:nvSpPr>
        <p:spPr>
          <a:xfrm>
            <a:off x="640080" y="658368"/>
            <a:ext cx="10911535" cy="731520"/>
          </a:xfrm>
          <a:prstGeom prst="rect">
            <a:avLst/>
          </a:prstGeom>
          <a:noFill/>
          <a:ln/>
        </p:spPr>
        <p:txBody>
          <a:bodyPr wrap="square" rtlCol="0" anchor="ctr"/>
          <a:lstStyle/>
          <a:p>
            <a:pPr indent="0" marL="0">
              <a:buNone/>
            </a:pPr>
            <a:r>
              <a:rPr lang="en-US" sz="2700" b="1" dirty="0">
                <a:solidFill>
                  <a:srgbClr val="E6EDF3"/>
                </a:solidFill>
                <a:latin typeface="Segoe UI" pitchFamily="34" charset="0"/>
                <a:ea typeface="Segoe UI" pitchFamily="34" charset="-122"/>
                <a:cs typeface="Segoe UI" pitchFamily="34" charset="-120"/>
              </a:rPr>
              <a:t>Netting runs itself, on a schedule</a:t>
            </a:r>
            <a:endParaRPr lang="en-US" sz="2700" dirty="0"/>
          </a:p>
        </p:txBody>
      </p:sp>
      <p:sp>
        <p:nvSpPr>
          <p:cNvPr id="5" name="Text 3"/>
          <p:cNvSpPr/>
          <p:nvPr/>
        </p:nvSpPr>
        <p:spPr>
          <a:xfrm>
            <a:off x="640080" y="6446520"/>
            <a:ext cx="5486400" cy="274320"/>
          </a:xfrm>
          <a:prstGeom prst="rect">
            <a:avLst/>
          </a:prstGeom>
          <a:noFill/>
          <a:ln/>
        </p:spPr>
        <p:txBody>
          <a:bodyPr wrap="square" rtlCol="0" anchor="ctr"/>
          <a:lstStyle/>
          <a:p>
            <a:pPr indent="0" marL="0">
              <a:buNone/>
            </a:pPr>
            <a:r>
              <a:rPr lang="en-US" sz="900" b="1" dirty="0">
                <a:solidFill>
                  <a:srgbClr val="E6EDF3"/>
                </a:solidFill>
                <a:latin typeface="Segoe UI" pitchFamily="34" charset="0"/>
                <a:ea typeface="Segoe UI" pitchFamily="34" charset="-122"/>
                <a:cs typeface="Segoe UI" pitchFamily="34" charset="-120"/>
              </a:rPr>
              <a:t>NetChain</a:t>
            </a:r>
            <a:pPr indent="0" marL="0">
              <a:buNone/>
            </a:pPr>
            <a:r>
              <a:rPr lang="en-US" sz="900" dirty="0">
                <a:solidFill>
                  <a:srgbClr val="5F7486"/>
                </a:solidFill>
                <a:latin typeface="Segoe UI" pitchFamily="34" charset="0"/>
                <a:ea typeface="Segoe UI" pitchFamily="34" charset="-122"/>
                <a:cs typeface="Segoe UI" pitchFamily="34" charset="-120"/>
              </a:rPr>
              <a:t>  deep dive</a:t>
            </a:r>
            <a:endParaRPr lang="en-US" sz="900" dirty="0"/>
          </a:p>
        </p:txBody>
      </p:sp>
      <p:sp>
        <p:nvSpPr>
          <p:cNvPr id="6" name="Text 4"/>
          <p:cNvSpPr/>
          <p:nvPr/>
        </p:nvSpPr>
        <p:spPr>
          <a:xfrm>
            <a:off x="8808415" y="6446520"/>
            <a:ext cx="2743200" cy="274320"/>
          </a:xfrm>
          <a:prstGeom prst="rect">
            <a:avLst/>
          </a:prstGeom>
          <a:noFill/>
          <a:ln/>
        </p:spPr>
        <p:txBody>
          <a:bodyPr wrap="square" rtlCol="0" anchor="ctr"/>
          <a:lstStyle/>
          <a:p>
            <a:pPr algn="r" indent="0" marL="0">
              <a:buNone/>
            </a:pPr>
            <a:r>
              <a:rPr lang="en-US" sz="900" dirty="0">
                <a:solidFill>
                  <a:srgbClr val="5F7486"/>
                </a:solidFill>
                <a:latin typeface="Segoe UI" pitchFamily="34" charset="0"/>
                <a:ea typeface="Segoe UI" pitchFamily="34" charset="-122"/>
                <a:cs typeface="Segoe UI" pitchFamily="34" charset="-120"/>
              </a:rPr>
              <a:t>netchain.vercel.app</a:t>
            </a:r>
            <a:endParaRPr lang="en-US" sz="900" dirty="0"/>
          </a:p>
        </p:txBody>
      </p:sp>
      <p:sp>
        <p:nvSpPr>
          <p:cNvPr id="7" name="Shape 5"/>
          <p:cNvSpPr/>
          <p:nvPr/>
        </p:nvSpPr>
        <p:spPr>
          <a:xfrm>
            <a:off x="822960" y="2331720"/>
            <a:ext cx="2286000" cy="914400"/>
          </a:xfrm>
          <a:prstGeom prst="roundRect">
            <a:avLst>
              <a:gd name="adj" fmla="val 8000"/>
            </a:avLst>
          </a:prstGeom>
          <a:solidFill>
            <a:srgbClr val="141C25"/>
          </a:solidFill>
          <a:ln w="19050">
            <a:solidFill>
              <a:srgbClr val="7FA6C9"/>
            </a:solidFill>
            <a:prstDash val="solid"/>
          </a:ln>
        </p:spPr>
      </p:sp>
      <p:sp>
        <p:nvSpPr>
          <p:cNvPr id="8" name="Text 6"/>
          <p:cNvSpPr/>
          <p:nvPr/>
        </p:nvSpPr>
        <p:spPr>
          <a:xfrm>
            <a:off x="914400" y="2331720"/>
            <a:ext cx="2103120" cy="914400"/>
          </a:xfrm>
          <a:prstGeom prst="rect">
            <a:avLst/>
          </a:prstGeom>
          <a:noFill/>
          <a:ln/>
        </p:spPr>
        <p:txBody>
          <a:bodyPr wrap="square" rtlCol="0" anchor="ctr"/>
          <a:lstStyle/>
          <a:p>
            <a:pPr algn="ctr" indent="0" marL="0">
              <a:buNone/>
            </a:pPr>
            <a:r>
              <a:rPr lang="en-US" sz="1300" b="1" dirty="0">
                <a:solidFill>
                  <a:srgbClr val="E6EDF3"/>
                </a:solidFill>
                <a:latin typeface="Segoe UI" pitchFamily="34" charset="0"/>
                <a:ea typeface="Segoe UI" pitchFamily="34" charset="-122"/>
                <a:cs typeface="Segoe UI" pitchFamily="34" charset="-120"/>
              </a:rPr>
              <a:t>Vercel Cron</a:t>
            </a:r>
            <a:endParaRPr lang="en-US" sz="1300" dirty="0"/>
          </a:p>
          <a:p>
            <a:pPr algn="ctr" indent="0" marL="0">
              <a:buNone/>
            </a:pPr>
            <a:r>
              <a:rPr lang="en-US" sz="1000" b="1" dirty="0">
                <a:solidFill>
                  <a:srgbClr val="8FA6B8"/>
                </a:solidFill>
                <a:latin typeface="Segoe UI" pitchFamily="34" charset="0"/>
                <a:ea typeface="Segoe UI" pitchFamily="34" charset="-122"/>
                <a:cs typeface="Segoe UI" pitchFamily="34" charset="-120"/>
              </a:rPr>
              <a:t>free daily, or an agent</a:t>
            </a:r>
            <a:endParaRPr lang="en-US" sz="1300" dirty="0"/>
          </a:p>
        </p:txBody>
      </p:sp>
      <p:sp>
        <p:nvSpPr>
          <p:cNvPr id="9" name="Shape 7"/>
          <p:cNvSpPr/>
          <p:nvPr/>
        </p:nvSpPr>
        <p:spPr>
          <a:xfrm>
            <a:off x="3657600" y="2331720"/>
            <a:ext cx="2377440" cy="914400"/>
          </a:xfrm>
          <a:prstGeom prst="roundRect">
            <a:avLst>
              <a:gd name="adj" fmla="val 8000"/>
            </a:avLst>
          </a:prstGeom>
          <a:solidFill>
            <a:srgbClr val="141C25"/>
          </a:solidFill>
          <a:ln w="19050">
            <a:solidFill>
              <a:srgbClr val="7FA6C9"/>
            </a:solidFill>
            <a:prstDash val="solid"/>
          </a:ln>
        </p:spPr>
      </p:sp>
      <p:sp>
        <p:nvSpPr>
          <p:cNvPr id="10" name="Text 8"/>
          <p:cNvSpPr/>
          <p:nvPr/>
        </p:nvSpPr>
        <p:spPr>
          <a:xfrm>
            <a:off x="3749040" y="2331720"/>
            <a:ext cx="2194560" cy="914400"/>
          </a:xfrm>
          <a:prstGeom prst="rect">
            <a:avLst/>
          </a:prstGeom>
          <a:noFill/>
          <a:ln/>
        </p:spPr>
        <p:txBody>
          <a:bodyPr wrap="square" rtlCol="0" anchor="ctr"/>
          <a:lstStyle/>
          <a:p>
            <a:pPr algn="ctr" indent="0" marL="0">
              <a:buNone/>
            </a:pPr>
            <a:r>
              <a:rPr lang="en-US" sz="1300" b="1" dirty="0">
                <a:solidFill>
                  <a:srgbClr val="E6EDF3"/>
                </a:solidFill>
                <a:latin typeface="Segoe UI" pitchFamily="34" charset="0"/>
                <a:ea typeface="Segoe UI" pitchFamily="34" charset="-122"/>
                <a:cs typeface="Segoe UI" pitchFamily="34" charset="-120"/>
              </a:rPr>
              <a:t>/api/cron/net</a:t>
            </a:r>
            <a:endParaRPr lang="en-US" sz="1300" dirty="0"/>
          </a:p>
          <a:p>
            <a:pPr algn="ctr" indent="0" marL="0">
              <a:buNone/>
            </a:pPr>
            <a:r>
              <a:rPr lang="en-US" sz="1000" b="1" dirty="0">
                <a:solidFill>
                  <a:srgbClr val="8FA6B8"/>
                </a:solidFill>
                <a:latin typeface="Segoe UI" pitchFamily="34" charset="0"/>
                <a:ea typeface="Segoe UI" pitchFamily="34" charset="-122"/>
                <a:cs typeface="Segoe UI" pitchFamily="34" charset="-120"/>
              </a:rPr>
              <a:t>CRON_SECRET-gated</a:t>
            </a:r>
            <a:endParaRPr lang="en-US" sz="1300" dirty="0"/>
          </a:p>
        </p:txBody>
      </p:sp>
      <p:sp>
        <p:nvSpPr>
          <p:cNvPr id="11" name="Shape 9"/>
          <p:cNvSpPr/>
          <p:nvPr/>
        </p:nvSpPr>
        <p:spPr>
          <a:xfrm>
            <a:off x="6583680" y="2331720"/>
            <a:ext cx="2377440" cy="914400"/>
          </a:xfrm>
          <a:prstGeom prst="roundRect">
            <a:avLst>
              <a:gd name="adj" fmla="val 8000"/>
            </a:avLst>
          </a:prstGeom>
          <a:solidFill>
            <a:srgbClr val="141C25"/>
          </a:solidFill>
          <a:ln w="19050">
            <a:solidFill>
              <a:srgbClr val="38E1A4"/>
            </a:solidFill>
            <a:prstDash val="solid"/>
          </a:ln>
        </p:spPr>
      </p:sp>
      <p:sp>
        <p:nvSpPr>
          <p:cNvPr id="12" name="Text 10"/>
          <p:cNvSpPr/>
          <p:nvPr/>
        </p:nvSpPr>
        <p:spPr>
          <a:xfrm>
            <a:off x="6675120" y="2331720"/>
            <a:ext cx="2194560" cy="914400"/>
          </a:xfrm>
          <a:prstGeom prst="rect">
            <a:avLst/>
          </a:prstGeom>
          <a:noFill/>
          <a:ln/>
        </p:spPr>
        <p:txBody>
          <a:bodyPr wrap="square" rtlCol="0" anchor="ctr"/>
          <a:lstStyle/>
          <a:p>
            <a:pPr algn="ctr" indent="0" marL="0">
              <a:buNone/>
            </a:pPr>
            <a:r>
              <a:rPr lang="en-US" sz="1300" b="1" dirty="0">
                <a:solidFill>
                  <a:srgbClr val="E6EDF3"/>
                </a:solidFill>
                <a:latin typeface="Segoe UI" pitchFamily="34" charset="0"/>
                <a:ea typeface="Segoe UI" pitchFamily="34" charset="-122"/>
                <a:cs typeface="Segoe UI" pitchFamily="34" charset="-120"/>
              </a:rPr>
              <a:t>Funding check</a:t>
            </a:r>
            <a:endParaRPr lang="en-US" sz="1300" dirty="0"/>
          </a:p>
          <a:p>
            <a:pPr algn="ctr" indent="0" marL="0">
              <a:buNone/>
            </a:pPr>
            <a:r>
              <a:rPr lang="en-US" sz="1300" b="1" dirty="0">
                <a:solidFill>
                  <a:srgbClr val="E6EDF3"/>
                </a:solidFill>
                <a:latin typeface="Segoe UI" pitchFamily="34" charset="0"/>
                <a:ea typeface="Segoe UI" pitchFamily="34" charset="-122"/>
                <a:cs typeface="Segoe UI" pitchFamily="34" charset="-120"/>
              </a:rPr>
              <a:t>+ Settle</a:t>
            </a:r>
            <a:endParaRPr lang="en-US" sz="1300" dirty="0"/>
          </a:p>
          <a:p>
            <a:pPr algn="ctr" indent="0" marL="0">
              <a:buNone/>
            </a:pPr>
            <a:r>
              <a:rPr lang="en-US" sz="1000" b="1" dirty="0">
                <a:solidFill>
                  <a:srgbClr val="8FA6B8"/>
                </a:solidFill>
                <a:latin typeface="Segoe UI" pitchFamily="34" charset="0"/>
                <a:ea typeface="Segoe UI" pitchFamily="34" charset="-122"/>
                <a:cs typeface="Segoe UI" pitchFamily="34" charset="-120"/>
              </a:rPr>
              <a:t>policy-bounded</a:t>
            </a:r>
            <a:endParaRPr lang="en-US" sz="1300" dirty="0"/>
          </a:p>
        </p:txBody>
      </p:sp>
      <p:sp>
        <p:nvSpPr>
          <p:cNvPr id="13" name="Shape 11"/>
          <p:cNvSpPr/>
          <p:nvPr/>
        </p:nvSpPr>
        <p:spPr>
          <a:xfrm>
            <a:off x="9509760" y="2331720"/>
            <a:ext cx="2011680" cy="914400"/>
          </a:xfrm>
          <a:prstGeom prst="roundRect">
            <a:avLst>
              <a:gd name="adj" fmla="val 8000"/>
            </a:avLst>
          </a:prstGeom>
          <a:solidFill>
            <a:srgbClr val="141C25"/>
          </a:solidFill>
          <a:ln w="19050">
            <a:solidFill>
              <a:srgbClr val="F5C451"/>
            </a:solidFill>
            <a:prstDash val="solid"/>
          </a:ln>
        </p:spPr>
      </p:sp>
      <p:sp>
        <p:nvSpPr>
          <p:cNvPr id="14" name="Text 12"/>
          <p:cNvSpPr/>
          <p:nvPr/>
        </p:nvSpPr>
        <p:spPr>
          <a:xfrm>
            <a:off x="9601200" y="2331720"/>
            <a:ext cx="1828800" cy="914400"/>
          </a:xfrm>
          <a:prstGeom prst="rect">
            <a:avLst/>
          </a:prstGeom>
          <a:noFill/>
          <a:ln/>
        </p:spPr>
        <p:txBody>
          <a:bodyPr wrap="square" rtlCol="0" anchor="ctr"/>
          <a:lstStyle/>
          <a:p>
            <a:pPr algn="ctr" indent="0" marL="0">
              <a:buNone/>
            </a:pPr>
            <a:r>
              <a:rPr lang="en-US" sz="1300" b="1" dirty="0">
                <a:solidFill>
                  <a:srgbClr val="E6EDF3"/>
                </a:solidFill>
                <a:latin typeface="Segoe UI" pitchFamily="34" charset="0"/>
                <a:ea typeface="Segoe UI" pitchFamily="34" charset="-122"/>
                <a:cs typeface="Segoe UI" pitchFamily="34" charset="-120"/>
              </a:rPr>
              <a:t>Self-heal</a:t>
            </a:r>
            <a:endParaRPr lang="en-US" sz="1300" dirty="0"/>
          </a:p>
          <a:p>
            <a:pPr algn="ctr" indent="0" marL="0">
              <a:buNone/>
            </a:pPr>
            <a:r>
              <a:rPr lang="en-US" sz="1000" b="1" dirty="0">
                <a:solidFill>
                  <a:srgbClr val="8FA6B8"/>
                </a:solidFill>
                <a:latin typeface="Segoe UI" pitchFamily="34" charset="0"/>
                <a:ea typeface="Segoe UI" pitchFamily="34" charset="-122"/>
                <a:cs typeface="Segoe UI" pitchFamily="34" charset="-120"/>
              </a:rPr>
              <a:t>reseed to clean</a:t>
            </a:r>
            <a:endParaRPr lang="en-US" sz="1300" dirty="0"/>
          </a:p>
        </p:txBody>
      </p:sp>
      <p:sp>
        <p:nvSpPr>
          <p:cNvPr id="15" name="Shape 13"/>
          <p:cNvSpPr/>
          <p:nvPr/>
        </p:nvSpPr>
        <p:spPr>
          <a:xfrm>
            <a:off x="3108960" y="2788920"/>
            <a:ext cx="548640" cy="0"/>
          </a:xfrm>
          <a:prstGeom prst="line">
            <a:avLst/>
          </a:prstGeom>
          <a:noFill/>
          <a:ln w="22225">
            <a:solidFill>
              <a:srgbClr val="5F7486"/>
            </a:solidFill>
            <a:prstDash val="solid"/>
            <a:tailEnd type="triangle"/>
          </a:ln>
        </p:spPr>
      </p:sp>
      <p:sp>
        <p:nvSpPr>
          <p:cNvPr id="16" name="Shape 14"/>
          <p:cNvSpPr/>
          <p:nvPr/>
        </p:nvSpPr>
        <p:spPr>
          <a:xfrm>
            <a:off x="6035040" y="2788920"/>
            <a:ext cx="548640" cy="0"/>
          </a:xfrm>
          <a:prstGeom prst="line">
            <a:avLst/>
          </a:prstGeom>
          <a:noFill/>
          <a:ln w="22225">
            <a:solidFill>
              <a:srgbClr val="5F7486"/>
            </a:solidFill>
            <a:prstDash val="solid"/>
            <a:tailEnd type="triangle"/>
          </a:ln>
        </p:spPr>
      </p:sp>
      <p:sp>
        <p:nvSpPr>
          <p:cNvPr id="17" name="Shape 15"/>
          <p:cNvSpPr/>
          <p:nvPr/>
        </p:nvSpPr>
        <p:spPr>
          <a:xfrm>
            <a:off x="8961120" y="2788920"/>
            <a:ext cx="548640" cy="0"/>
          </a:xfrm>
          <a:prstGeom prst="line">
            <a:avLst/>
          </a:prstGeom>
          <a:noFill/>
          <a:ln w="22225">
            <a:solidFill>
              <a:srgbClr val="5F7486"/>
            </a:solidFill>
            <a:prstDash val="solid"/>
            <a:tailEnd type="triangle"/>
          </a:ln>
        </p:spPr>
      </p:sp>
      <p:sp>
        <p:nvSpPr>
          <p:cNvPr id="18" name="Text 16"/>
          <p:cNvSpPr/>
          <p:nvPr/>
        </p:nvSpPr>
        <p:spPr>
          <a:xfrm>
            <a:off x="640080" y="3931920"/>
            <a:ext cx="10911535" cy="2926080"/>
          </a:xfrm>
          <a:prstGeom prst="rect">
            <a:avLst/>
          </a:prstGeom>
          <a:noFill/>
          <a:ln/>
        </p:spPr>
        <p:txBody>
          <a:bodyPr wrap="square" rtlCol="0" anchor="t"/>
          <a:lstStyle/>
          <a:p>
            <a:pPr marL="203200" indent="-203200">
              <a:lnSpc>
                <a:spcPct val="120000"/>
              </a:lnSpc>
              <a:spcAft>
                <a:spcPts val="800"/>
              </a:spcAft>
              <a:buSzPct val="100000"/>
              <a:buChar char="•"/>
            </a:pPr>
            <a:r>
              <a:rPr lang="en-US" sz="1300" dirty="0">
                <a:solidFill>
                  <a:srgbClr val="E6EDF3"/>
                </a:solidFill>
                <a:latin typeface="Segoe UI" pitchFamily="34" charset="0"/>
                <a:ea typeface="Segoe UI" pitchFamily="34" charset="-122"/>
                <a:cs typeface="Segoe UI" pitchFamily="34" charset="-120"/>
              </a:rPr>
              <a:t>The operator does not have to click every time: a scheduled job runs the whole cycle and settles.</a:t>
            </a:r>
            <a:endParaRPr lang="en-US" sz="1300" dirty="0"/>
          </a:p>
          <a:p>
            <a:pPr marL="203200" indent="-203200">
              <a:lnSpc>
                <a:spcPct val="120000"/>
              </a:lnSpc>
              <a:spcAft>
                <a:spcPts val="800"/>
              </a:spcAft>
              <a:buSzPct val="100000"/>
              <a:buChar char="•"/>
            </a:pPr>
            <a:r>
              <a:rPr lang="en-US" sz="1300" dirty="0">
                <a:solidFill>
                  <a:srgbClr val="E6EDF3"/>
                </a:solidFill>
                <a:latin typeface="Segoe UI" pitchFamily="34" charset="0"/>
                <a:ea typeface="Segoe UI" pitchFamily="34" charset="-122"/>
                <a:cs typeface="Segoe UI" pitchFamily="34" charset="-120"/>
              </a:rPr>
              <a:t>Automating the trigger changes nothing about correctness, the cap and funding checks are enforced on-ledger regardless of who fires it.</a:t>
            </a:r>
            <a:endParaRPr lang="en-US" sz="1300" dirty="0"/>
          </a:p>
          <a:p>
            <a:pPr marL="203200" indent="-203200">
              <a:lnSpc>
                <a:spcPct val="120000"/>
              </a:lnSpc>
              <a:spcAft>
                <a:spcPts val="800"/>
              </a:spcAft>
              <a:buSzPct val="100000"/>
              <a:buChar char="•"/>
            </a:pPr>
            <a:r>
              <a:rPr lang="en-US" sz="1300" dirty="0">
                <a:solidFill>
                  <a:srgbClr val="E6EDF3"/>
                </a:solidFill>
                <a:latin typeface="Segoe UI" pitchFamily="34" charset="0"/>
                <a:ea typeface="Segoe UI" pitchFamily="34" charset="-122"/>
                <a:cs typeface="Segoe UI" pitchFamily="34" charset="-120"/>
              </a:rPr>
              <a:t>Scheduled batch windows are also the industry-correct model (CLS / CHIPS run daily cutoffs); netting compresses more with batching.</a:t>
            </a:r>
            <a:endParaRPr lang="en-US" sz="1300" dirty="0"/>
          </a:p>
          <a:p>
            <a:pPr marL="203200" indent="-203200">
              <a:lnSpc>
                <a:spcPct val="120000"/>
              </a:lnSpc>
              <a:spcAft>
                <a:spcPts val="800"/>
              </a:spcAft>
              <a:buSzPct val="100000"/>
              <a:buChar char="•"/>
            </a:pPr>
            <a:r>
              <a:rPr lang="en-US" sz="1300" dirty="0">
                <a:solidFill>
                  <a:srgbClr val="E6EDF3"/>
                </a:solidFill>
                <a:latin typeface="Segoe UI" pitchFamily="34" charset="0"/>
                <a:ea typeface="Segoe UI" pitchFamily="34" charset="-122"/>
                <a:cs typeface="Segoe UI" pitchFamily="34" charset="-120"/>
              </a:rPr>
              <a:t>After each run it self-heals the public demo back to the clean open state, so it is always ready to show.</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7FA6C9"/>
          </a:solidFill>
          <a:ln/>
        </p:spPr>
      </p:sp>
      <p:sp>
        <p:nvSpPr>
          <p:cNvPr id="3" name="Text 1"/>
          <p:cNvSpPr/>
          <p:nvPr/>
        </p:nvSpPr>
        <p:spPr>
          <a:xfrm>
            <a:off x="640080" y="384048"/>
            <a:ext cx="10911535" cy="274320"/>
          </a:xfrm>
          <a:prstGeom prst="rect">
            <a:avLst/>
          </a:prstGeom>
          <a:noFill/>
          <a:ln/>
        </p:spPr>
        <p:txBody>
          <a:bodyPr wrap="square" rtlCol="0" anchor="ctr"/>
          <a:lstStyle/>
          <a:p>
            <a:pPr indent="0" marL="0">
              <a:buNone/>
            </a:pPr>
            <a:r>
              <a:rPr lang="en-US" sz="1100" b="1" spc="300" kern="0" dirty="0">
                <a:solidFill>
                  <a:srgbClr val="7FA6C9"/>
                </a:solidFill>
                <a:latin typeface="Segoe UI" pitchFamily="34" charset="0"/>
                <a:ea typeface="Segoe UI" pitchFamily="34" charset="-122"/>
                <a:cs typeface="Segoe UI" pitchFamily="34" charset="-120"/>
              </a:rPr>
              <a:t>AGENTIC (TRACK 3)</a:t>
            </a:r>
            <a:endParaRPr lang="en-US" sz="1100" dirty="0"/>
          </a:p>
        </p:txBody>
      </p:sp>
      <p:sp>
        <p:nvSpPr>
          <p:cNvPr id="4" name="Text 2"/>
          <p:cNvSpPr/>
          <p:nvPr/>
        </p:nvSpPr>
        <p:spPr>
          <a:xfrm>
            <a:off x="640080" y="658368"/>
            <a:ext cx="10911535" cy="731520"/>
          </a:xfrm>
          <a:prstGeom prst="rect">
            <a:avLst/>
          </a:prstGeom>
          <a:noFill/>
          <a:ln/>
        </p:spPr>
        <p:txBody>
          <a:bodyPr wrap="square" rtlCol="0" anchor="ctr"/>
          <a:lstStyle/>
          <a:p>
            <a:pPr indent="0" marL="0">
              <a:buNone/>
            </a:pPr>
            <a:r>
              <a:rPr lang="en-US" sz="2700" b="1" dirty="0">
                <a:solidFill>
                  <a:srgbClr val="E6EDF3"/>
                </a:solidFill>
                <a:latin typeface="Segoe UI" pitchFamily="34" charset="0"/>
                <a:ea typeface="Segoe UI" pitchFamily="34" charset="-122"/>
                <a:cs typeface="Segoe UI" pitchFamily="34" charset="-120"/>
              </a:rPr>
              <a:t>An AI agent drives it, bounded by the ledger</a:t>
            </a:r>
            <a:endParaRPr lang="en-US" sz="2700" dirty="0"/>
          </a:p>
        </p:txBody>
      </p:sp>
      <p:sp>
        <p:nvSpPr>
          <p:cNvPr id="5" name="Text 3"/>
          <p:cNvSpPr/>
          <p:nvPr/>
        </p:nvSpPr>
        <p:spPr>
          <a:xfrm>
            <a:off x="640080" y="6446520"/>
            <a:ext cx="5486400" cy="274320"/>
          </a:xfrm>
          <a:prstGeom prst="rect">
            <a:avLst/>
          </a:prstGeom>
          <a:noFill/>
          <a:ln/>
        </p:spPr>
        <p:txBody>
          <a:bodyPr wrap="square" rtlCol="0" anchor="ctr"/>
          <a:lstStyle/>
          <a:p>
            <a:pPr indent="0" marL="0">
              <a:buNone/>
            </a:pPr>
            <a:r>
              <a:rPr lang="en-US" sz="900" b="1" dirty="0">
                <a:solidFill>
                  <a:srgbClr val="E6EDF3"/>
                </a:solidFill>
                <a:latin typeface="Segoe UI" pitchFamily="34" charset="0"/>
                <a:ea typeface="Segoe UI" pitchFamily="34" charset="-122"/>
                <a:cs typeface="Segoe UI" pitchFamily="34" charset="-120"/>
              </a:rPr>
              <a:t>NetChain</a:t>
            </a:r>
            <a:pPr indent="0" marL="0">
              <a:buNone/>
            </a:pPr>
            <a:r>
              <a:rPr lang="en-US" sz="900" dirty="0">
                <a:solidFill>
                  <a:srgbClr val="5F7486"/>
                </a:solidFill>
                <a:latin typeface="Segoe UI" pitchFamily="34" charset="0"/>
                <a:ea typeface="Segoe UI" pitchFamily="34" charset="-122"/>
                <a:cs typeface="Segoe UI" pitchFamily="34" charset="-120"/>
              </a:rPr>
              <a:t>  deep dive</a:t>
            </a:r>
            <a:endParaRPr lang="en-US" sz="900" dirty="0"/>
          </a:p>
        </p:txBody>
      </p:sp>
      <p:sp>
        <p:nvSpPr>
          <p:cNvPr id="6" name="Text 4"/>
          <p:cNvSpPr/>
          <p:nvPr/>
        </p:nvSpPr>
        <p:spPr>
          <a:xfrm>
            <a:off x="8808415" y="6446520"/>
            <a:ext cx="2743200" cy="274320"/>
          </a:xfrm>
          <a:prstGeom prst="rect">
            <a:avLst/>
          </a:prstGeom>
          <a:noFill/>
          <a:ln/>
        </p:spPr>
        <p:txBody>
          <a:bodyPr wrap="square" rtlCol="0" anchor="ctr"/>
          <a:lstStyle/>
          <a:p>
            <a:pPr algn="r" indent="0" marL="0">
              <a:buNone/>
            </a:pPr>
            <a:r>
              <a:rPr lang="en-US" sz="900" dirty="0">
                <a:solidFill>
                  <a:srgbClr val="5F7486"/>
                </a:solidFill>
                <a:latin typeface="Segoe UI" pitchFamily="34" charset="0"/>
                <a:ea typeface="Segoe UI" pitchFamily="34" charset="-122"/>
                <a:cs typeface="Segoe UI" pitchFamily="34" charset="-120"/>
              </a:rPr>
              <a:t>netchain.vercel.app</a:t>
            </a:r>
            <a:endParaRPr lang="en-US" sz="900" dirty="0"/>
          </a:p>
        </p:txBody>
      </p:sp>
      <p:sp>
        <p:nvSpPr>
          <p:cNvPr id="7" name="Shape 5"/>
          <p:cNvSpPr/>
          <p:nvPr/>
        </p:nvSpPr>
        <p:spPr>
          <a:xfrm>
            <a:off x="1005840" y="2286000"/>
            <a:ext cx="2377440" cy="914400"/>
          </a:xfrm>
          <a:prstGeom prst="roundRect">
            <a:avLst>
              <a:gd name="adj" fmla="val 8000"/>
            </a:avLst>
          </a:prstGeom>
          <a:solidFill>
            <a:srgbClr val="141C25"/>
          </a:solidFill>
          <a:ln w="19050">
            <a:solidFill>
              <a:srgbClr val="7FA6C9"/>
            </a:solidFill>
            <a:prstDash val="solid"/>
          </a:ln>
        </p:spPr>
      </p:sp>
      <p:sp>
        <p:nvSpPr>
          <p:cNvPr id="8" name="Text 6"/>
          <p:cNvSpPr/>
          <p:nvPr/>
        </p:nvSpPr>
        <p:spPr>
          <a:xfrm>
            <a:off x="1097280" y="2286000"/>
            <a:ext cx="2194560" cy="914400"/>
          </a:xfrm>
          <a:prstGeom prst="rect">
            <a:avLst/>
          </a:prstGeom>
          <a:noFill/>
          <a:ln/>
        </p:spPr>
        <p:txBody>
          <a:bodyPr wrap="square" rtlCol="0" anchor="ctr"/>
          <a:lstStyle/>
          <a:p>
            <a:pPr algn="ctr" indent="0" marL="0">
              <a:buNone/>
            </a:pPr>
            <a:r>
              <a:rPr lang="en-US" sz="1300" b="1" dirty="0">
                <a:solidFill>
                  <a:srgbClr val="E6EDF3"/>
                </a:solidFill>
                <a:latin typeface="Segoe UI" pitchFamily="34" charset="0"/>
                <a:ea typeface="Segoe UI" pitchFamily="34" charset="-122"/>
                <a:cs typeface="Segoe UI" pitchFamily="34" charset="-120"/>
              </a:rPr>
              <a:t>AI agent</a:t>
            </a:r>
            <a:endParaRPr lang="en-US" sz="1300" dirty="0"/>
          </a:p>
          <a:p>
            <a:pPr algn="ctr" indent="0" marL="0">
              <a:buNone/>
            </a:pPr>
            <a:r>
              <a:rPr lang="en-US" sz="1000" b="1" dirty="0">
                <a:solidFill>
                  <a:srgbClr val="8FA6B8"/>
                </a:solidFill>
                <a:latin typeface="Segoe UI" pitchFamily="34" charset="0"/>
                <a:ea typeface="Segoe UI" pitchFamily="34" charset="-122"/>
                <a:cs typeface="Segoe UI" pitchFamily="34" charset="-120"/>
              </a:rPr>
              <a:t>Claude or any MCP client</a:t>
            </a:r>
            <a:endParaRPr lang="en-US" sz="1300" dirty="0"/>
          </a:p>
        </p:txBody>
      </p:sp>
      <p:sp>
        <p:nvSpPr>
          <p:cNvPr id="9" name="Shape 7"/>
          <p:cNvSpPr/>
          <p:nvPr/>
        </p:nvSpPr>
        <p:spPr>
          <a:xfrm>
            <a:off x="4023360" y="2286000"/>
            <a:ext cx="2743200" cy="914400"/>
          </a:xfrm>
          <a:prstGeom prst="roundRect">
            <a:avLst>
              <a:gd name="adj" fmla="val 8000"/>
            </a:avLst>
          </a:prstGeom>
          <a:solidFill>
            <a:srgbClr val="141C25"/>
          </a:solidFill>
          <a:ln w="19050">
            <a:solidFill>
              <a:srgbClr val="7FA6C9"/>
            </a:solidFill>
            <a:prstDash val="solid"/>
          </a:ln>
        </p:spPr>
      </p:sp>
      <p:sp>
        <p:nvSpPr>
          <p:cNvPr id="10" name="Text 8"/>
          <p:cNvSpPr/>
          <p:nvPr/>
        </p:nvSpPr>
        <p:spPr>
          <a:xfrm>
            <a:off x="4114800" y="2286000"/>
            <a:ext cx="2560320" cy="914400"/>
          </a:xfrm>
          <a:prstGeom prst="rect">
            <a:avLst/>
          </a:prstGeom>
          <a:noFill/>
          <a:ln/>
        </p:spPr>
        <p:txBody>
          <a:bodyPr wrap="square" rtlCol="0" anchor="ctr"/>
          <a:lstStyle/>
          <a:p>
            <a:pPr algn="ctr" indent="0" marL="0">
              <a:buNone/>
            </a:pPr>
            <a:r>
              <a:rPr lang="en-US" sz="1300" b="1" dirty="0">
                <a:solidFill>
                  <a:srgbClr val="E6EDF3"/>
                </a:solidFill>
                <a:latin typeface="Segoe UI" pitchFamily="34" charset="0"/>
                <a:ea typeface="Segoe UI" pitchFamily="34" charset="-122"/>
                <a:cs typeface="Segoe UI" pitchFamily="34" charset="-120"/>
              </a:rPr>
              <a:t>NetChain MCP</a:t>
            </a:r>
            <a:endParaRPr lang="en-US" sz="1300" dirty="0"/>
          </a:p>
          <a:p>
            <a:pPr algn="ctr" indent="0" marL="0">
              <a:buNone/>
            </a:pPr>
            <a:r>
              <a:rPr lang="en-US" sz="1000" b="1" dirty="0">
                <a:solidFill>
                  <a:srgbClr val="8FA6B8"/>
                </a:solidFill>
                <a:latin typeface="Segoe UI" pitchFamily="34" charset="0"/>
                <a:ea typeface="Segoe UI" pitchFamily="34" charset="-122"/>
                <a:cs typeface="Segoe UI" pitchFamily="34" charset="-120"/>
              </a:rPr>
              <a:t>16 tools, thin pass-through</a:t>
            </a:r>
            <a:endParaRPr lang="en-US" sz="1300" dirty="0"/>
          </a:p>
        </p:txBody>
      </p:sp>
      <p:sp>
        <p:nvSpPr>
          <p:cNvPr id="11" name="Shape 9"/>
          <p:cNvSpPr/>
          <p:nvPr/>
        </p:nvSpPr>
        <p:spPr>
          <a:xfrm>
            <a:off x="7406640" y="2286000"/>
            <a:ext cx="2194560" cy="914400"/>
          </a:xfrm>
          <a:prstGeom prst="roundRect">
            <a:avLst>
              <a:gd name="adj" fmla="val 8000"/>
            </a:avLst>
          </a:prstGeom>
          <a:solidFill>
            <a:srgbClr val="141C25"/>
          </a:solidFill>
          <a:ln w="19050">
            <a:solidFill>
              <a:srgbClr val="7FA6C9"/>
            </a:solidFill>
            <a:prstDash val="solid"/>
          </a:ln>
        </p:spPr>
      </p:sp>
      <p:sp>
        <p:nvSpPr>
          <p:cNvPr id="12" name="Text 10"/>
          <p:cNvSpPr/>
          <p:nvPr/>
        </p:nvSpPr>
        <p:spPr>
          <a:xfrm>
            <a:off x="7498080" y="2286000"/>
            <a:ext cx="2011680" cy="914400"/>
          </a:xfrm>
          <a:prstGeom prst="rect">
            <a:avLst/>
          </a:prstGeom>
          <a:noFill/>
          <a:ln/>
        </p:spPr>
        <p:txBody>
          <a:bodyPr wrap="square" rtlCol="0" anchor="ctr"/>
          <a:lstStyle/>
          <a:p>
            <a:pPr algn="ctr" indent="0" marL="0">
              <a:buNone/>
            </a:pPr>
            <a:r>
              <a:rPr lang="en-US" sz="1300" b="1" dirty="0">
                <a:solidFill>
                  <a:srgbClr val="E6EDF3"/>
                </a:solidFill>
                <a:latin typeface="Segoe UI" pitchFamily="34" charset="0"/>
                <a:ea typeface="Segoe UI" pitchFamily="34" charset="-122"/>
                <a:cs typeface="Segoe UI" pitchFamily="34" charset="-120"/>
              </a:rPr>
              <a:t>HTTP API</a:t>
            </a:r>
            <a:endParaRPr lang="en-US" sz="1300" dirty="0"/>
          </a:p>
          <a:p>
            <a:pPr algn="ctr" indent="0" marL="0">
              <a:buNone/>
            </a:pPr>
            <a:r>
              <a:rPr lang="en-US" sz="1000" b="1" dirty="0">
                <a:solidFill>
                  <a:srgbClr val="8FA6B8"/>
                </a:solidFill>
                <a:latin typeface="Segoe UI" pitchFamily="34" charset="0"/>
                <a:ea typeface="Segoe UI" pitchFamily="34" charset="-122"/>
                <a:cs typeface="Segoe UI" pitchFamily="34" charset="-120"/>
              </a:rPr>
              <a:t>same routes as UI</a:t>
            </a:r>
            <a:endParaRPr lang="en-US" sz="1300" dirty="0"/>
          </a:p>
        </p:txBody>
      </p:sp>
      <p:sp>
        <p:nvSpPr>
          <p:cNvPr id="13" name="Shape 11"/>
          <p:cNvSpPr/>
          <p:nvPr/>
        </p:nvSpPr>
        <p:spPr>
          <a:xfrm>
            <a:off x="9966960" y="2286000"/>
            <a:ext cx="1554480" cy="914400"/>
          </a:xfrm>
          <a:prstGeom prst="roundRect">
            <a:avLst>
              <a:gd name="adj" fmla="val 8000"/>
            </a:avLst>
          </a:prstGeom>
          <a:solidFill>
            <a:srgbClr val="141C25"/>
          </a:solidFill>
          <a:ln w="19050">
            <a:solidFill>
              <a:srgbClr val="38E1A4"/>
            </a:solidFill>
            <a:prstDash val="solid"/>
          </a:ln>
        </p:spPr>
      </p:sp>
      <p:sp>
        <p:nvSpPr>
          <p:cNvPr id="14" name="Text 12"/>
          <p:cNvSpPr/>
          <p:nvPr/>
        </p:nvSpPr>
        <p:spPr>
          <a:xfrm>
            <a:off x="10058400" y="2286000"/>
            <a:ext cx="1371600" cy="914400"/>
          </a:xfrm>
          <a:prstGeom prst="rect">
            <a:avLst/>
          </a:prstGeom>
          <a:noFill/>
          <a:ln/>
        </p:spPr>
        <p:txBody>
          <a:bodyPr wrap="square" rtlCol="0" anchor="ctr"/>
          <a:lstStyle/>
          <a:p>
            <a:pPr algn="ctr" indent="0" marL="0">
              <a:buNone/>
            </a:pPr>
            <a:r>
              <a:rPr lang="en-US" sz="1300" b="1" dirty="0">
                <a:solidFill>
                  <a:srgbClr val="E6EDF3"/>
                </a:solidFill>
                <a:latin typeface="Segoe UI" pitchFamily="34" charset="0"/>
                <a:ea typeface="Segoe UI" pitchFamily="34" charset="-122"/>
                <a:cs typeface="Segoe UI" pitchFamily="34" charset="-120"/>
              </a:rPr>
              <a:t>Canton</a:t>
            </a:r>
            <a:endParaRPr lang="en-US" sz="1300" dirty="0"/>
          </a:p>
          <a:p>
            <a:pPr algn="ctr" indent="0" marL="0">
              <a:buNone/>
            </a:pPr>
            <a:r>
              <a:rPr lang="en-US" sz="1000" b="1" dirty="0">
                <a:solidFill>
                  <a:srgbClr val="8FA6B8"/>
                </a:solidFill>
                <a:latin typeface="Segoe UI" pitchFamily="34" charset="0"/>
                <a:ea typeface="Segoe UI" pitchFamily="34" charset="-122"/>
                <a:cs typeface="Segoe UI" pitchFamily="34" charset="-120"/>
              </a:rPr>
              <a:t>the ledger decides</a:t>
            </a:r>
            <a:endParaRPr lang="en-US" sz="1300" dirty="0"/>
          </a:p>
        </p:txBody>
      </p:sp>
      <p:sp>
        <p:nvSpPr>
          <p:cNvPr id="15" name="Shape 13"/>
          <p:cNvSpPr/>
          <p:nvPr/>
        </p:nvSpPr>
        <p:spPr>
          <a:xfrm>
            <a:off x="3383280" y="2743200"/>
            <a:ext cx="640080" cy="0"/>
          </a:xfrm>
          <a:prstGeom prst="line">
            <a:avLst/>
          </a:prstGeom>
          <a:noFill/>
          <a:ln w="22225">
            <a:solidFill>
              <a:srgbClr val="5F7486"/>
            </a:solidFill>
            <a:prstDash val="solid"/>
            <a:tailEnd type="triangle"/>
          </a:ln>
        </p:spPr>
      </p:sp>
      <p:sp>
        <p:nvSpPr>
          <p:cNvPr id="16" name="Shape 14"/>
          <p:cNvSpPr/>
          <p:nvPr/>
        </p:nvSpPr>
        <p:spPr>
          <a:xfrm>
            <a:off x="6766560" y="2743200"/>
            <a:ext cx="640080" cy="0"/>
          </a:xfrm>
          <a:prstGeom prst="line">
            <a:avLst/>
          </a:prstGeom>
          <a:noFill/>
          <a:ln w="22225">
            <a:solidFill>
              <a:srgbClr val="5F7486"/>
            </a:solidFill>
            <a:prstDash val="solid"/>
            <a:tailEnd type="triangle"/>
          </a:ln>
        </p:spPr>
      </p:sp>
      <p:sp>
        <p:nvSpPr>
          <p:cNvPr id="17" name="Shape 15"/>
          <p:cNvSpPr/>
          <p:nvPr/>
        </p:nvSpPr>
        <p:spPr>
          <a:xfrm>
            <a:off x="9601200" y="2743200"/>
            <a:ext cx="365760" cy="0"/>
          </a:xfrm>
          <a:prstGeom prst="line">
            <a:avLst/>
          </a:prstGeom>
          <a:noFill/>
          <a:ln w="22225">
            <a:solidFill>
              <a:srgbClr val="5F7486"/>
            </a:solidFill>
            <a:prstDash val="solid"/>
            <a:tailEnd type="triangle"/>
          </a:ln>
        </p:spPr>
      </p:sp>
      <p:sp>
        <p:nvSpPr>
          <p:cNvPr id="18" name="Shape 16"/>
          <p:cNvSpPr/>
          <p:nvPr/>
        </p:nvSpPr>
        <p:spPr>
          <a:xfrm flipV="1">
            <a:off x="10744200" y="3246120"/>
            <a:ext cx="0" cy="320040"/>
          </a:xfrm>
          <a:prstGeom prst="line">
            <a:avLst/>
          </a:prstGeom>
          <a:noFill/>
          <a:ln w="22225">
            <a:solidFill>
              <a:srgbClr val="E8846B"/>
            </a:solidFill>
            <a:prstDash val="solid"/>
            <a:tailEnd type="triangle"/>
          </a:ln>
        </p:spPr>
      </p:sp>
      <p:sp>
        <p:nvSpPr>
          <p:cNvPr id="19" name="Shape 17"/>
          <p:cNvSpPr/>
          <p:nvPr/>
        </p:nvSpPr>
        <p:spPr>
          <a:xfrm>
            <a:off x="7955280" y="3611880"/>
            <a:ext cx="3108960" cy="310896"/>
          </a:xfrm>
          <a:prstGeom prst="roundRect">
            <a:avLst>
              <a:gd name="adj" fmla="val 50000"/>
            </a:avLst>
          </a:prstGeom>
          <a:solidFill>
            <a:srgbClr val="141C25"/>
          </a:solidFill>
          <a:ln w="12700">
            <a:solidFill>
              <a:srgbClr val="E8846B"/>
            </a:solidFill>
            <a:prstDash val="solid"/>
          </a:ln>
        </p:spPr>
      </p:sp>
      <p:sp>
        <p:nvSpPr>
          <p:cNvPr id="20" name="Text 18"/>
          <p:cNvSpPr/>
          <p:nvPr/>
        </p:nvSpPr>
        <p:spPr>
          <a:xfrm>
            <a:off x="7955280" y="3611880"/>
            <a:ext cx="3108960" cy="310896"/>
          </a:xfrm>
          <a:prstGeom prst="rect">
            <a:avLst/>
          </a:prstGeom>
          <a:noFill/>
          <a:ln/>
        </p:spPr>
        <p:txBody>
          <a:bodyPr wrap="square" rtlCol="0" anchor="ctr"/>
          <a:lstStyle/>
          <a:p>
            <a:pPr algn="ctr" indent="0" marL="0">
              <a:buNone/>
            </a:pPr>
            <a:r>
              <a:rPr lang="en-US" sz="1000" b="1" dirty="0">
                <a:solidFill>
                  <a:srgbClr val="E8846B"/>
                </a:solidFill>
                <a:latin typeface="Segoe UI" pitchFamily="34" charset="0"/>
                <a:ea typeface="Segoe UI" pitchFamily="34" charset="-122"/>
                <a:cs typeface="Segoe UI" pitchFamily="34" charset="-120"/>
              </a:rPr>
              <a:t>TreasuryPolicy blocks over-cap</a:t>
            </a:r>
            <a:endParaRPr lang="en-US" sz="1000" dirty="0"/>
          </a:p>
        </p:txBody>
      </p:sp>
      <p:sp>
        <p:nvSpPr>
          <p:cNvPr id="21" name="Text 19"/>
          <p:cNvSpPr/>
          <p:nvPr/>
        </p:nvSpPr>
        <p:spPr>
          <a:xfrm>
            <a:off x="640080" y="4114800"/>
            <a:ext cx="10911535" cy="2926080"/>
          </a:xfrm>
          <a:prstGeom prst="rect">
            <a:avLst/>
          </a:prstGeom>
          <a:noFill/>
          <a:ln/>
        </p:spPr>
        <p:txBody>
          <a:bodyPr wrap="square" rtlCol="0" anchor="t"/>
          <a:lstStyle/>
          <a:p>
            <a:pPr marL="203200" indent="-203200">
              <a:lnSpc>
                <a:spcPct val="120000"/>
              </a:lnSpc>
              <a:spcAft>
                <a:spcPts val="800"/>
              </a:spcAft>
              <a:buSzPct val="100000"/>
              <a:buChar char="•"/>
            </a:pPr>
            <a:r>
              <a:rPr lang="en-US" sz="1300" dirty="0">
                <a:solidFill>
                  <a:srgbClr val="E6EDF3"/>
                </a:solidFill>
                <a:latin typeface="Segoe UI" pitchFamily="34" charset="0"/>
                <a:ea typeface="Segoe UI" pitchFamily="34" charset="-122"/>
                <a:cs typeface="Segoe UI" pitchFamily="34" charset="-120"/>
              </a:rPr>
              <a:t>The agent can propose any obligation, cycle, or settlement, list/create/accept/net/settle, propose or approve caps.</a:t>
            </a:r>
            <a:endParaRPr lang="en-US" sz="1300" dirty="0"/>
          </a:p>
          <a:p>
            <a:pPr marL="203200" indent="-203200">
              <a:lnSpc>
                <a:spcPct val="120000"/>
              </a:lnSpc>
              <a:spcAft>
                <a:spcPts val="800"/>
              </a:spcAft>
              <a:buSzPct val="100000"/>
              <a:buChar char="•"/>
            </a:pPr>
            <a:r>
              <a:rPr lang="en-US" sz="1300" dirty="0">
                <a:solidFill>
                  <a:srgbClr val="E6EDF3"/>
                </a:solidFill>
                <a:latin typeface="Segoe UI" pitchFamily="34" charset="0"/>
                <a:ea typeface="Segoe UI" pitchFamily="34" charset="-122"/>
                <a:cs typeface="Segoe UI" pitchFamily="34" charset="-120"/>
              </a:rPr>
              <a:t>It CANNOT make the ledger accept an over-cap settle, raise its own cap, or self-approve a debt: those live in the Daml, not the prompt.</a:t>
            </a:r>
            <a:endParaRPr lang="en-US" sz="1300" dirty="0"/>
          </a:p>
          <a:p>
            <a:pPr marL="203200" indent="-203200">
              <a:lnSpc>
                <a:spcPct val="120000"/>
              </a:lnSpc>
              <a:spcAft>
                <a:spcPts val="800"/>
              </a:spcAft>
              <a:buSzPct val="100000"/>
              <a:buChar char="•"/>
            </a:pPr>
            <a:r>
              <a:rPr lang="en-US" sz="1300" dirty="0">
                <a:solidFill>
                  <a:srgbClr val="E6EDF3"/>
                </a:solidFill>
                <a:latin typeface="Segoe UI" pitchFamily="34" charset="0"/>
                <a:ea typeface="Segoe UI" pitchFamily="34" charset="-122"/>
                <a:cs typeface="Segoe UI" pitchFamily="34" charset="-120"/>
              </a:rPr>
              <a:t>'AI proposes, the ledger disposes.' A concrete answer to agent authority without an unbounded blast radius.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7FA6C9"/>
          </a:solidFill>
          <a:ln/>
        </p:spPr>
      </p:sp>
      <p:sp>
        <p:nvSpPr>
          <p:cNvPr id="3" name="Text 1"/>
          <p:cNvSpPr/>
          <p:nvPr/>
        </p:nvSpPr>
        <p:spPr>
          <a:xfrm>
            <a:off x="640080" y="384048"/>
            <a:ext cx="10911535" cy="274320"/>
          </a:xfrm>
          <a:prstGeom prst="rect">
            <a:avLst/>
          </a:prstGeom>
          <a:noFill/>
          <a:ln/>
        </p:spPr>
        <p:txBody>
          <a:bodyPr wrap="square" rtlCol="0" anchor="ctr"/>
          <a:lstStyle/>
          <a:p>
            <a:pPr indent="0" marL="0">
              <a:buNone/>
            </a:pPr>
            <a:r>
              <a:rPr lang="en-US" sz="1100" b="1" spc="300" kern="0" dirty="0">
                <a:solidFill>
                  <a:srgbClr val="7FA6C9"/>
                </a:solidFill>
                <a:latin typeface="Segoe UI" pitchFamily="34" charset="0"/>
                <a:ea typeface="Segoe UI" pitchFamily="34" charset="-122"/>
                <a:cs typeface="Segoe UI" pitchFamily="34" charset="-120"/>
              </a:rPr>
              <a:t>PROOF</a:t>
            </a:r>
            <a:endParaRPr lang="en-US" sz="1100" dirty="0"/>
          </a:p>
        </p:txBody>
      </p:sp>
      <p:sp>
        <p:nvSpPr>
          <p:cNvPr id="4" name="Text 2"/>
          <p:cNvSpPr/>
          <p:nvPr/>
        </p:nvSpPr>
        <p:spPr>
          <a:xfrm>
            <a:off x="640080" y="658368"/>
            <a:ext cx="10911535" cy="731520"/>
          </a:xfrm>
          <a:prstGeom prst="rect">
            <a:avLst/>
          </a:prstGeom>
          <a:noFill/>
          <a:ln/>
        </p:spPr>
        <p:txBody>
          <a:bodyPr wrap="square" rtlCol="0" anchor="ctr"/>
          <a:lstStyle/>
          <a:p>
            <a:pPr indent="0" marL="0">
              <a:buNone/>
            </a:pPr>
            <a:r>
              <a:rPr lang="en-US" sz="2700" b="1" dirty="0">
                <a:solidFill>
                  <a:srgbClr val="E6EDF3"/>
                </a:solidFill>
                <a:latin typeface="Segoe UI" pitchFamily="34" charset="0"/>
                <a:ea typeface="Segoe UI" pitchFamily="34" charset="-122"/>
                <a:cs typeface="Segoe UI" pitchFamily="34" charset="-120"/>
              </a:rPr>
              <a:t>Every settlement is a verifiable on-ledger fact</a:t>
            </a:r>
            <a:endParaRPr lang="en-US" sz="2700" dirty="0"/>
          </a:p>
        </p:txBody>
      </p:sp>
      <p:sp>
        <p:nvSpPr>
          <p:cNvPr id="5" name="Text 3"/>
          <p:cNvSpPr/>
          <p:nvPr/>
        </p:nvSpPr>
        <p:spPr>
          <a:xfrm>
            <a:off x="640080" y="6446520"/>
            <a:ext cx="5486400" cy="274320"/>
          </a:xfrm>
          <a:prstGeom prst="rect">
            <a:avLst/>
          </a:prstGeom>
          <a:noFill/>
          <a:ln/>
        </p:spPr>
        <p:txBody>
          <a:bodyPr wrap="square" rtlCol="0" anchor="ctr"/>
          <a:lstStyle/>
          <a:p>
            <a:pPr indent="0" marL="0">
              <a:buNone/>
            </a:pPr>
            <a:r>
              <a:rPr lang="en-US" sz="900" b="1" dirty="0">
                <a:solidFill>
                  <a:srgbClr val="E6EDF3"/>
                </a:solidFill>
                <a:latin typeface="Segoe UI" pitchFamily="34" charset="0"/>
                <a:ea typeface="Segoe UI" pitchFamily="34" charset="-122"/>
                <a:cs typeface="Segoe UI" pitchFamily="34" charset="-120"/>
              </a:rPr>
              <a:t>NetChain</a:t>
            </a:r>
            <a:pPr indent="0" marL="0">
              <a:buNone/>
            </a:pPr>
            <a:r>
              <a:rPr lang="en-US" sz="900" dirty="0">
                <a:solidFill>
                  <a:srgbClr val="5F7486"/>
                </a:solidFill>
                <a:latin typeface="Segoe UI" pitchFamily="34" charset="0"/>
                <a:ea typeface="Segoe UI" pitchFamily="34" charset="-122"/>
                <a:cs typeface="Segoe UI" pitchFamily="34" charset="-120"/>
              </a:rPr>
              <a:t>  deep dive</a:t>
            </a:r>
            <a:endParaRPr lang="en-US" sz="900" dirty="0"/>
          </a:p>
        </p:txBody>
      </p:sp>
      <p:sp>
        <p:nvSpPr>
          <p:cNvPr id="6" name="Text 4"/>
          <p:cNvSpPr/>
          <p:nvPr/>
        </p:nvSpPr>
        <p:spPr>
          <a:xfrm>
            <a:off x="8808415" y="6446520"/>
            <a:ext cx="2743200" cy="274320"/>
          </a:xfrm>
          <a:prstGeom prst="rect">
            <a:avLst/>
          </a:prstGeom>
          <a:noFill/>
          <a:ln/>
        </p:spPr>
        <p:txBody>
          <a:bodyPr wrap="square" rtlCol="0" anchor="ctr"/>
          <a:lstStyle/>
          <a:p>
            <a:pPr algn="r" indent="0" marL="0">
              <a:buNone/>
            </a:pPr>
            <a:r>
              <a:rPr lang="en-US" sz="900" dirty="0">
                <a:solidFill>
                  <a:srgbClr val="5F7486"/>
                </a:solidFill>
                <a:latin typeface="Segoe UI" pitchFamily="34" charset="0"/>
                <a:ea typeface="Segoe UI" pitchFamily="34" charset="-122"/>
                <a:cs typeface="Segoe UI" pitchFamily="34" charset="-120"/>
              </a:rPr>
              <a:t>netchain.vercel.app</a:t>
            </a:r>
            <a:endParaRPr lang="en-US" sz="900" dirty="0"/>
          </a:p>
        </p:txBody>
      </p:sp>
      <p:sp>
        <p:nvSpPr>
          <p:cNvPr id="7" name="Shape 5"/>
          <p:cNvSpPr/>
          <p:nvPr/>
        </p:nvSpPr>
        <p:spPr>
          <a:xfrm>
            <a:off x="640080" y="1645920"/>
            <a:ext cx="5120640" cy="3840480"/>
          </a:xfrm>
          <a:prstGeom prst="roundRect">
            <a:avLst>
              <a:gd name="adj" fmla="val 2143"/>
            </a:avLst>
          </a:prstGeom>
          <a:solidFill>
            <a:srgbClr val="141C25"/>
          </a:solidFill>
          <a:ln w="12700">
            <a:solidFill>
              <a:srgbClr val="223040"/>
            </a:solidFill>
            <a:prstDash val="solid"/>
          </a:ln>
        </p:spPr>
      </p:sp>
      <p:sp>
        <p:nvSpPr>
          <p:cNvPr id="8" name="Text 6"/>
          <p:cNvSpPr/>
          <p:nvPr/>
        </p:nvSpPr>
        <p:spPr>
          <a:xfrm>
            <a:off x="914400" y="1920240"/>
            <a:ext cx="4572000" cy="365760"/>
          </a:xfrm>
          <a:prstGeom prst="rect">
            <a:avLst/>
          </a:prstGeom>
          <a:noFill/>
          <a:ln/>
        </p:spPr>
        <p:txBody>
          <a:bodyPr wrap="square" rtlCol="0" anchor="ctr"/>
          <a:lstStyle/>
          <a:p>
            <a:pPr indent="0" marL="0">
              <a:buNone/>
            </a:pPr>
            <a:r>
              <a:rPr lang="en-US" sz="1500" b="1" dirty="0">
                <a:solidFill>
                  <a:srgbClr val="7FA6C9"/>
                </a:solidFill>
                <a:latin typeface="Segoe UI" pitchFamily="34" charset="0"/>
                <a:ea typeface="Segoe UI" pitchFamily="34" charset="-122"/>
                <a:cs typeface="Segoe UI" pitchFamily="34" charset="-120"/>
              </a:rPr>
              <a:t>updateId = the ledger receipt</a:t>
            </a:r>
            <a:endParaRPr lang="en-US" sz="1500" dirty="0"/>
          </a:p>
        </p:txBody>
      </p:sp>
      <p:sp>
        <p:nvSpPr>
          <p:cNvPr id="9" name="Text 7"/>
          <p:cNvSpPr/>
          <p:nvPr/>
        </p:nvSpPr>
        <p:spPr>
          <a:xfrm>
            <a:off x="914400" y="2331720"/>
            <a:ext cx="4572000" cy="2926080"/>
          </a:xfrm>
          <a:prstGeom prst="rect">
            <a:avLst/>
          </a:prstGeom>
          <a:noFill/>
          <a:ln/>
        </p:spPr>
        <p:txBody>
          <a:bodyPr wrap="square" rtlCol="0" anchor="t"/>
          <a:lstStyle/>
          <a:p>
            <a:pPr marL="203200" indent="-203200">
              <a:lnSpc>
                <a:spcPct val="120000"/>
              </a:lnSpc>
              <a:spcAft>
                <a:spcPts val="800"/>
              </a:spcAft>
              <a:buSzPct val="100000"/>
              <a:buChar char="•"/>
            </a:pPr>
            <a:r>
              <a:rPr lang="en-US" sz="1250" dirty="0">
                <a:solidFill>
                  <a:srgbClr val="E6EDF3"/>
                </a:solidFill>
                <a:latin typeface="Segoe UI" pitchFamily="34" charset="0"/>
                <a:ea typeface="Segoe UI" pitchFamily="34" charset="-122"/>
                <a:cs typeface="Segoe UI" pitchFamily="34" charset="-120"/>
              </a:rPr>
              <a:t>Settle returns a real updateId from the validator's submit-and-wait, not a client-side hash.</a:t>
            </a:r>
            <a:endParaRPr lang="en-US" sz="1250" dirty="0"/>
          </a:p>
          <a:p>
            <a:pPr marL="203200" indent="-203200">
              <a:lnSpc>
                <a:spcPct val="120000"/>
              </a:lnSpc>
              <a:spcAft>
                <a:spcPts val="800"/>
              </a:spcAft>
              <a:buSzPct val="100000"/>
              <a:buChar char="•"/>
            </a:pPr>
            <a:r>
              <a:rPr lang="en-US" sz="1250" dirty="0">
                <a:solidFill>
                  <a:srgbClr val="E6EDF3"/>
                </a:solidFill>
                <a:latin typeface="Segoe UI" pitchFamily="34" charset="0"/>
                <a:ea typeface="Segoe UI" pitchFamily="34" charset="-122"/>
                <a:cs typeface="Segoe UI" pitchFamily="34" charset="-120"/>
              </a:rPr>
              <a:t>'Re-verify live' re-fetches that exact id via /v2/updates/update-by-id: confirmed = true + effectiveAt.</a:t>
            </a:r>
            <a:endParaRPr lang="en-US" sz="1250" dirty="0"/>
          </a:p>
          <a:p>
            <a:pPr marL="203200" indent="-203200">
              <a:lnSpc>
                <a:spcPct val="120000"/>
              </a:lnSpc>
              <a:spcAft>
                <a:spcPts val="800"/>
              </a:spcAft>
              <a:buSzPct val="100000"/>
              <a:buChar char="•"/>
            </a:pPr>
            <a:r>
              <a:rPr lang="en-US" sz="1250" dirty="0">
                <a:solidFill>
                  <a:srgbClr val="E6EDF3"/>
                </a:solidFill>
                <a:latin typeface="Segoe UI" pitchFamily="34" charset="0"/>
                <a:ea typeface="Segoe UI" pitchFamily="34" charset="-122"/>
                <a:cs typeface="Segoe UI" pitchFamily="34" charset="-120"/>
              </a:rPr>
              <a:t>A bogus/forged id returns confirmed = false.</a:t>
            </a:r>
            <a:endParaRPr lang="en-US" sz="1250" dirty="0"/>
          </a:p>
          <a:p>
            <a:pPr marL="203200" indent="-203200">
              <a:lnSpc>
                <a:spcPct val="120000"/>
              </a:lnSpc>
              <a:spcAft>
                <a:spcPts val="800"/>
              </a:spcAft>
              <a:buSzPct val="100000"/>
              <a:buChar char="•"/>
            </a:pPr>
            <a:r>
              <a:rPr lang="en-US" sz="1250" dirty="0">
                <a:solidFill>
                  <a:srgbClr val="E6EDF3"/>
                </a:solidFill>
                <a:latin typeface="Segoe UI" pitchFamily="34" charset="0"/>
                <a:ea typeface="Segoe UI" pitchFamily="34" charset="-122"/>
                <a:cs typeface="Segoe UI" pitchFamily="34" charset="-120"/>
              </a:rPr>
              <a:t>No public explorer can show it, sub-transaction contents are private by design; the operator-scoped verify IS the explorer.</a:t>
            </a:r>
            <a:endParaRPr lang="en-US" sz="1250" dirty="0"/>
          </a:p>
        </p:txBody>
      </p:sp>
      <p:sp>
        <p:nvSpPr>
          <p:cNvPr id="10" name="Shape 8"/>
          <p:cNvSpPr/>
          <p:nvPr/>
        </p:nvSpPr>
        <p:spPr>
          <a:xfrm>
            <a:off x="6035040" y="1645920"/>
            <a:ext cx="5513832" cy="3840480"/>
          </a:xfrm>
          <a:prstGeom prst="roundRect">
            <a:avLst>
              <a:gd name="adj" fmla="val 2143"/>
            </a:avLst>
          </a:prstGeom>
          <a:solidFill>
            <a:srgbClr val="0E1620"/>
          </a:solidFill>
          <a:ln w="12700">
            <a:solidFill>
              <a:srgbClr val="223040"/>
            </a:solidFill>
            <a:prstDash val="solid"/>
          </a:ln>
        </p:spPr>
      </p:sp>
      <p:sp>
        <p:nvSpPr>
          <p:cNvPr id="11" name="Text 9"/>
          <p:cNvSpPr/>
          <p:nvPr/>
        </p:nvSpPr>
        <p:spPr>
          <a:xfrm>
            <a:off x="6263640" y="1920240"/>
            <a:ext cx="5029200" cy="3291840"/>
          </a:xfrm>
          <a:prstGeom prst="rect">
            <a:avLst/>
          </a:prstGeom>
          <a:noFill/>
          <a:ln/>
        </p:spPr>
        <p:txBody>
          <a:bodyPr wrap="square" rtlCol="0" anchor="t"/>
          <a:lstStyle/>
          <a:p>
            <a:pPr indent="0" marL="0">
              <a:lnSpc>
                <a:spcPct val="125000"/>
              </a:lnSpc>
              <a:buNone/>
            </a:pPr>
            <a:r>
              <a:rPr lang="en-US" sz="1200" dirty="0">
                <a:solidFill>
                  <a:srgbClr val="38E1A4"/>
                </a:solidFill>
                <a:latin typeface="Consolas" pitchFamily="34" charset="0"/>
                <a:ea typeface="Consolas" pitchFamily="34" charset="-122"/>
                <a:cs typeface="Consolas" pitchFamily="34" charset="-120"/>
              </a:rPr>
              <a:t>GET /api/ledger/verify?updateId=1220ab1b…
</a:t>
            </a:r>
            <a:pPr indent="0" marL="0">
              <a:lnSpc>
                <a:spcPct val="125000"/>
              </a:lnSpc>
              <a:buNone/>
            </a:pPr>
            <a:r>
              <a:rPr lang="en-US" sz="1200" dirty="0">
                <a:solidFill>
                  <a:srgbClr val="E6EDF3"/>
                </a:solidFill>
                <a:latin typeface="Consolas" pitchFamily="34" charset="0"/>
                <a:ea typeface="Consolas" pitchFamily="34" charset="-122"/>
                <a:cs typeface="Consolas" pitchFamily="34" charset="-120"/>
              </a:rPr>
              <a:t>{</a:t>
            </a:r>
            <a:endParaRPr lang="en-US" sz="1200" dirty="0"/>
          </a:p>
          <a:p>
            <a:pPr indent="0" marL="0">
              <a:lnSpc>
                <a:spcPct val="125000"/>
              </a:lnSpc>
              <a:buNone/>
            </a:pPr>
            <a:r>
              <a:rPr lang="en-US" sz="1200" dirty="0">
                <a:solidFill>
                  <a:srgbClr val="E6EDF3"/>
                </a:solidFill>
                <a:latin typeface="Consolas" pitchFamily="34" charset="0"/>
                <a:ea typeface="Consolas" pitchFamily="34" charset="-122"/>
                <a:cs typeface="Consolas" pitchFamily="34" charset="-120"/>
              </a:rPr>
              <a:t>  "confirmed": true,</a:t>
            </a:r>
            <a:endParaRPr lang="en-US" sz="1200" dirty="0"/>
          </a:p>
          <a:p>
            <a:pPr indent="0" marL="0">
              <a:lnSpc>
                <a:spcPct val="125000"/>
              </a:lnSpc>
              <a:buNone/>
            </a:pPr>
            <a:r>
              <a:rPr lang="en-US" sz="1200" dirty="0">
                <a:solidFill>
                  <a:srgbClr val="E6EDF3"/>
                </a:solidFill>
                <a:latin typeface="Consolas" pitchFamily="34" charset="0"/>
                <a:ea typeface="Consolas" pitchFamily="34" charset="-122"/>
                <a:cs typeface="Consolas" pitchFamily="34" charset="-120"/>
              </a:rPr>
              <a:t>  "effectiveAt": "2026-07-12T07:29:51Z",</a:t>
            </a:r>
            <a:endParaRPr lang="en-US" sz="1200" dirty="0"/>
          </a:p>
          <a:p>
            <a:pPr indent="0" marL="0">
              <a:lnSpc>
                <a:spcPct val="125000"/>
              </a:lnSpc>
              <a:buNone/>
            </a:pPr>
            <a:r>
              <a:rPr lang="en-US" sz="1200" dirty="0">
                <a:solidFill>
                  <a:srgbClr val="E6EDF3"/>
                </a:solidFill>
                <a:latin typeface="Consolas" pitchFamily="34" charset="0"/>
                <a:ea typeface="Consolas" pitchFamily="34" charset="-122"/>
                <a:cs typeface="Consolas" pitchFamily="34" charset="-120"/>
              </a:rPr>
              <a:t>  "validator":</a:t>
            </a:r>
            <a:endParaRPr lang="en-US" sz="1200" dirty="0"/>
          </a:p>
          <a:p>
            <a:pPr indent="0" marL="0">
              <a:lnSpc>
                <a:spcPct val="125000"/>
              </a:lnSpc>
              <a:buNone/>
            </a:pPr>
            <a:r>
              <a:rPr lang="en-US" sz="1200" dirty="0">
                <a:solidFill>
                  <a:srgbClr val="E6EDF3"/>
                </a:solidFill>
                <a:latin typeface="Consolas" pitchFamily="34" charset="0"/>
                <a:ea typeface="Consolas" pitchFamily="34" charset="-122"/>
                <a:cs typeface="Consolas" pitchFamily="34" charset="-120"/>
              </a:rPr>
              <a:t>    "ledger-api.validator.devnet…fivenorth.io"</a:t>
            </a:r>
            <a:endParaRPr lang="en-US" sz="1200" dirty="0"/>
          </a:p>
          <a:p>
            <a:pPr indent="0" marL="0">
              <a:lnSpc>
                <a:spcPct val="125000"/>
              </a:lnSpc>
              <a:buNone/>
            </a:pPr>
            <a:r>
              <a:rPr lang="en-US" sz="1200" dirty="0">
                <a:solidFill>
                  <a:srgbClr val="E6EDF3"/>
                </a:solidFill>
                <a:latin typeface="Consolas" pitchFamily="34" charset="0"/>
                <a:ea typeface="Consolas" pitchFamily="34" charset="-122"/>
                <a:cs typeface="Consolas" pitchFamily="34" charset="-120"/>
              </a:rPr>
              <a:t>}</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7FA6C9"/>
          </a:solidFill>
          <a:ln/>
        </p:spPr>
      </p:sp>
      <p:sp>
        <p:nvSpPr>
          <p:cNvPr id="3" name="Text 1"/>
          <p:cNvSpPr/>
          <p:nvPr/>
        </p:nvSpPr>
        <p:spPr>
          <a:xfrm>
            <a:off x="640080" y="384048"/>
            <a:ext cx="10911535" cy="274320"/>
          </a:xfrm>
          <a:prstGeom prst="rect">
            <a:avLst/>
          </a:prstGeom>
          <a:noFill/>
          <a:ln/>
        </p:spPr>
        <p:txBody>
          <a:bodyPr wrap="square" rtlCol="0" anchor="ctr"/>
          <a:lstStyle/>
          <a:p>
            <a:pPr indent="0" marL="0">
              <a:buNone/>
            </a:pPr>
            <a:r>
              <a:rPr lang="en-US" sz="1100" b="1" spc="300" kern="0" dirty="0">
                <a:solidFill>
                  <a:srgbClr val="7FA6C9"/>
                </a:solidFill>
                <a:latin typeface="Segoe UI" pitchFamily="34" charset="0"/>
                <a:ea typeface="Segoe UI" pitchFamily="34" charset="-122"/>
                <a:cs typeface="Segoe UI" pitchFamily="34" charset="-120"/>
              </a:rPr>
              <a:t>LIVE ON CANTON</a:t>
            </a:r>
            <a:endParaRPr lang="en-US" sz="1100" dirty="0"/>
          </a:p>
        </p:txBody>
      </p:sp>
      <p:sp>
        <p:nvSpPr>
          <p:cNvPr id="4" name="Text 2"/>
          <p:cNvSpPr/>
          <p:nvPr/>
        </p:nvSpPr>
        <p:spPr>
          <a:xfrm>
            <a:off x="640080" y="658368"/>
            <a:ext cx="10911535" cy="731520"/>
          </a:xfrm>
          <a:prstGeom prst="rect">
            <a:avLst/>
          </a:prstGeom>
          <a:noFill/>
          <a:ln/>
        </p:spPr>
        <p:txBody>
          <a:bodyPr wrap="square" rtlCol="0" anchor="ctr"/>
          <a:lstStyle/>
          <a:p>
            <a:pPr indent="0" marL="0">
              <a:buNone/>
            </a:pPr>
            <a:r>
              <a:rPr lang="en-US" sz="2700" b="1" dirty="0">
                <a:solidFill>
                  <a:srgbClr val="E6EDF3"/>
                </a:solidFill>
                <a:latin typeface="Segoe UI" pitchFamily="34" charset="0"/>
                <a:ea typeface="Segoe UI" pitchFamily="34" charset="-122"/>
                <a:cs typeface="Segoe UI" pitchFamily="34" charset="-120"/>
              </a:rPr>
              <a:t>Shipped as live Smart Contract Upgrades, no downtime</a:t>
            </a:r>
            <a:endParaRPr lang="en-US" sz="2700" dirty="0"/>
          </a:p>
        </p:txBody>
      </p:sp>
      <p:sp>
        <p:nvSpPr>
          <p:cNvPr id="5" name="Text 3"/>
          <p:cNvSpPr/>
          <p:nvPr/>
        </p:nvSpPr>
        <p:spPr>
          <a:xfrm>
            <a:off x="640080" y="6446520"/>
            <a:ext cx="5486400" cy="274320"/>
          </a:xfrm>
          <a:prstGeom prst="rect">
            <a:avLst/>
          </a:prstGeom>
          <a:noFill/>
          <a:ln/>
        </p:spPr>
        <p:txBody>
          <a:bodyPr wrap="square" rtlCol="0" anchor="ctr"/>
          <a:lstStyle/>
          <a:p>
            <a:pPr indent="0" marL="0">
              <a:buNone/>
            </a:pPr>
            <a:r>
              <a:rPr lang="en-US" sz="900" b="1" dirty="0">
                <a:solidFill>
                  <a:srgbClr val="E6EDF3"/>
                </a:solidFill>
                <a:latin typeface="Segoe UI" pitchFamily="34" charset="0"/>
                <a:ea typeface="Segoe UI" pitchFamily="34" charset="-122"/>
                <a:cs typeface="Segoe UI" pitchFamily="34" charset="-120"/>
              </a:rPr>
              <a:t>NetChain</a:t>
            </a:r>
            <a:pPr indent="0" marL="0">
              <a:buNone/>
            </a:pPr>
            <a:r>
              <a:rPr lang="en-US" sz="900" dirty="0">
                <a:solidFill>
                  <a:srgbClr val="5F7486"/>
                </a:solidFill>
                <a:latin typeface="Segoe UI" pitchFamily="34" charset="0"/>
                <a:ea typeface="Segoe UI" pitchFamily="34" charset="-122"/>
                <a:cs typeface="Segoe UI" pitchFamily="34" charset="-120"/>
              </a:rPr>
              <a:t>  deep dive</a:t>
            </a:r>
            <a:endParaRPr lang="en-US" sz="900" dirty="0"/>
          </a:p>
        </p:txBody>
      </p:sp>
      <p:sp>
        <p:nvSpPr>
          <p:cNvPr id="6" name="Text 4"/>
          <p:cNvSpPr/>
          <p:nvPr/>
        </p:nvSpPr>
        <p:spPr>
          <a:xfrm>
            <a:off x="8808415" y="6446520"/>
            <a:ext cx="2743200" cy="274320"/>
          </a:xfrm>
          <a:prstGeom prst="rect">
            <a:avLst/>
          </a:prstGeom>
          <a:noFill/>
          <a:ln/>
        </p:spPr>
        <p:txBody>
          <a:bodyPr wrap="square" rtlCol="0" anchor="ctr"/>
          <a:lstStyle/>
          <a:p>
            <a:pPr algn="r" indent="0" marL="0">
              <a:buNone/>
            </a:pPr>
            <a:r>
              <a:rPr lang="en-US" sz="900" dirty="0">
                <a:solidFill>
                  <a:srgbClr val="5F7486"/>
                </a:solidFill>
                <a:latin typeface="Segoe UI" pitchFamily="34" charset="0"/>
                <a:ea typeface="Segoe UI" pitchFamily="34" charset="-122"/>
                <a:cs typeface="Segoe UI" pitchFamily="34" charset="-120"/>
              </a:rPr>
              <a:t>netchain.vercel.app</a:t>
            </a:r>
            <a:endParaRPr lang="en-US" sz="900" dirty="0"/>
          </a:p>
        </p:txBody>
      </p:sp>
      <p:sp>
        <p:nvSpPr>
          <p:cNvPr id="7" name="Shape 5"/>
          <p:cNvSpPr/>
          <p:nvPr/>
        </p:nvSpPr>
        <p:spPr>
          <a:xfrm>
            <a:off x="640080" y="2651760"/>
            <a:ext cx="1965960" cy="1280160"/>
          </a:xfrm>
          <a:prstGeom prst="roundRect">
            <a:avLst>
              <a:gd name="adj" fmla="val 5714"/>
            </a:avLst>
          </a:prstGeom>
          <a:solidFill>
            <a:srgbClr val="141C25"/>
          </a:solidFill>
          <a:ln w="19050">
            <a:solidFill>
              <a:srgbClr val="7FA6C9"/>
            </a:solidFill>
            <a:prstDash val="solid"/>
          </a:ln>
        </p:spPr>
      </p:sp>
      <p:sp>
        <p:nvSpPr>
          <p:cNvPr id="8" name="Text 6"/>
          <p:cNvSpPr/>
          <p:nvPr/>
        </p:nvSpPr>
        <p:spPr>
          <a:xfrm>
            <a:off x="731520" y="2651760"/>
            <a:ext cx="1783080" cy="1280160"/>
          </a:xfrm>
          <a:prstGeom prst="rect">
            <a:avLst/>
          </a:prstGeom>
          <a:noFill/>
          <a:ln/>
        </p:spPr>
        <p:txBody>
          <a:bodyPr wrap="square" rtlCol="0" anchor="ctr"/>
          <a:lstStyle/>
          <a:p>
            <a:pPr algn="ctr" indent="0" marL="0">
              <a:buNone/>
            </a:pPr>
            <a:endParaRPr lang="en-US" sz="1300" dirty="0"/>
          </a:p>
        </p:txBody>
      </p:sp>
      <p:sp>
        <p:nvSpPr>
          <p:cNvPr id="9" name="Text 7"/>
          <p:cNvSpPr/>
          <p:nvPr/>
        </p:nvSpPr>
        <p:spPr>
          <a:xfrm>
            <a:off x="749808" y="2651760"/>
            <a:ext cx="1746504" cy="1280160"/>
          </a:xfrm>
          <a:prstGeom prst="rect">
            <a:avLst/>
          </a:prstGeom>
          <a:noFill/>
          <a:ln/>
        </p:spPr>
        <p:txBody>
          <a:bodyPr wrap="square" rtlCol="0" anchor="ctr"/>
          <a:lstStyle/>
          <a:p>
            <a:pPr algn="ctr" indent="0" marL="0">
              <a:buNone/>
            </a:pPr>
            <a:r>
              <a:rPr lang="en-US" sz="1600" b="1" dirty="0">
                <a:solidFill>
                  <a:srgbClr val="7FA6C9"/>
                </a:solidFill>
                <a:latin typeface="Segoe UI" pitchFamily="34" charset="0"/>
                <a:ea typeface="Segoe UI" pitchFamily="34" charset="-122"/>
                <a:cs typeface="Segoe UI" pitchFamily="34" charset="-120"/>
              </a:rPr>
              <a:t>v1.0.0</a:t>
            </a:r>
            <a:endParaRPr lang="en-US" sz="1600" dirty="0"/>
          </a:p>
          <a:p>
            <a:pPr algn="ctr" indent="0" marL="0">
              <a:buNone/>
            </a:pPr>
            <a:endParaRPr lang="en-US" sz="1600" dirty="0"/>
          </a:p>
          <a:p>
            <a:pPr algn="ctr" indent="0" marL="0">
              <a:buNone/>
            </a:pPr>
            <a:r>
              <a:rPr lang="en-US" sz="1050" dirty="0">
                <a:solidFill>
                  <a:srgbClr val="8FA6B8"/>
                </a:solidFill>
                <a:latin typeface="Segoe UI" pitchFamily="34" charset="0"/>
                <a:ea typeface="Segoe UI" pitchFamily="34" charset="-122"/>
                <a:cs typeface="Segoe UI" pitchFamily="34" charset="-120"/>
              </a:rPr>
              <a:t>netting + atomic settle + privacy</a:t>
            </a:r>
            <a:endParaRPr lang="en-US" sz="1600" dirty="0"/>
          </a:p>
        </p:txBody>
      </p:sp>
      <p:sp>
        <p:nvSpPr>
          <p:cNvPr id="10" name="Shape 8"/>
          <p:cNvSpPr/>
          <p:nvPr/>
        </p:nvSpPr>
        <p:spPr>
          <a:xfrm>
            <a:off x="2606040" y="3291840"/>
            <a:ext cx="256032" cy="0"/>
          </a:xfrm>
          <a:prstGeom prst="line">
            <a:avLst/>
          </a:prstGeom>
          <a:noFill/>
          <a:ln w="22225">
            <a:solidFill>
              <a:srgbClr val="5F7486"/>
            </a:solidFill>
            <a:prstDash val="solid"/>
            <a:tailEnd type="triangle"/>
          </a:ln>
        </p:spPr>
      </p:sp>
      <p:sp>
        <p:nvSpPr>
          <p:cNvPr id="11" name="Shape 9"/>
          <p:cNvSpPr/>
          <p:nvPr/>
        </p:nvSpPr>
        <p:spPr>
          <a:xfrm>
            <a:off x="2862072" y="2651760"/>
            <a:ext cx="1965960" cy="1280160"/>
          </a:xfrm>
          <a:prstGeom prst="roundRect">
            <a:avLst>
              <a:gd name="adj" fmla="val 5714"/>
            </a:avLst>
          </a:prstGeom>
          <a:solidFill>
            <a:srgbClr val="141C25"/>
          </a:solidFill>
          <a:ln w="19050">
            <a:solidFill>
              <a:srgbClr val="7FA6C9"/>
            </a:solidFill>
            <a:prstDash val="solid"/>
          </a:ln>
        </p:spPr>
      </p:sp>
      <p:sp>
        <p:nvSpPr>
          <p:cNvPr id="12" name="Text 10"/>
          <p:cNvSpPr/>
          <p:nvPr/>
        </p:nvSpPr>
        <p:spPr>
          <a:xfrm>
            <a:off x="2953512" y="2651760"/>
            <a:ext cx="1783080" cy="1280160"/>
          </a:xfrm>
          <a:prstGeom prst="rect">
            <a:avLst/>
          </a:prstGeom>
          <a:noFill/>
          <a:ln/>
        </p:spPr>
        <p:txBody>
          <a:bodyPr wrap="square" rtlCol="0" anchor="ctr"/>
          <a:lstStyle/>
          <a:p>
            <a:pPr algn="ctr" indent="0" marL="0">
              <a:buNone/>
            </a:pPr>
            <a:endParaRPr lang="en-US" sz="1300" dirty="0"/>
          </a:p>
        </p:txBody>
      </p:sp>
      <p:sp>
        <p:nvSpPr>
          <p:cNvPr id="13" name="Text 11"/>
          <p:cNvSpPr/>
          <p:nvPr/>
        </p:nvSpPr>
        <p:spPr>
          <a:xfrm>
            <a:off x="2971800" y="2651760"/>
            <a:ext cx="1746504" cy="1280160"/>
          </a:xfrm>
          <a:prstGeom prst="rect">
            <a:avLst/>
          </a:prstGeom>
          <a:noFill/>
          <a:ln/>
        </p:spPr>
        <p:txBody>
          <a:bodyPr wrap="square" rtlCol="0" anchor="ctr"/>
          <a:lstStyle/>
          <a:p>
            <a:pPr algn="ctr" indent="0" marL="0">
              <a:buNone/>
            </a:pPr>
            <a:r>
              <a:rPr lang="en-US" sz="1600" b="1" dirty="0">
                <a:solidFill>
                  <a:srgbClr val="7FA6C9"/>
                </a:solidFill>
                <a:latin typeface="Segoe UI" pitchFamily="34" charset="0"/>
                <a:ea typeface="Segoe UI" pitchFamily="34" charset="-122"/>
                <a:cs typeface="Segoe UI" pitchFamily="34" charset="-120"/>
              </a:rPr>
              <a:t>v1.0.1</a:t>
            </a:r>
            <a:endParaRPr lang="en-US" sz="1600" dirty="0"/>
          </a:p>
          <a:p>
            <a:pPr algn="ctr" indent="0" marL="0">
              <a:buNone/>
            </a:pPr>
            <a:endParaRPr lang="en-US" sz="1600" dirty="0"/>
          </a:p>
          <a:p>
            <a:pPr algn="ctr" indent="0" marL="0">
              <a:buNone/>
            </a:pPr>
            <a:r>
              <a:rPr lang="en-US" sz="1050" dirty="0">
                <a:solidFill>
                  <a:srgbClr val="8FA6B8"/>
                </a:solidFill>
                <a:latin typeface="Segoe UI" pitchFamily="34" charset="0"/>
                <a:ea typeface="Segoe UI" pitchFamily="34" charset="-122"/>
                <a:cs typeface="Segoe UI" pitchFamily="34" charset="-120"/>
              </a:rPr>
              <a:t>settle-correctness fix</a:t>
            </a:r>
            <a:endParaRPr lang="en-US" sz="1600" dirty="0"/>
          </a:p>
        </p:txBody>
      </p:sp>
      <p:sp>
        <p:nvSpPr>
          <p:cNvPr id="14" name="Shape 12"/>
          <p:cNvSpPr/>
          <p:nvPr/>
        </p:nvSpPr>
        <p:spPr>
          <a:xfrm>
            <a:off x="4828032" y="3291840"/>
            <a:ext cx="256032" cy="0"/>
          </a:xfrm>
          <a:prstGeom prst="line">
            <a:avLst/>
          </a:prstGeom>
          <a:noFill/>
          <a:ln w="22225">
            <a:solidFill>
              <a:srgbClr val="5F7486"/>
            </a:solidFill>
            <a:prstDash val="solid"/>
            <a:tailEnd type="triangle"/>
          </a:ln>
        </p:spPr>
      </p:sp>
      <p:sp>
        <p:nvSpPr>
          <p:cNvPr id="15" name="Shape 13"/>
          <p:cNvSpPr/>
          <p:nvPr/>
        </p:nvSpPr>
        <p:spPr>
          <a:xfrm>
            <a:off x="5084064" y="2651760"/>
            <a:ext cx="1965960" cy="1280160"/>
          </a:xfrm>
          <a:prstGeom prst="roundRect">
            <a:avLst>
              <a:gd name="adj" fmla="val 5714"/>
            </a:avLst>
          </a:prstGeom>
          <a:solidFill>
            <a:srgbClr val="141C25"/>
          </a:solidFill>
          <a:ln w="19050">
            <a:solidFill>
              <a:srgbClr val="7FA6C9"/>
            </a:solidFill>
            <a:prstDash val="solid"/>
          </a:ln>
        </p:spPr>
      </p:sp>
      <p:sp>
        <p:nvSpPr>
          <p:cNvPr id="16" name="Text 14"/>
          <p:cNvSpPr/>
          <p:nvPr/>
        </p:nvSpPr>
        <p:spPr>
          <a:xfrm>
            <a:off x="5175504" y="2651760"/>
            <a:ext cx="1783080" cy="1280160"/>
          </a:xfrm>
          <a:prstGeom prst="rect">
            <a:avLst/>
          </a:prstGeom>
          <a:noFill/>
          <a:ln/>
        </p:spPr>
        <p:txBody>
          <a:bodyPr wrap="square" rtlCol="0" anchor="ctr"/>
          <a:lstStyle/>
          <a:p>
            <a:pPr algn="ctr" indent="0" marL="0">
              <a:buNone/>
            </a:pPr>
            <a:endParaRPr lang="en-US" sz="1300" dirty="0"/>
          </a:p>
        </p:txBody>
      </p:sp>
      <p:sp>
        <p:nvSpPr>
          <p:cNvPr id="17" name="Text 15"/>
          <p:cNvSpPr/>
          <p:nvPr/>
        </p:nvSpPr>
        <p:spPr>
          <a:xfrm>
            <a:off x="5193792" y="2651760"/>
            <a:ext cx="1746504" cy="1280160"/>
          </a:xfrm>
          <a:prstGeom prst="rect">
            <a:avLst/>
          </a:prstGeom>
          <a:noFill/>
          <a:ln/>
        </p:spPr>
        <p:txBody>
          <a:bodyPr wrap="square" rtlCol="0" anchor="ctr"/>
          <a:lstStyle/>
          <a:p>
            <a:pPr algn="ctr" indent="0" marL="0">
              <a:buNone/>
            </a:pPr>
            <a:r>
              <a:rPr lang="en-US" sz="1600" b="1" dirty="0">
                <a:solidFill>
                  <a:srgbClr val="7FA6C9"/>
                </a:solidFill>
                <a:latin typeface="Segoe UI" pitchFamily="34" charset="0"/>
                <a:ea typeface="Segoe UI" pitchFamily="34" charset="-122"/>
                <a:cs typeface="Segoe UI" pitchFamily="34" charset="-120"/>
              </a:rPr>
              <a:t>v1.0.2</a:t>
            </a:r>
            <a:endParaRPr lang="en-US" sz="1600" dirty="0"/>
          </a:p>
          <a:p>
            <a:pPr algn="ctr" indent="0" marL="0">
              <a:buNone/>
            </a:pPr>
            <a:endParaRPr lang="en-US" sz="1600" dirty="0"/>
          </a:p>
          <a:p>
            <a:pPr algn="ctr" indent="0" marL="0">
              <a:buNone/>
            </a:pPr>
            <a:r>
              <a:rPr lang="en-US" sz="1050" dirty="0">
                <a:solidFill>
                  <a:srgbClr val="8FA6B8"/>
                </a:solidFill>
                <a:latin typeface="Segoe UI" pitchFamily="34" charset="0"/>
                <a:ea typeface="Segoe UI" pitchFamily="34" charset="-122"/>
                <a:cs typeface="Segoe UI" pitchFamily="34" charset="-120"/>
              </a:rPr>
              <a:t>provenance + UETR trace</a:t>
            </a:r>
            <a:endParaRPr lang="en-US" sz="1600" dirty="0"/>
          </a:p>
        </p:txBody>
      </p:sp>
      <p:sp>
        <p:nvSpPr>
          <p:cNvPr id="18" name="Shape 16"/>
          <p:cNvSpPr/>
          <p:nvPr/>
        </p:nvSpPr>
        <p:spPr>
          <a:xfrm>
            <a:off x="7050024" y="3291840"/>
            <a:ext cx="256032" cy="0"/>
          </a:xfrm>
          <a:prstGeom prst="line">
            <a:avLst/>
          </a:prstGeom>
          <a:noFill/>
          <a:ln w="22225">
            <a:solidFill>
              <a:srgbClr val="5F7486"/>
            </a:solidFill>
            <a:prstDash val="solid"/>
            <a:tailEnd type="triangle"/>
          </a:ln>
        </p:spPr>
      </p:sp>
      <p:sp>
        <p:nvSpPr>
          <p:cNvPr id="19" name="Shape 17"/>
          <p:cNvSpPr/>
          <p:nvPr/>
        </p:nvSpPr>
        <p:spPr>
          <a:xfrm>
            <a:off x="7306056" y="2651760"/>
            <a:ext cx="1965960" cy="1280160"/>
          </a:xfrm>
          <a:prstGeom prst="roundRect">
            <a:avLst>
              <a:gd name="adj" fmla="val 5714"/>
            </a:avLst>
          </a:prstGeom>
          <a:solidFill>
            <a:srgbClr val="141C25"/>
          </a:solidFill>
          <a:ln w="19050">
            <a:solidFill>
              <a:srgbClr val="38E1A4"/>
            </a:solidFill>
            <a:prstDash val="solid"/>
          </a:ln>
        </p:spPr>
      </p:sp>
      <p:sp>
        <p:nvSpPr>
          <p:cNvPr id="20" name="Text 18"/>
          <p:cNvSpPr/>
          <p:nvPr/>
        </p:nvSpPr>
        <p:spPr>
          <a:xfrm>
            <a:off x="7397496" y="2651760"/>
            <a:ext cx="1783080" cy="1280160"/>
          </a:xfrm>
          <a:prstGeom prst="rect">
            <a:avLst/>
          </a:prstGeom>
          <a:noFill/>
          <a:ln/>
        </p:spPr>
        <p:txBody>
          <a:bodyPr wrap="square" rtlCol="0" anchor="ctr"/>
          <a:lstStyle/>
          <a:p>
            <a:pPr algn="ctr" indent="0" marL="0">
              <a:buNone/>
            </a:pPr>
            <a:endParaRPr lang="en-US" sz="1300" dirty="0"/>
          </a:p>
        </p:txBody>
      </p:sp>
      <p:sp>
        <p:nvSpPr>
          <p:cNvPr id="21" name="Text 19"/>
          <p:cNvSpPr/>
          <p:nvPr/>
        </p:nvSpPr>
        <p:spPr>
          <a:xfrm>
            <a:off x="7415784" y="2651760"/>
            <a:ext cx="1746504" cy="1280160"/>
          </a:xfrm>
          <a:prstGeom prst="rect">
            <a:avLst/>
          </a:prstGeom>
          <a:noFill/>
          <a:ln/>
        </p:spPr>
        <p:txBody>
          <a:bodyPr wrap="square" rtlCol="0" anchor="ctr"/>
          <a:lstStyle/>
          <a:p>
            <a:pPr algn="ctr" indent="0" marL="0">
              <a:buNone/>
            </a:pPr>
            <a:r>
              <a:rPr lang="en-US" sz="1600" b="1" dirty="0">
                <a:solidFill>
                  <a:srgbClr val="38E1A4"/>
                </a:solidFill>
                <a:latin typeface="Segoe UI" pitchFamily="34" charset="0"/>
                <a:ea typeface="Segoe UI" pitchFamily="34" charset="-122"/>
                <a:cs typeface="Segoe UI" pitchFamily="34" charset="-120"/>
              </a:rPr>
              <a:t>v1.0.3</a:t>
            </a:r>
            <a:endParaRPr lang="en-US" sz="1600" dirty="0"/>
          </a:p>
          <a:p>
            <a:pPr algn="ctr" indent="0" marL="0">
              <a:buNone/>
            </a:pPr>
            <a:endParaRPr lang="en-US" sz="1600" dirty="0"/>
          </a:p>
          <a:p>
            <a:pPr algn="ctr" indent="0" marL="0">
              <a:buNone/>
            </a:pPr>
            <a:r>
              <a:rPr lang="en-US" sz="1050" dirty="0">
                <a:solidFill>
                  <a:srgbClr val="8FA6B8"/>
                </a:solidFill>
                <a:latin typeface="Segoe UI" pitchFamily="34" charset="0"/>
                <a:ea typeface="Segoe UI" pitchFamily="34" charset="-122"/>
                <a:cs typeface="Segoe UI" pitchFamily="34" charset="-120"/>
              </a:rPr>
              <a:t>bilateral confirmation</a:t>
            </a:r>
            <a:endParaRPr lang="en-US" sz="1600" dirty="0"/>
          </a:p>
        </p:txBody>
      </p:sp>
      <p:sp>
        <p:nvSpPr>
          <p:cNvPr id="22" name="Shape 20"/>
          <p:cNvSpPr/>
          <p:nvPr/>
        </p:nvSpPr>
        <p:spPr>
          <a:xfrm>
            <a:off x="9272016" y="3291840"/>
            <a:ext cx="256032" cy="0"/>
          </a:xfrm>
          <a:prstGeom prst="line">
            <a:avLst/>
          </a:prstGeom>
          <a:noFill/>
          <a:ln w="22225">
            <a:solidFill>
              <a:srgbClr val="5F7486"/>
            </a:solidFill>
            <a:prstDash val="solid"/>
            <a:tailEnd type="triangle"/>
          </a:ln>
        </p:spPr>
      </p:sp>
      <p:sp>
        <p:nvSpPr>
          <p:cNvPr id="23" name="Shape 21"/>
          <p:cNvSpPr/>
          <p:nvPr/>
        </p:nvSpPr>
        <p:spPr>
          <a:xfrm>
            <a:off x="9528048" y="2651760"/>
            <a:ext cx="1965960" cy="1280160"/>
          </a:xfrm>
          <a:prstGeom prst="roundRect">
            <a:avLst>
              <a:gd name="adj" fmla="val 5714"/>
            </a:avLst>
          </a:prstGeom>
          <a:solidFill>
            <a:srgbClr val="141C25"/>
          </a:solidFill>
          <a:ln w="19050">
            <a:solidFill>
              <a:srgbClr val="38E1A4"/>
            </a:solidFill>
            <a:prstDash val="solid"/>
          </a:ln>
        </p:spPr>
      </p:sp>
      <p:sp>
        <p:nvSpPr>
          <p:cNvPr id="24" name="Text 22"/>
          <p:cNvSpPr/>
          <p:nvPr/>
        </p:nvSpPr>
        <p:spPr>
          <a:xfrm>
            <a:off x="9619488" y="2651760"/>
            <a:ext cx="1783080" cy="1280160"/>
          </a:xfrm>
          <a:prstGeom prst="rect">
            <a:avLst/>
          </a:prstGeom>
          <a:noFill/>
          <a:ln/>
        </p:spPr>
        <p:txBody>
          <a:bodyPr wrap="square" rtlCol="0" anchor="ctr"/>
          <a:lstStyle/>
          <a:p>
            <a:pPr algn="ctr" indent="0" marL="0">
              <a:buNone/>
            </a:pPr>
            <a:endParaRPr lang="en-US" sz="1300" dirty="0"/>
          </a:p>
        </p:txBody>
      </p:sp>
      <p:sp>
        <p:nvSpPr>
          <p:cNvPr id="25" name="Text 23"/>
          <p:cNvSpPr/>
          <p:nvPr/>
        </p:nvSpPr>
        <p:spPr>
          <a:xfrm>
            <a:off x="9637776" y="2651760"/>
            <a:ext cx="1746504" cy="1280160"/>
          </a:xfrm>
          <a:prstGeom prst="rect">
            <a:avLst/>
          </a:prstGeom>
          <a:noFill/>
          <a:ln/>
        </p:spPr>
        <p:txBody>
          <a:bodyPr wrap="square" rtlCol="0" anchor="ctr"/>
          <a:lstStyle/>
          <a:p>
            <a:pPr algn="ctr" indent="0" marL="0">
              <a:buNone/>
            </a:pPr>
            <a:r>
              <a:rPr lang="en-US" sz="1600" b="1" dirty="0">
                <a:solidFill>
                  <a:srgbClr val="38E1A4"/>
                </a:solidFill>
                <a:latin typeface="Segoe UI" pitchFamily="34" charset="0"/>
                <a:ea typeface="Segoe UI" pitchFamily="34" charset="-122"/>
                <a:cs typeface="Segoe UI" pitchFamily="34" charset="-120"/>
              </a:rPr>
              <a:t>v1.0.4</a:t>
            </a:r>
            <a:endParaRPr lang="en-US" sz="1600" dirty="0"/>
          </a:p>
          <a:p>
            <a:pPr algn="ctr" indent="0" marL="0">
              <a:buNone/>
            </a:pPr>
            <a:endParaRPr lang="en-US" sz="1600" dirty="0"/>
          </a:p>
          <a:p>
            <a:pPr algn="ctr" indent="0" marL="0">
              <a:buNone/>
            </a:pPr>
            <a:r>
              <a:rPr lang="en-US" sz="1050" dirty="0">
                <a:solidFill>
                  <a:srgbClr val="8FA6B8"/>
                </a:solidFill>
                <a:latin typeface="Segoe UI" pitchFamily="34" charset="0"/>
                <a:ea typeface="Segoe UI" pitchFamily="34" charset="-122"/>
                <a:cs typeface="Segoe UI" pitchFamily="34" charset="-120"/>
              </a:rPr>
              <a:t>maker-checker cap governance</a:t>
            </a:r>
            <a:endParaRPr lang="en-US" sz="1600" dirty="0"/>
          </a:p>
        </p:txBody>
      </p:sp>
      <p:sp>
        <p:nvSpPr>
          <p:cNvPr id="26" name="Text 24"/>
          <p:cNvSpPr/>
          <p:nvPr/>
        </p:nvSpPr>
        <p:spPr>
          <a:xfrm>
            <a:off x="640080" y="4434840"/>
            <a:ext cx="10911535" cy="731520"/>
          </a:xfrm>
          <a:prstGeom prst="rect">
            <a:avLst/>
          </a:prstGeom>
          <a:noFill/>
          <a:ln/>
        </p:spPr>
        <p:txBody>
          <a:bodyPr wrap="square" rtlCol="0" anchor="ctr"/>
          <a:lstStyle/>
          <a:p>
            <a:pPr algn="ctr" indent="0" marL="0">
              <a:lnSpc>
                <a:spcPct val="120000"/>
              </a:lnSpc>
              <a:buNone/>
            </a:pPr>
            <a:r>
              <a:rPr lang="en-US" sz="1300" dirty="0">
                <a:solidFill>
                  <a:srgbClr val="E6EDF3"/>
                </a:solidFill>
                <a:latin typeface="Segoe UI" pitchFamily="34" charset="0"/>
                <a:ea typeface="Segoe UI" pitchFamily="34" charset="-122"/>
                <a:cs typeface="Segoe UI" pitchFamily="34" charset="-120"/>
              </a:rPr>
              <a:t>Adding Optional fields, choices, and whole templates as valid upgrades, the running demo was never taken down. Each step is reversible by pointing the app back at the prior package id.</a:t>
            </a:r>
            <a:endParaRPr lang="en-US" sz="1300" dirty="0"/>
          </a:p>
        </p:txBody>
      </p:sp>
      <p:sp>
        <p:nvSpPr>
          <p:cNvPr id="27" name="Text 25"/>
          <p:cNvSpPr/>
          <p:nvPr/>
        </p:nvSpPr>
        <p:spPr>
          <a:xfrm>
            <a:off x="640080" y="5440680"/>
            <a:ext cx="10911535" cy="274320"/>
          </a:xfrm>
          <a:prstGeom prst="rect">
            <a:avLst/>
          </a:prstGeom>
          <a:noFill/>
          <a:ln/>
        </p:spPr>
        <p:txBody>
          <a:bodyPr wrap="square" rtlCol="0" anchor="ctr"/>
          <a:lstStyle/>
          <a:p>
            <a:pPr algn="ctr" indent="0" marL="0">
              <a:buNone/>
            </a:pPr>
            <a:r>
              <a:rPr lang="en-US" sz="1050" dirty="0">
                <a:solidFill>
                  <a:srgbClr val="8FA6B8"/>
                </a:solidFill>
                <a:latin typeface="Consolas" pitchFamily="34" charset="0"/>
                <a:ea typeface="Consolas" pitchFamily="34" charset="-122"/>
                <a:cs typeface="Consolas" pitchFamily="34" charset="-120"/>
              </a:rPr>
              <a:t>current: netchain v1.0.4  ·  8ae58d7ccd979213f10c78a328da0f7edfa3614060a4cf7250216837a7768cbb</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7FA6C9"/>
          </a:solidFill>
          <a:ln/>
        </p:spPr>
      </p:sp>
      <p:sp>
        <p:nvSpPr>
          <p:cNvPr id="3" name="Text 1"/>
          <p:cNvSpPr/>
          <p:nvPr/>
        </p:nvSpPr>
        <p:spPr>
          <a:xfrm>
            <a:off x="640080" y="384048"/>
            <a:ext cx="10911535" cy="274320"/>
          </a:xfrm>
          <a:prstGeom prst="rect">
            <a:avLst/>
          </a:prstGeom>
          <a:noFill/>
          <a:ln/>
        </p:spPr>
        <p:txBody>
          <a:bodyPr wrap="square" rtlCol="0" anchor="ctr"/>
          <a:lstStyle/>
          <a:p>
            <a:pPr indent="0" marL="0">
              <a:buNone/>
            </a:pPr>
            <a:r>
              <a:rPr lang="en-US" sz="1100" b="1" spc="300" kern="0" dirty="0">
                <a:solidFill>
                  <a:srgbClr val="7FA6C9"/>
                </a:solidFill>
                <a:latin typeface="Segoe UI" pitchFamily="34" charset="0"/>
                <a:ea typeface="Segoe UI" pitchFamily="34" charset="-122"/>
                <a:cs typeface="Segoe UI" pitchFamily="34" charset="-120"/>
              </a:rPr>
              <a:t>CAPABILITY</a:t>
            </a:r>
            <a:endParaRPr lang="en-US" sz="1100" dirty="0"/>
          </a:p>
        </p:txBody>
      </p:sp>
      <p:sp>
        <p:nvSpPr>
          <p:cNvPr id="4" name="Text 2"/>
          <p:cNvSpPr/>
          <p:nvPr/>
        </p:nvSpPr>
        <p:spPr>
          <a:xfrm>
            <a:off x="640080" y="658368"/>
            <a:ext cx="10911535" cy="731520"/>
          </a:xfrm>
          <a:prstGeom prst="rect">
            <a:avLst/>
          </a:prstGeom>
          <a:noFill/>
          <a:ln/>
        </p:spPr>
        <p:txBody>
          <a:bodyPr wrap="square" rtlCol="0" anchor="ctr"/>
          <a:lstStyle/>
          <a:p>
            <a:pPr indent="0" marL="0">
              <a:buNone/>
            </a:pPr>
            <a:r>
              <a:rPr lang="en-US" sz="2700" b="1" dirty="0">
                <a:solidFill>
                  <a:srgbClr val="E6EDF3"/>
                </a:solidFill>
                <a:latin typeface="Segoe UI" pitchFamily="34" charset="0"/>
                <a:ea typeface="Segoe UI" pitchFamily="34" charset="-122"/>
                <a:cs typeface="Segoe UI" pitchFamily="34" charset="-120"/>
              </a:rPr>
              <a:t>Audit trail + regulator-ready exports</a:t>
            </a:r>
            <a:endParaRPr lang="en-US" sz="2700" dirty="0"/>
          </a:p>
        </p:txBody>
      </p:sp>
      <p:sp>
        <p:nvSpPr>
          <p:cNvPr id="5" name="Text 3"/>
          <p:cNvSpPr/>
          <p:nvPr/>
        </p:nvSpPr>
        <p:spPr>
          <a:xfrm>
            <a:off x="640080" y="6446520"/>
            <a:ext cx="5486400" cy="274320"/>
          </a:xfrm>
          <a:prstGeom prst="rect">
            <a:avLst/>
          </a:prstGeom>
          <a:noFill/>
          <a:ln/>
        </p:spPr>
        <p:txBody>
          <a:bodyPr wrap="square" rtlCol="0" anchor="ctr"/>
          <a:lstStyle/>
          <a:p>
            <a:pPr indent="0" marL="0">
              <a:buNone/>
            </a:pPr>
            <a:r>
              <a:rPr lang="en-US" sz="900" b="1" dirty="0">
                <a:solidFill>
                  <a:srgbClr val="E6EDF3"/>
                </a:solidFill>
                <a:latin typeface="Segoe UI" pitchFamily="34" charset="0"/>
                <a:ea typeface="Segoe UI" pitchFamily="34" charset="-122"/>
                <a:cs typeface="Segoe UI" pitchFamily="34" charset="-120"/>
              </a:rPr>
              <a:t>NetChain</a:t>
            </a:r>
            <a:pPr indent="0" marL="0">
              <a:buNone/>
            </a:pPr>
            <a:r>
              <a:rPr lang="en-US" sz="900" dirty="0">
                <a:solidFill>
                  <a:srgbClr val="5F7486"/>
                </a:solidFill>
                <a:latin typeface="Segoe UI" pitchFamily="34" charset="0"/>
                <a:ea typeface="Segoe UI" pitchFamily="34" charset="-122"/>
                <a:cs typeface="Segoe UI" pitchFamily="34" charset="-120"/>
              </a:rPr>
              <a:t>  deep dive</a:t>
            </a:r>
            <a:endParaRPr lang="en-US" sz="900" dirty="0"/>
          </a:p>
        </p:txBody>
      </p:sp>
      <p:sp>
        <p:nvSpPr>
          <p:cNvPr id="6" name="Text 4"/>
          <p:cNvSpPr/>
          <p:nvPr/>
        </p:nvSpPr>
        <p:spPr>
          <a:xfrm>
            <a:off x="8808415" y="6446520"/>
            <a:ext cx="2743200" cy="274320"/>
          </a:xfrm>
          <a:prstGeom prst="rect">
            <a:avLst/>
          </a:prstGeom>
          <a:noFill/>
          <a:ln/>
        </p:spPr>
        <p:txBody>
          <a:bodyPr wrap="square" rtlCol="0" anchor="ctr"/>
          <a:lstStyle/>
          <a:p>
            <a:pPr algn="r" indent="0" marL="0">
              <a:buNone/>
            </a:pPr>
            <a:r>
              <a:rPr lang="en-US" sz="900" dirty="0">
                <a:solidFill>
                  <a:srgbClr val="5F7486"/>
                </a:solidFill>
                <a:latin typeface="Segoe UI" pitchFamily="34" charset="0"/>
                <a:ea typeface="Segoe UI" pitchFamily="34" charset="-122"/>
                <a:cs typeface="Segoe UI" pitchFamily="34" charset="-120"/>
              </a:rPr>
              <a:t>netchain.vercel.app</a:t>
            </a:r>
            <a:endParaRPr lang="en-US" sz="900" dirty="0"/>
          </a:p>
        </p:txBody>
      </p:sp>
      <p:pic>
        <p:nvPicPr>
          <p:cNvPr id="7" name="Image 0" descr="screens/shot-audit.png">    </p:cNvPr>
          <p:cNvPicPr>
            <a:picLocks noChangeAspect="1"/>
          </p:cNvPicPr>
          <p:nvPr/>
        </p:nvPicPr>
        <p:blipFill>
          <a:blip r:embed="rId1"/>
          <a:stretch>
            <a:fillRect/>
          </a:stretch>
        </p:blipFill>
        <p:spPr>
          <a:xfrm>
            <a:off x="640080" y="1554480"/>
            <a:ext cx="6400800" cy="4000500"/>
          </a:xfrm>
          <a:prstGeom prst="rect">
            <a:avLst/>
          </a:prstGeom>
        </p:spPr>
      </p:pic>
      <p:sp>
        <p:nvSpPr>
          <p:cNvPr id="8" name="Shape 5"/>
          <p:cNvSpPr/>
          <p:nvPr/>
        </p:nvSpPr>
        <p:spPr>
          <a:xfrm>
            <a:off x="640080" y="1554480"/>
            <a:ext cx="6400800" cy="4000500"/>
          </a:xfrm>
          <a:prstGeom prst="roundRect">
            <a:avLst>
              <a:gd name="adj" fmla="val 686"/>
            </a:avLst>
          </a:prstGeom>
          <a:ln w="12700">
            <a:solidFill>
              <a:srgbClr val="223040"/>
            </a:solidFill>
            <a:prstDash val="solid"/>
          </a:ln>
        </p:spPr>
      </p:sp>
      <p:sp>
        <p:nvSpPr>
          <p:cNvPr id="9" name="Text 6"/>
          <p:cNvSpPr/>
          <p:nvPr/>
        </p:nvSpPr>
        <p:spPr>
          <a:xfrm>
            <a:off x="640080" y="5600700"/>
            <a:ext cx="6400800" cy="274320"/>
          </a:xfrm>
          <a:prstGeom prst="rect">
            <a:avLst/>
          </a:prstGeom>
          <a:noFill/>
          <a:ln/>
        </p:spPr>
        <p:txBody>
          <a:bodyPr wrap="square" rtlCol="0" anchor="ctr"/>
          <a:lstStyle/>
          <a:p>
            <a:pPr algn="ctr" indent="0" marL="0">
              <a:buNone/>
            </a:pPr>
            <a:r>
              <a:rPr lang="en-US" sz="1000" i="1" dirty="0">
                <a:solidFill>
                  <a:srgbClr val="5F7486"/>
                </a:solidFill>
                <a:latin typeface="Segoe UI" pitchFamily="34" charset="0"/>
                <a:ea typeface="Segoe UI" pitchFamily="34" charset="-122"/>
                <a:cs typeface="Segoe UI" pitchFamily="34" charset="-120"/>
              </a:rPr>
              <a:t>Audit page: gross obligations, net positions, and settled legs, all from the ledger</a:t>
            </a:r>
            <a:endParaRPr lang="en-US" sz="1000" dirty="0"/>
          </a:p>
        </p:txBody>
      </p:sp>
      <p:sp>
        <p:nvSpPr>
          <p:cNvPr id="10" name="Shape 7"/>
          <p:cNvSpPr/>
          <p:nvPr/>
        </p:nvSpPr>
        <p:spPr>
          <a:xfrm>
            <a:off x="7406640" y="1554480"/>
            <a:ext cx="4142232" cy="4114800"/>
          </a:xfrm>
          <a:prstGeom prst="roundRect">
            <a:avLst>
              <a:gd name="adj" fmla="val 2000"/>
            </a:avLst>
          </a:prstGeom>
          <a:solidFill>
            <a:srgbClr val="141C25"/>
          </a:solidFill>
          <a:ln w="12700">
            <a:solidFill>
              <a:srgbClr val="223040"/>
            </a:solidFill>
            <a:prstDash val="solid"/>
          </a:ln>
        </p:spPr>
      </p:sp>
      <p:sp>
        <p:nvSpPr>
          <p:cNvPr id="11" name="Text 8"/>
          <p:cNvSpPr/>
          <p:nvPr/>
        </p:nvSpPr>
        <p:spPr>
          <a:xfrm>
            <a:off x="7635240" y="1828800"/>
            <a:ext cx="3657600" cy="3657600"/>
          </a:xfrm>
          <a:prstGeom prst="rect">
            <a:avLst/>
          </a:prstGeom>
          <a:noFill/>
          <a:ln/>
        </p:spPr>
        <p:txBody>
          <a:bodyPr wrap="square" rtlCol="0" anchor="t"/>
          <a:lstStyle/>
          <a:p>
            <a:pPr marL="203200" indent="-203200">
              <a:lnSpc>
                <a:spcPct val="120000"/>
              </a:lnSpc>
              <a:spcAft>
                <a:spcPts val="800"/>
              </a:spcAft>
              <a:buSzPct val="100000"/>
              <a:buChar char="•"/>
            </a:pPr>
            <a:r>
              <a:rPr lang="en-US" sz="1250" dirty="0">
                <a:solidFill>
                  <a:srgbClr val="E6EDF3"/>
                </a:solidFill>
                <a:latin typeface="Segoe UI" pitchFamily="34" charset="0"/>
                <a:ea typeface="Segoe UI" pitchFamily="34" charset="-122"/>
                <a:cs typeface="Segoe UI" pitchFamily="34" charset="-120"/>
              </a:rPr>
              <a:t>The full chronological activity feed comes from real on-chain transaction history (/v2/updates).</a:t>
            </a:r>
            <a:endParaRPr lang="en-US" sz="1250" dirty="0"/>
          </a:p>
          <a:p>
            <a:pPr marL="203200" indent="-203200">
              <a:lnSpc>
                <a:spcPct val="120000"/>
              </a:lnSpc>
              <a:spcAft>
                <a:spcPts val="800"/>
              </a:spcAft>
              <a:buSzPct val="100000"/>
              <a:buChar char="•"/>
            </a:pPr>
            <a:r>
              <a:rPr lang="en-US" sz="1250" dirty="0">
                <a:solidFill>
                  <a:srgbClr val="E6EDF3"/>
                </a:solidFill>
                <a:latin typeface="Segoe UI" pitchFamily="34" charset="0"/>
                <a:ea typeface="Segoe UI" pitchFamily="34" charset="-122"/>
                <a:cs typeface="Segoe UI" pitchFamily="34" charset="-120"/>
              </a:rPr>
              <a:t>Net positions are recovered from history, so the audit view survives Settle archiving them.</a:t>
            </a:r>
            <a:endParaRPr lang="en-US" sz="1250" dirty="0"/>
          </a:p>
          <a:p>
            <a:pPr marL="203200" indent="-203200">
              <a:lnSpc>
                <a:spcPct val="120000"/>
              </a:lnSpc>
              <a:spcAft>
                <a:spcPts val="800"/>
              </a:spcAft>
              <a:buSzPct val="100000"/>
              <a:buChar char="•"/>
            </a:pPr>
            <a:r>
              <a:rPr lang="en-US" sz="1250" dirty="0">
                <a:solidFill>
                  <a:srgbClr val="E6EDF3"/>
                </a:solidFill>
                <a:latin typeface="Segoe UI" pitchFamily="34" charset="0"/>
                <a:ea typeface="Segoe UI" pitchFamily="34" charset="-122"/>
                <a:cs typeface="Segoe UI" pitchFamily="34" charset="-120"/>
              </a:rPr>
              <a:t>Export settled legs as CSV and as ISO 20022 pain.001 (one PmtInf per debtor), the format banks already ingest.</a:t>
            </a:r>
            <a:endParaRPr lang="en-US" sz="1250" dirty="0"/>
          </a:p>
          <a:p>
            <a:pPr marL="203200" indent="-203200">
              <a:lnSpc>
                <a:spcPct val="120000"/>
              </a:lnSpc>
              <a:spcAft>
                <a:spcPts val="800"/>
              </a:spcAft>
              <a:buSzPct val="100000"/>
              <a:buChar char="•"/>
            </a:pPr>
            <a:r>
              <a:rPr lang="en-US" sz="1250" dirty="0">
                <a:solidFill>
                  <a:srgbClr val="E6EDF3"/>
                </a:solidFill>
                <a:latin typeface="Segoe UI" pitchFamily="34" charset="0"/>
                <a:ea typeface="Segoe UI" pitchFamily="34" charset="-122"/>
                <a:cs typeface="Segoe UI" pitchFamily="34" charset="-120"/>
              </a:rPr>
              <a:t>This is the reconciliation surface a treasury/SSC team lives in.</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7FA6C9"/>
          </a:solidFill>
          <a:ln/>
        </p:spPr>
      </p:sp>
      <p:sp>
        <p:nvSpPr>
          <p:cNvPr id="3" name="Text 1"/>
          <p:cNvSpPr/>
          <p:nvPr/>
        </p:nvSpPr>
        <p:spPr>
          <a:xfrm>
            <a:off x="640080" y="384048"/>
            <a:ext cx="10911535" cy="274320"/>
          </a:xfrm>
          <a:prstGeom prst="rect">
            <a:avLst/>
          </a:prstGeom>
          <a:noFill/>
          <a:ln/>
        </p:spPr>
        <p:txBody>
          <a:bodyPr wrap="square" rtlCol="0" anchor="ctr"/>
          <a:lstStyle/>
          <a:p>
            <a:pPr indent="0" marL="0">
              <a:buNone/>
            </a:pPr>
            <a:r>
              <a:rPr lang="en-US" sz="1100" b="1" spc="300" kern="0" dirty="0">
                <a:solidFill>
                  <a:srgbClr val="7FA6C9"/>
                </a:solidFill>
                <a:latin typeface="Segoe UI" pitchFamily="34" charset="0"/>
                <a:ea typeface="Segoe UI" pitchFamily="34" charset="-122"/>
                <a:cs typeface="Segoe UI" pitchFamily="34" charset="-120"/>
              </a:rPr>
              <a:t>HONEST FRAMING</a:t>
            </a:r>
            <a:endParaRPr lang="en-US" sz="1100" dirty="0"/>
          </a:p>
        </p:txBody>
      </p:sp>
      <p:sp>
        <p:nvSpPr>
          <p:cNvPr id="4" name="Text 2"/>
          <p:cNvSpPr/>
          <p:nvPr/>
        </p:nvSpPr>
        <p:spPr>
          <a:xfrm>
            <a:off x="640080" y="658368"/>
            <a:ext cx="10911535" cy="731520"/>
          </a:xfrm>
          <a:prstGeom prst="rect">
            <a:avLst/>
          </a:prstGeom>
          <a:noFill/>
          <a:ln/>
        </p:spPr>
        <p:txBody>
          <a:bodyPr wrap="square" rtlCol="0" anchor="ctr"/>
          <a:lstStyle/>
          <a:p>
            <a:pPr indent="0" marL="0">
              <a:buNone/>
            </a:pPr>
            <a:r>
              <a:rPr lang="en-US" sz="2700" b="1" dirty="0">
                <a:solidFill>
                  <a:srgbClr val="E6EDF3"/>
                </a:solidFill>
                <a:latin typeface="Segoe UI" pitchFamily="34" charset="0"/>
                <a:ea typeface="Segoe UI" pitchFamily="34" charset="-122"/>
                <a:cs typeface="Segoe UI" pitchFamily="34" charset="-120"/>
              </a:rPr>
              <a:t>"If the operator sees the graph, what's private?"</a:t>
            </a:r>
            <a:endParaRPr lang="en-US" sz="2700" dirty="0"/>
          </a:p>
        </p:txBody>
      </p:sp>
      <p:sp>
        <p:nvSpPr>
          <p:cNvPr id="5" name="Text 3"/>
          <p:cNvSpPr/>
          <p:nvPr/>
        </p:nvSpPr>
        <p:spPr>
          <a:xfrm>
            <a:off x="640080" y="6446520"/>
            <a:ext cx="5486400" cy="274320"/>
          </a:xfrm>
          <a:prstGeom prst="rect">
            <a:avLst/>
          </a:prstGeom>
          <a:noFill/>
          <a:ln/>
        </p:spPr>
        <p:txBody>
          <a:bodyPr wrap="square" rtlCol="0" anchor="ctr"/>
          <a:lstStyle/>
          <a:p>
            <a:pPr indent="0" marL="0">
              <a:buNone/>
            </a:pPr>
            <a:r>
              <a:rPr lang="en-US" sz="900" b="1" dirty="0">
                <a:solidFill>
                  <a:srgbClr val="E6EDF3"/>
                </a:solidFill>
                <a:latin typeface="Segoe UI" pitchFamily="34" charset="0"/>
                <a:ea typeface="Segoe UI" pitchFamily="34" charset="-122"/>
                <a:cs typeface="Segoe UI" pitchFamily="34" charset="-120"/>
              </a:rPr>
              <a:t>NetChain</a:t>
            </a:r>
            <a:pPr indent="0" marL="0">
              <a:buNone/>
            </a:pPr>
            <a:r>
              <a:rPr lang="en-US" sz="900" dirty="0">
                <a:solidFill>
                  <a:srgbClr val="5F7486"/>
                </a:solidFill>
                <a:latin typeface="Segoe UI" pitchFamily="34" charset="0"/>
                <a:ea typeface="Segoe UI" pitchFamily="34" charset="-122"/>
                <a:cs typeface="Segoe UI" pitchFamily="34" charset="-120"/>
              </a:rPr>
              <a:t>  deep dive</a:t>
            </a:r>
            <a:endParaRPr lang="en-US" sz="900" dirty="0"/>
          </a:p>
        </p:txBody>
      </p:sp>
      <p:sp>
        <p:nvSpPr>
          <p:cNvPr id="6" name="Text 4"/>
          <p:cNvSpPr/>
          <p:nvPr/>
        </p:nvSpPr>
        <p:spPr>
          <a:xfrm>
            <a:off x="8808415" y="6446520"/>
            <a:ext cx="2743200" cy="274320"/>
          </a:xfrm>
          <a:prstGeom prst="rect">
            <a:avLst/>
          </a:prstGeom>
          <a:noFill/>
          <a:ln/>
        </p:spPr>
        <p:txBody>
          <a:bodyPr wrap="square" rtlCol="0" anchor="ctr"/>
          <a:lstStyle/>
          <a:p>
            <a:pPr algn="r" indent="0" marL="0">
              <a:buNone/>
            </a:pPr>
            <a:r>
              <a:rPr lang="en-US" sz="900" dirty="0">
                <a:solidFill>
                  <a:srgbClr val="5F7486"/>
                </a:solidFill>
                <a:latin typeface="Segoe UI" pitchFamily="34" charset="0"/>
                <a:ea typeface="Segoe UI" pitchFamily="34" charset="-122"/>
                <a:cs typeface="Segoe UI" pitchFamily="34" charset="-120"/>
              </a:rPr>
              <a:t>netchain.vercel.app</a:t>
            </a:r>
            <a:endParaRPr lang="en-US" sz="900" dirty="0"/>
          </a:p>
        </p:txBody>
      </p:sp>
      <p:sp>
        <p:nvSpPr>
          <p:cNvPr id="7" name="Text 5"/>
          <p:cNvSpPr/>
          <p:nvPr/>
        </p:nvSpPr>
        <p:spPr>
          <a:xfrm>
            <a:off x="640080" y="1920240"/>
            <a:ext cx="10911535" cy="3291840"/>
          </a:xfrm>
          <a:prstGeom prst="rect">
            <a:avLst/>
          </a:prstGeom>
          <a:noFill/>
          <a:ln/>
        </p:spPr>
        <p:txBody>
          <a:bodyPr wrap="square" rtlCol="0" anchor="t"/>
          <a:lstStyle/>
          <a:p>
            <a:pPr marL="203200" indent="-203200">
              <a:lnSpc>
                <a:spcPct val="120000"/>
              </a:lnSpc>
              <a:spcAft>
                <a:spcPts val="800"/>
              </a:spcAft>
              <a:buSzPct val="100000"/>
              <a:buChar char="•"/>
            </a:pPr>
            <a:r>
              <a:rPr lang="en-US" sz="1500" dirty="0">
                <a:solidFill>
                  <a:srgbClr val="E6EDF3"/>
                </a:solidFill>
                <a:latin typeface="Segoe UI" pitchFamily="34" charset="0"/>
                <a:ea typeface="Segoe UI" pitchFamily="34" charset="-122"/>
                <a:cs typeface="Segoe UI" pitchFamily="34" charset="-120"/>
              </a:rPr>
              <a:t>Counterparty privacy is the guarantee, and the valuable kind: A and C never see each other (the live 404). That is what a treasurer needs, your positions never leak to a competitor.</a:t>
            </a:r>
            <a:endParaRPr lang="en-US" sz="1500" dirty="0"/>
          </a:p>
          <a:p>
            <a:pPr marL="203200" indent="-203200">
              <a:lnSpc>
                <a:spcPct val="120000"/>
              </a:lnSpc>
              <a:spcAft>
                <a:spcPts val="800"/>
              </a:spcAft>
              <a:buSzPct val="100000"/>
              <a:buChar char="•"/>
            </a:pPr>
            <a:r>
              <a:rPr lang="en-US" sz="1500" dirty="0">
                <a:solidFill>
                  <a:srgbClr val="E6EDF3"/>
                </a:solidFill>
                <a:latin typeface="Segoe UI" pitchFamily="34" charset="0"/>
                <a:ea typeface="Segoe UI" pitchFamily="34" charset="-122"/>
                <a:cs typeface="Segoe UI" pitchFamily="34" charset="-120"/>
              </a:rPr>
              <a:t>The operator is a trusted, regulated intermediary, the same model as CLS and every netting center today, not an eavesdropper.</a:t>
            </a:r>
            <a:endParaRPr lang="en-US" sz="1500" dirty="0"/>
          </a:p>
          <a:p>
            <a:pPr marL="203200" indent="-203200">
              <a:lnSpc>
                <a:spcPct val="120000"/>
              </a:lnSpc>
              <a:spcAft>
                <a:spcPts val="800"/>
              </a:spcAft>
              <a:buSzPct val="100000"/>
              <a:buChar char="•"/>
            </a:pPr>
            <a:r>
              <a:rPr lang="en-US" sz="1500" dirty="0">
                <a:solidFill>
                  <a:srgbClr val="E6EDF3"/>
                </a:solidFill>
                <a:latin typeface="Segoe UI" pitchFamily="34" charset="0"/>
                <a:ea typeface="Segoe UI" pitchFamily="34" charset="-122"/>
                <a:cs typeface="Segoe UI" pitchFamily="34" charset="-120"/>
              </a:rPr>
              <a:t>That already beats incumbents (Kyriba / SAP), a ledger boundary instead of database access control.</a:t>
            </a:r>
            <a:endParaRPr lang="en-US" sz="1500" dirty="0"/>
          </a:p>
          <a:p>
            <a:pPr marL="203200" indent="-203200">
              <a:lnSpc>
                <a:spcPct val="120000"/>
              </a:lnSpc>
              <a:spcAft>
                <a:spcPts val="800"/>
              </a:spcAft>
              <a:buSzPct val="100000"/>
              <a:buChar char="•"/>
            </a:pPr>
            <a:r>
              <a:rPr lang="en-US" sz="1500" dirty="0">
                <a:solidFill>
                  <a:srgbClr val="E6EDF3"/>
                </a:solidFill>
                <a:latin typeface="Segoe UI" pitchFamily="34" charset="0"/>
                <a:ea typeface="Segoe UI" pitchFamily="34" charset="-122"/>
                <a:cs typeface="Segoe UI" pitchFamily="34" charset="-120"/>
              </a:rPr>
              <a:t>Removing even operator visibility (operator-blind netting via MPC / ZK) is named as roadmap, honestly, in docs/SETTLEMENT_DESIGN.md, not faked.</a:t>
            </a:r>
            <a:endParaRPr lang="en-US" sz="1500" dirty="0"/>
          </a:p>
        </p:txBody>
      </p:sp>
      <p:sp>
        <p:nvSpPr>
          <p:cNvPr id="8" name="Shape 6"/>
          <p:cNvSpPr/>
          <p:nvPr/>
        </p:nvSpPr>
        <p:spPr>
          <a:xfrm>
            <a:off x="640080" y="5120640"/>
            <a:ext cx="4297680" cy="310896"/>
          </a:xfrm>
          <a:prstGeom prst="roundRect">
            <a:avLst>
              <a:gd name="adj" fmla="val 50000"/>
            </a:avLst>
          </a:prstGeom>
          <a:solidFill>
            <a:srgbClr val="141C25"/>
          </a:solidFill>
          <a:ln w="12700">
            <a:solidFill>
              <a:srgbClr val="F5C451"/>
            </a:solidFill>
            <a:prstDash val="solid"/>
          </a:ln>
        </p:spPr>
      </p:sp>
      <p:sp>
        <p:nvSpPr>
          <p:cNvPr id="9" name="Text 7"/>
          <p:cNvSpPr/>
          <p:nvPr/>
        </p:nvSpPr>
        <p:spPr>
          <a:xfrm>
            <a:off x="640080" y="5120640"/>
            <a:ext cx="4297680" cy="310896"/>
          </a:xfrm>
          <a:prstGeom prst="rect">
            <a:avLst/>
          </a:prstGeom>
          <a:noFill/>
          <a:ln/>
        </p:spPr>
        <p:txBody>
          <a:bodyPr wrap="square" rtlCol="0" anchor="ctr"/>
          <a:lstStyle/>
          <a:p>
            <a:pPr algn="ctr" indent="0" marL="0">
              <a:buNone/>
            </a:pPr>
            <a:r>
              <a:rPr lang="en-US" sz="1000" b="1" dirty="0">
                <a:solidFill>
                  <a:srgbClr val="F5C451"/>
                </a:solidFill>
                <a:latin typeface="Segoe UI" pitchFamily="34" charset="0"/>
                <a:ea typeface="Segoe UI" pitchFamily="34" charset="-122"/>
                <a:cs typeface="Segoe UI" pitchFamily="34" charset="-120"/>
              </a:rPr>
              <a:t>Lead with the true claim, not overclaim</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7FA6C9"/>
          </a:solidFill>
          <a:ln/>
        </p:spPr>
      </p:sp>
      <p:sp>
        <p:nvSpPr>
          <p:cNvPr id="3" name="Text 1"/>
          <p:cNvSpPr/>
          <p:nvPr/>
        </p:nvSpPr>
        <p:spPr>
          <a:xfrm>
            <a:off x="640080" y="384048"/>
            <a:ext cx="10911535" cy="274320"/>
          </a:xfrm>
          <a:prstGeom prst="rect">
            <a:avLst/>
          </a:prstGeom>
          <a:noFill/>
          <a:ln/>
        </p:spPr>
        <p:txBody>
          <a:bodyPr wrap="square" rtlCol="0" anchor="ctr"/>
          <a:lstStyle/>
          <a:p>
            <a:pPr indent="0" marL="0">
              <a:buNone/>
            </a:pPr>
            <a:r>
              <a:rPr lang="en-US" sz="1100" b="1" spc="300" kern="0" dirty="0">
                <a:solidFill>
                  <a:srgbClr val="7FA6C9"/>
                </a:solidFill>
                <a:latin typeface="Segoe UI" pitchFamily="34" charset="0"/>
                <a:ea typeface="Segoe UI" pitchFamily="34" charset="-122"/>
                <a:cs typeface="Segoe UI" pitchFamily="34" charset="-120"/>
              </a:rPr>
              <a:t>WHERE IT SITS</a:t>
            </a:r>
            <a:endParaRPr lang="en-US" sz="1100" dirty="0"/>
          </a:p>
        </p:txBody>
      </p:sp>
      <p:sp>
        <p:nvSpPr>
          <p:cNvPr id="4" name="Text 2"/>
          <p:cNvSpPr/>
          <p:nvPr/>
        </p:nvSpPr>
        <p:spPr>
          <a:xfrm>
            <a:off x="640080" y="658368"/>
            <a:ext cx="10911535" cy="731520"/>
          </a:xfrm>
          <a:prstGeom prst="rect">
            <a:avLst/>
          </a:prstGeom>
          <a:noFill/>
          <a:ln/>
        </p:spPr>
        <p:txBody>
          <a:bodyPr wrap="square" rtlCol="0" anchor="ctr"/>
          <a:lstStyle/>
          <a:p>
            <a:pPr indent="0" marL="0">
              <a:buNone/>
            </a:pPr>
            <a:r>
              <a:rPr lang="en-US" sz="2700" b="1" dirty="0">
                <a:solidFill>
                  <a:srgbClr val="E6EDF3"/>
                </a:solidFill>
                <a:latin typeface="Segoe UI" pitchFamily="34" charset="0"/>
                <a:ea typeface="Segoe UI" pitchFamily="34" charset="-122"/>
                <a:cs typeface="Segoe UI" pitchFamily="34" charset="-120"/>
              </a:rPr>
              <a:t>The intersection nobody else occupies</a:t>
            </a:r>
            <a:endParaRPr lang="en-US" sz="2700" dirty="0"/>
          </a:p>
        </p:txBody>
      </p:sp>
      <p:sp>
        <p:nvSpPr>
          <p:cNvPr id="5" name="Text 3"/>
          <p:cNvSpPr/>
          <p:nvPr/>
        </p:nvSpPr>
        <p:spPr>
          <a:xfrm>
            <a:off x="640080" y="6446520"/>
            <a:ext cx="5486400" cy="274320"/>
          </a:xfrm>
          <a:prstGeom prst="rect">
            <a:avLst/>
          </a:prstGeom>
          <a:noFill/>
          <a:ln/>
        </p:spPr>
        <p:txBody>
          <a:bodyPr wrap="square" rtlCol="0" anchor="ctr"/>
          <a:lstStyle/>
          <a:p>
            <a:pPr indent="0" marL="0">
              <a:buNone/>
            </a:pPr>
            <a:r>
              <a:rPr lang="en-US" sz="900" b="1" dirty="0">
                <a:solidFill>
                  <a:srgbClr val="E6EDF3"/>
                </a:solidFill>
                <a:latin typeface="Segoe UI" pitchFamily="34" charset="0"/>
                <a:ea typeface="Segoe UI" pitchFamily="34" charset="-122"/>
                <a:cs typeface="Segoe UI" pitchFamily="34" charset="-120"/>
              </a:rPr>
              <a:t>NetChain</a:t>
            </a:r>
            <a:pPr indent="0" marL="0">
              <a:buNone/>
            </a:pPr>
            <a:r>
              <a:rPr lang="en-US" sz="900" dirty="0">
                <a:solidFill>
                  <a:srgbClr val="5F7486"/>
                </a:solidFill>
                <a:latin typeface="Segoe UI" pitchFamily="34" charset="0"/>
                <a:ea typeface="Segoe UI" pitchFamily="34" charset="-122"/>
                <a:cs typeface="Segoe UI" pitchFamily="34" charset="-120"/>
              </a:rPr>
              <a:t>  deep dive</a:t>
            </a:r>
            <a:endParaRPr lang="en-US" sz="900" dirty="0"/>
          </a:p>
        </p:txBody>
      </p:sp>
      <p:sp>
        <p:nvSpPr>
          <p:cNvPr id="6" name="Text 4"/>
          <p:cNvSpPr/>
          <p:nvPr/>
        </p:nvSpPr>
        <p:spPr>
          <a:xfrm>
            <a:off x="8808415" y="6446520"/>
            <a:ext cx="2743200" cy="274320"/>
          </a:xfrm>
          <a:prstGeom prst="rect">
            <a:avLst/>
          </a:prstGeom>
          <a:noFill/>
          <a:ln/>
        </p:spPr>
        <p:txBody>
          <a:bodyPr wrap="square" rtlCol="0" anchor="ctr"/>
          <a:lstStyle/>
          <a:p>
            <a:pPr algn="r" indent="0" marL="0">
              <a:buNone/>
            </a:pPr>
            <a:r>
              <a:rPr lang="en-US" sz="900" dirty="0">
                <a:solidFill>
                  <a:srgbClr val="5F7486"/>
                </a:solidFill>
                <a:latin typeface="Segoe UI" pitchFamily="34" charset="0"/>
                <a:ea typeface="Segoe UI" pitchFamily="34" charset="-122"/>
                <a:cs typeface="Segoe UI" pitchFamily="34" charset="-120"/>
              </a:rPr>
              <a:t>netchain.vercel.app</a:t>
            </a:r>
            <a:endParaRPr lang="en-US" sz="900" dirty="0"/>
          </a:p>
        </p:txBody>
      </p:sp>
      <p:sp>
        <p:nvSpPr>
          <p:cNvPr id="7" name="Shape 5"/>
          <p:cNvSpPr/>
          <p:nvPr/>
        </p:nvSpPr>
        <p:spPr>
          <a:xfrm>
            <a:off x="640080" y="1645920"/>
            <a:ext cx="5257800" cy="2743200"/>
          </a:xfrm>
          <a:prstGeom prst="roundRect">
            <a:avLst>
              <a:gd name="adj" fmla="val 3000"/>
            </a:avLst>
          </a:prstGeom>
          <a:solidFill>
            <a:srgbClr val="141C25"/>
          </a:solidFill>
          <a:ln w="12700">
            <a:solidFill>
              <a:srgbClr val="223040"/>
            </a:solidFill>
            <a:prstDash val="solid"/>
          </a:ln>
        </p:spPr>
      </p:sp>
      <p:sp>
        <p:nvSpPr>
          <p:cNvPr id="8" name="Text 6"/>
          <p:cNvSpPr/>
          <p:nvPr/>
        </p:nvSpPr>
        <p:spPr>
          <a:xfrm>
            <a:off x="914400" y="1874520"/>
            <a:ext cx="4572000" cy="365760"/>
          </a:xfrm>
          <a:prstGeom prst="rect">
            <a:avLst/>
          </a:prstGeom>
          <a:noFill/>
          <a:ln/>
        </p:spPr>
        <p:txBody>
          <a:bodyPr wrap="square" rtlCol="0" anchor="ctr"/>
          <a:lstStyle/>
          <a:p>
            <a:pPr indent="0" marL="0">
              <a:buNone/>
            </a:pPr>
            <a:r>
              <a:rPr lang="en-US" sz="1500" b="1" dirty="0">
                <a:solidFill>
                  <a:srgbClr val="8FA6B8"/>
                </a:solidFill>
                <a:latin typeface="Segoe UI" pitchFamily="34" charset="0"/>
                <a:ea typeface="Segoe UI" pitchFamily="34" charset="-122"/>
                <a:cs typeface="Segoe UI" pitchFamily="34" charset="-120"/>
              </a:rPr>
              <a:t>Netting incumbents</a:t>
            </a:r>
            <a:endParaRPr lang="en-US" sz="1500" dirty="0"/>
          </a:p>
        </p:txBody>
      </p:sp>
      <p:sp>
        <p:nvSpPr>
          <p:cNvPr id="9" name="Text 7"/>
          <p:cNvSpPr/>
          <p:nvPr/>
        </p:nvSpPr>
        <p:spPr>
          <a:xfrm>
            <a:off x="914400" y="2286000"/>
            <a:ext cx="4709160" cy="1920240"/>
          </a:xfrm>
          <a:prstGeom prst="rect">
            <a:avLst/>
          </a:prstGeom>
          <a:noFill/>
          <a:ln/>
        </p:spPr>
        <p:txBody>
          <a:bodyPr wrap="square" rtlCol="0" anchor="t"/>
          <a:lstStyle/>
          <a:p>
            <a:pPr marL="203200" indent="-203200">
              <a:lnSpc>
                <a:spcPct val="120000"/>
              </a:lnSpc>
              <a:spcAft>
                <a:spcPts val="800"/>
              </a:spcAft>
              <a:buSzPct val="100000"/>
              <a:buChar char="•"/>
            </a:pPr>
            <a:r>
              <a:rPr lang="en-US" sz="1250" dirty="0">
                <a:solidFill>
                  <a:srgbClr val="E6EDF3"/>
                </a:solidFill>
                <a:latin typeface="Segoe UI" pitchFamily="34" charset="0"/>
                <a:ea typeface="Segoe UI" pitchFamily="34" charset="-122"/>
                <a:cs typeface="Segoe UI" pitchFamily="34" charset="-120"/>
              </a:rPr>
              <a:t>Kyriba, Coprocess/GTreasury, SAP In-House Cash.</a:t>
            </a:r>
            <a:endParaRPr lang="en-US" sz="1250" dirty="0"/>
          </a:p>
          <a:p>
            <a:pPr marL="203200" indent="-203200">
              <a:lnSpc>
                <a:spcPct val="120000"/>
              </a:lnSpc>
              <a:spcAft>
                <a:spcPts val="800"/>
              </a:spcAft>
              <a:buSzPct val="100000"/>
              <a:buChar char="•"/>
            </a:pPr>
            <a:r>
              <a:rPr lang="en-US" sz="1250" dirty="0">
                <a:solidFill>
                  <a:srgbClr val="E6EDF3"/>
                </a:solidFill>
                <a:latin typeface="Segoe UI" pitchFamily="34" charset="0"/>
                <a:ea typeface="Segoe UI" pitchFamily="34" charset="-122"/>
                <a:cs typeface="Segoe UI" pitchFamily="34" charset="-120"/>
              </a:rPr>
              <a:t>Compute the net, then hand off to non-atomic bank rails.</a:t>
            </a:r>
            <a:endParaRPr lang="en-US" sz="1250" dirty="0"/>
          </a:p>
          <a:p>
            <a:pPr marL="203200" indent="-203200">
              <a:lnSpc>
                <a:spcPct val="120000"/>
              </a:lnSpc>
              <a:spcAft>
                <a:spcPts val="800"/>
              </a:spcAft>
              <a:buSzPct val="100000"/>
              <a:buChar char="•"/>
            </a:pPr>
            <a:r>
              <a:rPr lang="en-US" sz="1250" dirty="0">
                <a:solidFill>
                  <a:srgbClr val="E6EDF3"/>
                </a:solidFill>
                <a:latin typeface="Segoe UI" pitchFamily="34" charset="0"/>
                <a:ea typeface="Segoe UI" pitchFamily="34" charset="-122"/>
                <a:cs typeface="Segoe UI" pitchFamily="34" charset="-120"/>
              </a:rPr>
              <a:t>No cryptographic per-party privacy.</a:t>
            </a:r>
            <a:endParaRPr lang="en-US" sz="1250" dirty="0"/>
          </a:p>
        </p:txBody>
      </p:sp>
      <p:sp>
        <p:nvSpPr>
          <p:cNvPr id="10" name="Shape 8"/>
          <p:cNvSpPr/>
          <p:nvPr/>
        </p:nvSpPr>
        <p:spPr>
          <a:xfrm>
            <a:off x="6263640" y="1645920"/>
            <a:ext cx="5285232" cy="2743200"/>
          </a:xfrm>
          <a:prstGeom prst="roundRect">
            <a:avLst>
              <a:gd name="adj" fmla="val 3000"/>
            </a:avLst>
          </a:prstGeom>
          <a:solidFill>
            <a:srgbClr val="141C25"/>
          </a:solidFill>
          <a:ln w="12700">
            <a:solidFill>
              <a:srgbClr val="223040"/>
            </a:solidFill>
            <a:prstDash val="solid"/>
          </a:ln>
        </p:spPr>
      </p:sp>
      <p:sp>
        <p:nvSpPr>
          <p:cNvPr id="11" name="Text 9"/>
          <p:cNvSpPr/>
          <p:nvPr/>
        </p:nvSpPr>
        <p:spPr>
          <a:xfrm>
            <a:off x="6537960" y="1874520"/>
            <a:ext cx="4572000" cy="365760"/>
          </a:xfrm>
          <a:prstGeom prst="rect">
            <a:avLst/>
          </a:prstGeom>
          <a:noFill/>
          <a:ln/>
        </p:spPr>
        <p:txBody>
          <a:bodyPr wrap="square" rtlCol="0" anchor="ctr"/>
          <a:lstStyle/>
          <a:p>
            <a:pPr indent="0" marL="0">
              <a:buNone/>
            </a:pPr>
            <a:r>
              <a:rPr lang="en-US" sz="1500" b="1" dirty="0">
                <a:solidFill>
                  <a:srgbClr val="8FA6B8"/>
                </a:solidFill>
                <a:latin typeface="Segoe UI" pitchFamily="34" charset="0"/>
                <a:ea typeface="Segoe UI" pitchFamily="34" charset="-122"/>
                <a:cs typeface="Segoe UI" pitchFamily="34" charset="-120"/>
              </a:rPr>
              <a:t>DLT settlement players</a:t>
            </a:r>
            <a:endParaRPr lang="en-US" sz="1500" dirty="0"/>
          </a:p>
        </p:txBody>
      </p:sp>
      <p:sp>
        <p:nvSpPr>
          <p:cNvPr id="12" name="Text 10"/>
          <p:cNvSpPr/>
          <p:nvPr/>
        </p:nvSpPr>
        <p:spPr>
          <a:xfrm>
            <a:off x="6537960" y="2286000"/>
            <a:ext cx="4709160" cy="1920240"/>
          </a:xfrm>
          <a:prstGeom prst="rect">
            <a:avLst/>
          </a:prstGeom>
          <a:noFill/>
          <a:ln/>
        </p:spPr>
        <p:txBody>
          <a:bodyPr wrap="square" rtlCol="0" anchor="t"/>
          <a:lstStyle/>
          <a:p>
            <a:pPr marL="203200" indent="-203200">
              <a:lnSpc>
                <a:spcPct val="120000"/>
              </a:lnSpc>
              <a:spcAft>
                <a:spcPts val="800"/>
              </a:spcAft>
              <a:buSzPct val="100000"/>
              <a:buChar char="•"/>
            </a:pPr>
            <a:r>
              <a:rPr lang="en-US" sz="1250" dirty="0">
                <a:solidFill>
                  <a:srgbClr val="E6EDF3"/>
                </a:solidFill>
                <a:latin typeface="Segoe UI" pitchFamily="34" charset="0"/>
                <a:ea typeface="Segoe UI" pitchFamily="34" charset="-122"/>
                <a:cs typeface="Segoe UI" pitchFamily="34" charset="-120"/>
              </a:rPr>
              <a:t>Partior, Fnality, J.P. Morgan Kinexys.</a:t>
            </a:r>
            <a:endParaRPr lang="en-US" sz="1250" dirty="0"/>
          </a:p>
          <a:p>
            <a:pPr marL="203200" indent="-203200">
              <a:lnSpc>
                <a:spcPct val="120000"/>
              </a:lnSpc>
              <a:spcAft>
                <a:spcPts val="800"/>
              </a:spcAft>
              <a:buSzPct val="100000"/>
              <a:buChar char="•"/>
            </a:pPr>
            <a:r>
              <a:rPr lang="en-US" sz="1250" dirty="0">
                <a:solidFill>
                  <a:srgbClr val="E6EDF3"/>
                </a:solidFill>
                <a:latin typeface="Segoe UI" pitchFamily="34" charset="0"/>
                <a:ea typeface="Segoe UI" pitchFamily="34" charset="-122"/>
                <a:cs typeface="Segoe UI" pitchFamily="34" charset="-120"/>
              </a:rPr>
              <a:t>Settle atomically, but only bilaterally.</a:t>
            </a:r>
            <a:endParaRPr lang="en-US" sz="1250" dirty="0"/>
          </a:p>
          <a:p>
            <a:pPr marL="203200" indent="-203200">
              <a:lnSpc>
                <a:spcPct val="120000"/>
              </a:lnSpc>
              <a:spcAft>
                <a:spcPts val="800"/>
              </a:spcAft>
              <a:buSzPct val="100000"/>
              <a:buChar char="•"/>
            </a:pPr>
            <a:r>
              <a:rPr lang="en-US" sz="1250" dirty="0">
                <a:solidFill>
                  <a:srgbClr val="E6EDF3"/>
                </a:solidFill>
                <a:latin typeface="Segoe UI" pitchFamily="34" charset="0"/>
                <a:ea typeface="Segoe UI" pitchFamily="34" charset="-122"/>
                <a:cs typeface="Segoe UI" pitchFamily="34" charset="-120"/>
              </a:rPr>
              <a:t>No confidential N-party net computation.</a:t>
            </a:r>
            <a:endParaRPr lang="en-US" sz="1250" dirty="0"/>
          </a:p>
        </p:txBody>
      </p:sp>
      <p:sp>
        <p:nvSpPr>
          <p:cNvPr id="13" name="Shape 11"/>
          <p:cNvSpPr/>
          <p:nvPr/>
        </p:nvSpPr>
        <p:spPr>
          <a:xfrm>
            <a:off x="640080" y="4572000"/>
            <a:ext cx="10911535" cy="1371600"/>
          </a:xfrm>
          <a:prstGeom prst="roundRect">
            <a:avLst>
              <a:gd name="adj" fmla="val 6000"/>
            </a:avLst>
          </a:prstGeom>
          <a:solidFill>
            <a:srgbClr val="10251C"/>
          </a:solidFill>
          <a:ln w="12700">
            <a:solidFill>
              <a:srgbClr val="223040"/>
            </a:solidFill>
            <a:prstDash val="solid"/>
          </a:ln>
        </p:spPr>
      </p:sp>
      <p:sp>
        <p:nvSpPr>
          <p:cNvPr id="14" name="Text 12"/>
          <p:cNvSpPr/>
          <p:nvPr/>
        </p:nvSpPr>
        <p:spPr>
          <a:xfrm>
            <a:off x="914400" y="4709160"/>
            <a:ext cx="10362895" cy="1097280"/>
          </a:xfrm>
          <a:prstGeom prst="rect">
            <a:avLst/>
          </a:prstGeom>
          <a:noFill/>
          <a:ln/>
        </p:spPr>
        <p:txBody>
          <a:bodyPr wrap="square" rtlCol="0" anchor="ctr"/>
          <a:lstStyle/>
          <a:p>
            <a:pPr indent="0" marL="0">
              <a:lnSpc>
                <a:spcPct val="120000"/>
              </a:lnSpc>
              <a:buNone/>
            </a:pPr>
            <a:r>
              <a:rPr lang="en-US" sz="1500" b="1" dirty="0">
                <a:solidFill>
                  <a:srgbClr val="38E1A4"/>
                </a:solidFill>
                <a:latin typeface="Segoe UI" pitchFamily="34" charset="0"/>
                <a:ea typeface="Segoe UI" pitchFamily="34" charset="-122"/>
                <a:cs typeface="Segoe UI" pitchFamily="34" charset="-120"/>
              </a:rPr>
              <a:t>NetChain sits at both: </a:t>
            </a:r>
            <a:pPr indent="0" marL="0">
              <a:lnSpc>
                <a:spcPct val="120000"/>
              </a:lnSpc>
              <a:buNone/>
            </a:pPr>
            <a:r>
              <a:rPr lang="en-US" sz="1300" dirty="0">
                <a:solidFill>
                  <a:srgbClr val="E6EDF3"/>
                </a:solidFill>
                <a:latin typeface="Segoe UI" pitchFamily="34" charset="0"/>
                <a:ea typeface="Segoe UI" pitchFamily="34" charset="-122"/>
                <a:cs typeface="Segoe UI" pitchFamily="34" charset="-120"/>
              </a:rPr>
              <a:t>confidential N-party netting + atomic settlement of every net leg, on Canton. J.P. Morgan bringing JPMD to Canton and Ripple/GTreasury fusing netting with a rail are independent 2026 validation that this combination is real and not yet commoditized.</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7FA6C9"/>
          </a:solidFill>
          <a:ln/>
        </p:spPr>
      </p:sp>
      <p:sp>
        <p:nvSpPr>
          <p:cNvPr id="3" name="Text 1"/>
          <p:cNvSpPr/>
          <p:nvPr/>
        </p:nvSpPr>
        <p:spPr>
          <a:xfrm>
            <a:off x="640080" y="384048"/>
            <a:ext cx="10911535" cy="274320"/>
          </a:xfrm>
          <a:prstGeom prst="rect">
            <a:avLst/>
          </a:prstGeom>
          <a:noFill/>
          <a:ln/>
        </p:spPr>
        <p:txBody>
          <a:bodyPr wrap="square" rtlCol="0" anchor="ctr"/>
          <a:lstStyle/>
          <a:p>
            <a:pPr indent="0" marL="0">
              <a:buNone/>
            </a:pPr>
            <a:r>
              <a:rPr lang="en-US" sz="1100" b="1" spc="300" kern="0" dirty="0">
                <a:solidFill>
                  <a:srgbClr val="7FA6C9"/>
                </a:solidFill>
                <a:latin typeface="Segoe UI" pitchFamily="34" charset="0"/>
                <a:ea typeface="Segoe UI" pitchFamily="34" charset="-122"/>
                <a:cs typeface="Segoe UI" pitchFamily="34" charset="-120"/>
              </a:rPr>
              <a:t>RECAP</a:t>
            </a:r>
            <a:endParaRPr lang="en-US" sz="1100" dirty="0"/>
          </a:p>
        </p:txBody>
      </p:sp>
      <p:sp>
        <p:nvSpPr>
          <p:cNvPr id="4" name="Text 2"/>
          <p:cNvSpPr/>
          <p:nvPr/>
        </p:nvSpPr>
        <p:spPr>
          <a:xfrm>
            <a:off x="640080" y="658368"/>
            <a:ext cx="10911535" cy="731520"/>
          </a:xfrm>
          <a:prstGeom prst="rect">
            <a:avLst/>
          </a:prstGeom>
          <a:noFill/>
          <a:ln/>
        </p:spPr>
        <p:txBody>
          <a:bodyPr wrap="square" rtlCol="0" anchor="ctr"/>
          <a:lstStyle/>
          <a:p>
            <a:pPr indent="0" marL="0">
              <a:buNone/>
            </a:pPr>
            <a:r>
              <a:rPr lang="en-US" sz="2700" b="1" dirty="0">
                <a:solidFill>
                  <a:srgbClr val="E6EDF3"/>
                </a:solidFill>
                <a:latin typeface="Segoe UI" pitchFamily="34" charset="0"/>
                <a:ea typeface="Segoe UI" pitchFamily="34" charset="-122"/>
                <a:cs typeface="Segoe UI" pitchFamily="34" charset="-120"/>
              </a:rPr>
              <a:t>Everything, on one slide</a:t>
            </a:r>
            <a:endParaRPr lang="en-US" sz="2700" dirty="0"/>
          </a:p>
        </p:txBody>
      </p:sp>
      <p:sp>
        <p:nvSpPr>
          <p:cNvPr id="5" name="Text 3"/>
          <p:cNvSpPr/>
          <p:nvPr/>
        </p:nvSpPr>
        <p:spPr>
          <a:xfrm>
            <a:off x="640080" y="6446520"/>
            <a:ext cx="5486400" cy="274320"/>
          </a:xfrm>
          <a:prstGeom prst="rect">
            <a:avLst/>
          </a:prstGeom>
          <a:noFill/>
          <a:ln/>
        </p:spPr>
        <p:txBody>
          <a:bodyPr wrap="square" rtlCol="0" anchor="ctr"/>
          <a:lstStyle/>
          <a:p>
            <a:pPr indent="0" marL="0">
              <a:buNone/>
            </a:pPr>
            <a:r>
              <a:rPr lang="en-US" sz="900" b="1" dirty="0">
                <a:solidFill>
                  <a:srgbClr val="E6EDF3"/>
                </a:solidFill>
                <a:latin typeface="Segoe UI" pitchFamily="34" charset="0"/>
                <a:ea typeface="Segoe UI" pitchFamily="34" charset="-122"/>
                <a:cs typeface="Segoe UI" pitchFamily="34" charset="-120"/>
              </a:rPr>
              <a:t>NetChain</a:t>
            </a:r>
            <a:pPr indent="0" marL="0">
              <a:buNone/>
            </a:pPr>
            <a:r>
              <a:rPr lang="en-US" sz="900" dirty="0">
                <a:solidFill>
                  <a:srgbClr val="5F7486"/>
                </a:solidFill>
                <a:latin typeface="Segoe UI" pitchFamily="34" charset="0"/>
                <a:ea typeface="Segoe UI" pitchFamily="34" charset="-122"/>
                <a:cs typeface="Segoe UI" pitchFamily="34" charset="-120"/>
              </a:rPr>
              <a:t>  deep dive</a:t>
            </a:r>
            <a:endParaRPr lang="en-US" sz="900" dirty="0"/>
          </a:p>
        </p:txBody>
      </p:sp>
      <p:sp>
        <p:nvSpPr>
          <p:cNvPr id="6" name="Text 4"/>
          <p:cNvSpPr/>
          <p:nvPr/>
        </p:nvSpPr>
        <p:spPr>
          <a:xfrm>
            <a:off x="8808415" y="6446520"/>
            <a:ext cx="2743200" cy="274320"/>
          </a:xfrm>
          <a:prstGeom prst="rect">
            <a:avLst/>
          </a:prstGeom>
          <a:noFill/>
          <a:ln/>
        </p:spPr>
        <p:txBody>
          <a:bodyPr wrap="square" rtlCol="0" anchor="ctr"/>
          <a:lstStyle/>
          <a:p>
            <a:pPr algn="r" indent="0" marL="0">
              <a:buNone/>
            </a:pPr>
            <a:r>
              <a:rPr lang="en-US" sz="900" dirty="0">
                <a:solidFill>
                  <a:srgbClr val="5F7486"/>
                </a:solidFill>
                <a:latin typeface="Segoe UI" pitchFamily="34" charset="0"/>
                <a:ea typeface="Segoe UI" pitchFamily="34" charset="-122"/>
                <a:cs typeface="Segoe UI" pitchFamily="34" charset="-120"/>
              </a:rPr>
              <a:t>netchain.vercel.app</a:t>
            </a:r>
            <a:endParaRPr lang="en-US" sz="900" dirty="0"/>
          </a:p>
        </p:txBody>
      </p:sp>
      <p:sp>
        <p:nvSpPr>
          <p:cNvPr id="7" name="Shape 5"/>
          <p:cNvSpPr/>
          <p:nvPr/>
        </p:nvSpPr>
        <p:spPr>
          <a:xfrm>
            <a:off x="640080" y="1965960"/>
            <a:ext cx="3566160" cy="1097280"/>
          </a:xfrm>
          <a:prstGeom prst="roundRect">
            <a:avLst>
              <a:gd name="adj" fmla="val 7500"/>
            </a:avLst>
          </a:prstGeom>
          <a:solidFill>
            <a:srgbClr val="141C25"/>
          </a:solidFill>
          <a:ln w="12700">
            <a:solidFill>
              <a:srgbClr val="223040"/>
            </a:solidFill>
            <a:prstDash val="solid"/>
          </a:ln>
        </p:spPr>
      </p:sp>
      <p:sp>
        <p:nvSpPr>
          <p:cNvPr id="8" name="Text 6"/>
          <p:cNvSpPr/>
          <p:nvPr/>
        </p:nvSpPr>
        <p:spPr>
          <a:xfrm>
            <a:off x="822960" y="1965960"/>
            <a:ext cx="3200400" cy="1097280"/>
          </a:xfrm>
          <a:prstGeom prst="rect">
            <a:avLst/>
          </a:prstGeom>
          <a:noFill/>
          <a:ln/>
        </p:spPr>
        <p:txBody>
          <a:bodyPr wrap="square" rtlCol="0" anchor="ctr"/>
          <a:lstStyle/>
          <a:p>
            <a:pPr indent="0" marL="0">
              <a:lnSpc>
                <a:spcPct val="110000"/>
              </a:lnSpc>
              <a:buNone/>
            </a:pPr>
            <a:r>
              <a:rPr lang="en-US" sz="1400" b="1" dirty="0">
                <a:solidFill>
                  <a:srgbClr val="7FA6C9"/>
                </a:solidFill>
                <a:latin typeface="Segoe UI" pitchFamily="34" charset="0"/>
                <a:ea typeface="Segoe UI" pitchFamily="34" charset="-122"/>
                <a:cs typeface="Segoe UI" pitchFamily="34" charset="-120"/>
              </a:rPr>
              <a:t>Confidential netting
</a:t>
            </a:r>
            <a:pPr indent="0" marL="0">
              <a:lnSpc>
                <a:spcPct val="110000"/>
              </a:lnSpc>
              <a:buNone/>
            </a:pPr>
            <a:r>
              <a:rPr lang="en-US" sz="1100" dirty="0">
                <a:solidFill>
                  <a:srgbClr val="8FA6B8"/>
                </a:solidFill>
                <a:latin typeface="Segoe UI" pitchFamily="34" charset="0"/>
                <a:ea typeface="Segoe UI" pitchFamily="34" charset="-122"/>
                <a:cs typeface="Segoe UI" pitchFamily="34" charset="-120"/>
              </a:rPr>
              <a:t>460k -&gt; 45k, counterparties blind</a:t>
            </a:r>
            <a:endParaRPr lang="en-US" sz="1400" dirty="0"/>
          </a:p>
        </p:txBody>
      </p:sp>
      <p:sp>
        <p:nvSpPr>
          <p:cNvPr id="9" name="Shape 7"/>
          <p:cNvSpPr/>
          <p:nvPr/>
        </p:nvSpPr>
        <p:spPr>
          <a:xfrm>
            <a:off x="4434840" y="1965960"/>
            <a:ext cx="3566160" cy="1097280"/>
          </a:xfrm>
          <a:prstGeom prst="roundRect">
            <a:avLst>
              <a:gd name="adj" fmla="val 7500"/>
            </a:avLst>
          </a:prstGeom>
          <a:solidFill>
            <a:srgbClr val="141C25"/>
          </a:solidFill>
          <a:ln w="12700">
            <a:solidFill>
              <a:srgbClr val="223040"/>
            </a:solidFill>
            <a:prstDash val="solid"/>
          </a:ln>
        </p:spPr>
      </p:sp>
      <p:sp>
        <p:nvSpPr>
          <p:cNvPr id="10" name="Text 8"/>
          <p:cNvSpPr/>
          <p:nvPr/>
        </p:nvSpPr>
        <p:spPr>
          <a:xfrm>
            <a:off x="4617720" y="1965960"/>
            <a:ext cx="3200400" cy="1097280"/>
          </a:xfrm>
          <a:prstGeom prst="rect">
            <a:avLst/>
          </a:prstGeom>
          <a:noFill/>
          <a:ln/>
        </p:spPr>
        <p:txBody>
          <a:bodyPr wrap="square" rtlCol="0" anchor="ctr"/>
          <a:lstStyle/>
          <a:p>
            <a:pPr indent="0" marL="0">
              <a:lnSpc>
                <a:spcPct val="110000"/>
              </a:lnSpc>
              <a:buNone/>
            </a:pPr>
            <a:r>
              <a:rPr lang="en-US" sz="1400" b="1" dirty="0">
                <a:solidFill>
                  <a:srgbClr val="7FA6C9"/>
                </a:solidFill>
                <a:latin typeface="Segoe UI" pitchFamily="34" charset="0"/>
                <a:ea typeface="Segoe UI" pitchFamily="34" charset="-122"/>
                <a:cs typeface="Segoe UI" pitchFamily="34" charset="-120"/>
              </a:rPr>
              <a:t>Atomic settlement
</a:t>
            </a:r>
            <a:pPr indent="0" marL="0">
              <a:lnSpc>
                <a:spcPct val="110000"/>
              </a:lnSpc>
              <a:buNone/>
            </a:pPr>
            <a:r>
              <a:rPr lang="en-US" sz="1100" dirty="0">
                <a:solidFill>
                  <a:srgbClr val="8FA6B8"/>
                </a:solidFill>
                <a:latin typeface="Segoe UI" pitchFamily="34" charset="0"/>
                <a:ea typeface="Segoe UI" pitchFamily="34" charset="-122"/>
                <a:cs typeface="Segoe UI" pitchFamily="34" charset="-120"/>
              </a:rPr>
              <a:t>all legs or none, one commit</a:t>
            </a:r>
            <a:endParaRPr lang="en-US" sz="1400" dirty="0"/>
          </a:p>
        </p:txBody>
      </p:sp>
      <p:sp>
        <p:nvSpPr>
          <p:cNvPr id="11" name="Shape 9"/>
          <p:cNvSpPr/>
          <p:nvPr/>
        </p:nvSpPr>
        <p:spPr>
          <a:xfrm>
            <a:off x="8229600" y="1965960"/>
            <a:ext cx="3566160" cy="1097280"/>
          </a:xfrm>
          <a:prstGeom prst="roundRect">
            <a:avLst>
              <a:gd name="adj" fmla="val 7500"/>
            </a:avLst>
          </a:prstGeom>
          <a:solidFill>
            <a:srgbClr val="141C25"/>
          </a:solidFill>
          <a:ln w="12700">
            <a:solidFill>
              <a:srgbClr val="223040"/>
            </a:solidFill>
            <a:prstDash val="solid"/>
          </a:ln>
        </p:spPr>
      </p:sp>
      <p:sp>
        <p:nvSpPr>
          <p:cNvPr id="12" name="Text 10"/>
          <p:cNvSpPr/>
          <p:nvPr/>
        </p:nvSpPr>
        <p:spPr>
          <a:xfrm>
            <a:off x="8412480" y="1965960"/>
            <a:ext cx="3200400" cy="1097280"/>
          </a:xfrm>
          <a:prstGeom prst="rect">
            <a:avLst/>
          </a:prstGeom>
          <a:noFill/>
          <a:ln/>
        </p:spPr>
        <p:txBody>
          <a:bodyPr wrap="square" rtlCol="0" anchor="ctr"/>
          <a:lstStyle/>
          <a:p>
            <a:pPr indent="0" marL="0">
              <a:lnSpc>
                <a:spcPct val="110000"/>
              </a:lnSpc>
              <a:buNone/>
            </a:pPr>
            <a:r>
              <a:rPr lang="en-US" sz="1400" b="1" dirty="0">
                <a:solidFill>
                  <a:srgbClr val="7FA6C9"/>
                </a:solidFill>
                <a:latin typeface="Segoe UI" pitchFamily="34" charset="0"/>
                <a:ea typeface="Segoe UI" pitchFamily="34" charset="-122"/>
                <a:cs typeface="Segoe UI" pitchFamily="34" charset="-120"/>
              </a:rPr>
              <a:t>Per-party privacy
</a:t>
            </a:r>
            <a:pPr indent="0" marL="0">
              <a:lnSpc>
                <a:spcPct val="110000"/>
              </a:lnSpc>
              <a:buNone/>
            </a:pPr>
            <a:r>
              <a:rPr lang="en-US" sz="1100" dirty="0">
                <a:solidFill>
                  <a:srgbClr val="8FA6B8"/>
                </a:solidFill>
                <a:latin typeface="Segoe UI" pitchFamily="34" charset="0"/>
                <a:ea typeface="Segoe UI" pitchFamily="34" charset="-122"/>
                <a:cs typeface="Segoe UI" pitchFamily="34" charset="-120"/>
              </a:rPr>
              <a:t>real 404, ledger-enforced</a:t>
            </a:r>
            <a:endParaRPr lang="en-US" sz="1400" dirty="0"/>
          </a:p>
        </p:txBody>
      </p:sp>
      <p:sp>
        <p:nvSpPr>
          <p:cNvPr id="13" name="Shape 11"/>
          <p:cNvSpPr/>
          <p:nvPr/>
        </p:nvSpPr>
        <p:spPr>
          <a:xfrm>
            <a:off x="640080" y="3337560"/>
            <a:ext cx="3566160" cy="1097280"/>
          </a:xfrm>
          <a:prstGeom prst="roundRect">
            <a:avLst>
              <a:gd name="adj" fmla="val 7500"/>
            </a:avLst>
          </a:prstGeom>
          <a:solidFill>
            <a:srgbClr val="141C25"/>
          </a:solidFill>
          <a:ln w="12700">
            <a:solidFill>
              <a:srgbClr val="223040"/>
            </a:solidFill>
            <a:prstDash val="solid"/>
          </a:ln>
        </p:spPr>
      </p:sp>
      <p:sp>
        <p:nvSpPr>
          <p:cNvPr id="14" name="Text 12"/>
          <p:cNvSpPr/>
          <p:nvPr/>
        </p:nvSpPr>
        <p:spPr>
          <a:xfrm>
            <a:off x="822960" y="3337560"/>
            <a:ext cx="3200400" cy="1097280"/>
          </a:xfrm>
          <a:prstGeom prst="rect">
            <a:avLst/>
          </a:prstGeom>
          <a:noFill/>
          <a:ln/>
        </p:spPr>
        <p:txBody>
          <a:bodyPr wrap="square" rtlCol="0" anchor="ctr"/>
          <a:lstStyle/>
          <a:p>
            <a:pPr indent="0" marL="0">
              <a:lnSpc>
                <a:spcPct val="110000"/>
              </a:lnSpc>
              <a:buNone/>
            </a:pPr>
            <a:r>
              <a:rPr lang="en-US" sz="1400" b="1" dirty="0">
                <a:solidFill>
                  <a:srgbClr val="7FA6C9"/>
                </a:solidFill>
                <a:latin typeface="Segoe UI" pitchFamily="34" charset="0"/>
                <a:ea typeface="Segoe UI" pitchFamily="34" charset="-122"/>
                <a:cs typeface="Segoe UI" pitchFamily="34" charset="-120"/>
              </a:rPr>
              <a:t>Bilateral confirmation
</a:t>
            </a:r>
            <a:pPr indent="0" marL="0">
              <a:lnSpc>
                <a:spcPct val="110000"/>
              </a:lnSpc>
              <a:buNone/>
            </a:pPr>
            <a:r>
              <a:rPr lang="en-US" sz="1100" dirty="0">
                <a:solidFill>
                  <a:srgbClr val="8FA6B8"/>
                </a:solidFill>
                <a:latin typeface="Segoe UI" pitchFamily="34" charset="0"/>
                <a:ea typeface="Segoe UI" pitchFamily="34" charset="-122"/>
                <a:cs typeface="Segoe UI" pitchFamily="34" charset="-120"/>
              </a:rPr>
              <a:t>obligee accepts, anti-fake-invoice</a:t>
            </a:r>
            <a:endParaRPr lang="en-US" sz="1400" dirty="0"/>
          </a:p>
        </p:txBody>
      </p:sp>
      <p:sp>
        <p:nvSpPr>
          <p:cNvPr id="15" name="Shape 13"/>
          <p:cNvSpPr/>
          <p:nvPr/>
        </p:nvSpPr>
        <p:spPr>
          <a:xfrm>
            <a:off x="4434840" y="3337560"/>
            <a:ext cx="3566160" cy="1097280"/>
          </a:xfrm>
          <a:prstGeom prst="roundRect">
            <a:avLst>
              <a:gd name="adj" fmla="val 7500"/>
            </a:avLst>
          </a:prstGeom>
          <a:solidFill>
            <a:srgbClr val="141C25"/>
          </a:solidFill>
          <a:ln w="12700">
            <a:solidFill>
              <a:srgbClr val="223040"/>
            </a:solidFill>
            <a:prstDash val="solid"/>
          </a:ln>
        </p:spPr>
      </p:sp>
      <p:sp>
        <p:nvSpPr>
          <p:cNvPr id="16" name="Text 14"/>
          <p:cNvSpPr/>
          <p:nvPr/>
        </p:nvSpPr>
        <p:spPr>
          <a:xfrm>
            <a:off x="4617720" y="3337560"/>
            <a:ext cx="3200400" cy="1097280"/>
          </a:xfrm>
          <a:prstGeom prst="rect">
            <a:avLst/>
          </a:prstGeom>
          <a:noFill/>
          <a:ln/>
        </p:spPr>
        <p:txBody>
          <a:bodyPr wrap="square" rtlCol="0" anchor="ctr"/>
          <a:lstStyle/>
          <a:p>
            <a:pPr indent="0" marL="0">
              <a:lnSpc>
                <a:spcPct val="110000"/>
              </a:lnSpc>
              <a:buNone/>
            </a:pPr>
            <a:r>
              <a:rPr lang="en-US" sz="1400" b="1" dirty="0">
                <a:solidFill>
                  <a:srgbClr val="7FA6C9"/>
                </a:solidFill>
                <a:latin typeface="Segoe UI" pitchFamily="34" charset="0"/>
                <a:ea typeface="Segoe UI" pitchFamily="34" charset="-122"/>
                <a:cs typeface="Segoe UI" pitchFamily="34" charset="-120"/>
              </a:rPr>
              <a:t>Non-bypassable policy
</a:t>
            </a:r>
            <a:pPr indent="0" marL="0">
              <a:lnSpc>
                <a:spcPct val="110000"/>
              </a:lnSpc>
              <a:buNone/>
            </a:pPr>
            <a:r>
              <a:rPr lang="en-US" sz="1100" dirty="0">
                <a:solidFill>
                  <a:srgbClr val="8FA6B8"/>
                </a:solidFill>
                <a:latin typeface="Segoe UI" pitchFamily="34" charset="0"/>
                <a:ea typeface="Segoe UI" pitchFamily="34" charset="-122"/>
                <a:cs typeface="Segoe UI" pitchFamily="34" charset="-120"/>
              </a:rPr>
              <a:t>cap asserted in Settle</a:t>
            </a:r>
            <a:endParaRPr lang="en-US" sz="1400" dirty="0"/>
          </a:p>
        </p:txBody>
      </p:sp>
      <p:sp>
        <p:nvSpPr>
          <p:cNvPr id="17" name="Shape 15"/>
          <p:cNvSpPr/>
          <p:nvPr/>
        </p:nvSpPr>
        <p:spPr>
          <a:xfrm>
            <a:off x="8229600" y="3337560"/>
            <a:ext cx="3566160" cy="1097280"/>
          </a:xfrm>
          <a:prstGeom prst="roundRect">
            <a:avLst>
              <a:gd name="adj" fmla="val 7500"/>
            </a:avLst>
          </a:prstGeom>
          <a:solidFill>
            <a:srgbClr val="141C25"/>
          </a:solidFill>
          <a:ln w="12700">
            <a:solidFill>
              <a:srgbClr val="223040"/>
            </a:solidFill>
            <a:prstDash val="solid"/>
          </a:ln>
        </p:spPr>
      </p:sp>
      <p:sp>
        <p:nvSpPr>
          <p:cNvPr id="18" name="Text 16"/>
          <p:cNvSpPr/>
          <p:nvPr/>
        </p:nvSpPr>
        <p:spPr>
          <a:xfrm>
            <a:off x="8412480" y="3337560"/>
            <a:ext cx="3200400" cy="1097280"/>
          </a:xfrm>
          <a:prstGeom prst="rect">
            <a:avLst/>
          </a:prstGeom>
          <a:noFill/>
          <a:ln/>
        </p:spPr>
        <p:txBody>
          <a:bodyPr wrap="square" rtlCol="0" anchor="ctr"/>
          <a:lstStyle/>
          <a:p>
            <a:pPr indent="0" marL="0">
              <a:lnSpc>
                <a:spcPct val="110000"/>
              </a:lnSpc>
              <a:buNone/>
            </a:pPr>
            <a:r>
              <a:rPr lang="en-US" sz="1400" b="1" dirty="0">
                <a:solidFill>
                  <a:srgbClr val="7FA6C9"/>
                </a:solidFill>
                <a:latin typeface="Segoe UI" pitchFamily="34" charset="0"/>
                <a:ea typeface="Segoe UI" pitchFamily="34" charset="-122"/>
                <a:cs typeface="Segoe UI" pitchFamily="34" charset="-120"/>
              </a:rPr>
              <a:t>Maker-checker caps
</a:t>
            </a:r>
            <a:pPr indent="0" marL="0">
              <a:lnSpc>
                <a:spcPct val="110000"/>
              </a:lnSpc>
              <a:buNone/>
            </a:pPr>
            <a:r>
              <a:rPr lang="en-US" sz="1100" dirty="0">
                <a:solidFill>
                  <a:srgbClr val="8FA6B8"/>
                </a:solidFill>
                <a:latin typeface="Segoe UI" pitchFamily="34" charset="0"/>
                <a:ea typeface="Segoe UI" pitchFamily="34" charset="-122"/>
                <a:cs typeface="Segoe UI" pitchFamily="34" charset="-120"/>
              </a:rPr>
              <a:t>four-eyes governance</a:t>
            </a:r>
            <a:endParaRPr lang="en-US" sz="1400" dirty="0"/>
          </a:p>
        </p:txBody>
      </p:sp>
      <p:sp>
        <p:nvSpPr>
          <p:cNvPr id="19" name="Shape 17"/>
          <p:cNvSpPr/>
          <p:nvPr/>
        </p:nvSpPr>
        <p:spPr>
          <a:xfrm>
            <a:off x="640080" y="4709160"/>
            <a:ext cx="3566160" cy="1097280"/>
          </a:xfrm>
          <a:prstGeom prst="roundRect">
            <a:avLst>
              <a:gd name="adj" fmla="val 7500"/>
            </a:avLst>
          </a:prstGeom>
          <a:solidFill>
            <a:srgbClr val="141C25"/>
          </a:solidFill>
          <a:ln w="12700">
            <a:solidFill>
              <a:srgbClr val="223040"/>
            </a:solidFill>
            <a:prstDash val="solid"/>
          </a:ln>
        </p:spPr>
      </p:sp>
      <p:sp>
        <p:nvSpPr>
          <p:cNvPr id="20" name="Text 18"/>
          <p:cNvSpPr/>
          <p:nvPr/>
        </p:nvSpPr>
        <p:spPr>
          <a:xfrm>
            <a:off x="822960" y="4709160"/>
            <a:ext cx="3200400" cy="1097280"/>
          </a:xfrm>
          <a:prstGeom prst="rect">
            <a:avLst/>
          </a:prstGeom>
          <a:noFill/>
          <a:ln/>
        </p:spPr>
        <p:txBody>
          <a:bodyPr wrap="square" rtlCol="0" anchor="ctr"/>
          <a:lstStyle/>
          <a:p>
            <a:pPr indent="0" marL="0">
              <a:lnSpc>
                <a:spcPct val="110000"/>
              </a:lnSpc>
              <a:buNone/>
            </a:pPr>
            <a:r>
              <a:rPr lang="en-US" sz="1400" b="1" dirty="0">
                <a:solidFill>
                  <a:srgbClr val="7FA6C9"/>
                </a:solidFill>
                <a:latin typeface="Segoe UI" pitchFamily="34" charset="0"/>
                <a:ea typeface="Segoe UI" pitchFamily="34" charset="-122"/>
                <a:cs typeface="Segoe UI" pitchFamily="34" charset="-120"/>
              </a:rPr>
              <a:t>Automated netting
</a:t>
            </a:r>
            <a:pPr indent="0" marL="0">
              <a:lnSpc>
                <a:spcPct val="110000"/>
              </a:lnSpc>
              <a:buNone/>
            </a:pPr>
            <a:r>
              <a:rPr lang="en-US" sz="1100" dirty="0">
                <a:solidFill>
                  <a:srgbClr val="8FA6B8"/>
                </a:solidFill>
                <a:latin typeface="Segoe UI" pitchFamily="34" charset="0"/>
                <a:ea typeface="Segoe UI" pitchFamily="34" charset="-122"/>
                <a:cs typeface="Segoe UI" pitchFamily="34" charset="-120"/>
              </a:rPr>
              <a:t>scheduled, self-healing</a:t>
            </a:r>
            <a:endParaRPr lang="en-US" sz="1400" dirty="0"/>
          </a:p>
        </p:txBody>
      </p:sp>
      <p:sp>
        <p:nvSpPr>
          <p:cNvPr id="21" name="Shape 19"/>
          <p:cNvSpPr/>
          <p:nvPr/>
        </p:nvSpPr>
        <p:spPr>
          <a:xfrm>
            <a:off x="4434840" y="4709160"/>
            <a:ext cx="3566160" cy="1097280"/>
          </a:xfrm>
          <a:prstGeom prst="roundRect">
            <a:avLst>
              <a:gd name="adj" fmla="val 7500"/>
            </a:avLst>
          </a:prstGeom>
          <a:solidFill>
            <a:srgbClr val="141C25"/>
          </a:solidFill>
          <a:ln w="12700">
            <a:solidFill>
              <a:srgbClr val="223040"/>
            </a:solidFill>
            <a:prstDash val="solid"/>
          </a:ln>
        </p:spPr>
      </p:sp>
      <p:sp>
        <p:nvSpPr>
          <p:cNvPr id="22" name="Text 20"/>
          <p:cNvSpPr/>
          <p:nvPr/>
        </p:nvSpPr>
        <p:spPr>
          <a:xfrm>
            <a:off x="4617720" y="4709160"/>
            <a:ext cx="3200400" cy="1097280"/>
          </a:xfrm>
          <a:prstGeom prst="rect">
            <a:avLst/>
          </a:prstGeom>
          <a:noFill/>
          <a:ln/>
        </p:spPr>
        <p:txBody>
          <a:bodyPr wrap="square" rtlCol="0" anchor="ctr"/>
          <a:lstStyle/>
          <a:p>
            <a:pPr indent="0" marL="0">
              <a:lnSpc>
                <a:spcPct val="110000"/>
              </a:lnSpc>
              <a:buNone/>
            </a:pPr>
            <a:r>
              <a:rPr lang="en-US" sz="1400" b="1" dirty="0">
                <a:solidFill>
                  <a:srgbClr val="7FA6C9"/>
                </a:solidFill>
                <a:latin typeface="Segoe UI" pitchFamily="34" charset="0"/>
                <a:ea typeface="Segoe UI" pitchFamily="34" charset="-122"/>
                <a:cs typeface="Segoe UI" pitchFamily="34" charset="-120"/>
              </a:rPr>
              <a:t>Agent-usable (MCP)
</a:t>
            </a:r>
            <a:pPr indent="0" marL="0">
              <a:lnSpc>
                <a:spcPct val="110000"/>
              </a:lnSpc>
              <a:buNone/>
            </a:pPr>
            <a:r>
              <a:rPr lang="en-US" sz="1100" dirty="0">
                <a:solidFill>
                  <a:srgbClr val="8FA6B8"/>
                </a:solidFill>
                <a:latin typeface="Segoe UI" pitchFamily="34" charset="0"/>
                <a:ea typeface="Segoe UI" pitchFamily="34" charset="-122"/>
                <a:cs typeface="Segoe UI" pitchFamily="34" charset="-120"/>
              </a:rPr>
              <a:t>16 tools, ledger-bounded</a:t>
            </a:r>
            <a:endParaRPr lang="en-US" sz="1400" dirty="0"/>
          </a:p>
        </p:txBody>
      </p:sp>
      <p:sp>
        <p:nvSpPr>
          <p:cNvPr id="23" name="Shape 21"/>
          <p:cNvSpPr/>
          <p:nvPr/>
        </p:nvSpPr>
        <p:spPr>
          <a:xfrm>
            <a:off x="8229600" y="4709160"/>
            <a:ext cx="3566160" cy="1097280"/>
          </a:xfrm>
          <a:prstGeom prst="roundRect">
            <a:avLst>
              <a:gd name="adj" fmla="val 7500"/>
            </a:avLst>
          </a:prstGeom>
          <a:solidFill>
            <a:srgbClr val="141C25"/>
          </a:solidFill>
          <a:ln w="12700">
            <a:solidFill>
              <a:srgbClr val="223040"/>
            </a:solidFill>
            <a:prstDash val="solid"/>
          </a:ln>
        </p:spPr>
      </p:sp>
      <p:sp>
        <p:nvSpPr>
          <p:cNvPr id="24" name="Text 22"/>
          <p:cNvSpPr/>
          <p:nvPr/>
        </p:nvSpPr>
        <p:spPr>
          <a:xfrm>
            <a:off x="8412480" y="4709160"/>
            <a:ext cx="3200400" cy="1097280"/>
          </a:xfrm>
          <a:prstGeom prst="rect">
            <a:avLst/>
          </a:prstGeom>
          <a:noFill/>
          <a:ln/>
        </p:spPr>
        <p:txBody>
          <a:bodyPr wrap="square" rtlCol="0" anchor="ctr"/>
          <a:lstStyle/>
          <a:p>
            <a:pPr indent="0" marL="0">
              <a:lnSpc>
                <a:spcPct val="110000"/>
              </a:lnSpc>
              <a:buNone/>
            </a:pPr>
            <a:r>
              <a:rPr lang="en-US" sz="1400" b="1" dirty="0">
                <a:solidFill>
                  <a:srgbClr val="7FA6C9"/>
                </a:solidFill>
                <a:latin typeface="Segoe UI" pitchFamily="34" charset="0"/>
                <a:ea typeface="Segoe UI" pitchFamily="34" charset="-122"/>
                <a:cs typeface="Segoe UI" pitchFamily="34" charset="-120"/>
              </a:rPr>
              <a:t>Verifiable + upgradable
</a:t>
            </a:r>
            <a:pPr indent="0" marL="0">
              <a:lnSpc>
                <a:spcPct val="110000"/>
              </a:lnSpc>
              <a:buNone/>
            </a:pPr>
            <a:r>
              <a:rPr lang="en-US" sz="1100" dirty="0">
                <a:solidFill>
                  <a:srgbClr val="8FA6B8"/>
                </a:solidFill>
                <a:latin typeface="Segoe UI" pitchFamily="34" charset="0"/>
                <a:ea typeface="Segoe UI" pitchFamily="34" charset="-122"/>
                <a:cs typeface="Segoe UI" pitchFamily="34" charset="-120"/>
              </a:rPr>
              <a:t>real updateIds, live SCU chain</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7FA6C9"/>
          </a:solidFill>
          <a:ln/>
        </p:spPr>
      </p:sp>
      <p:sp>
        <p:nvSpPr>
          <p:cNvPr id="3" name="Text 1"/>
          <p:cNvSpPr/>
          <p:nvPr/>
        </p:nvSpPr>
        <p:spPr>
          <a:xfrm>
            <a:off x="640080" y="2377440"/>
            <a:ext cx="10911535" cy="914400"/>
          </a:xfrm>
          <a:prstGeom prst="rect">
            <a:avLst/>
          </a:prstGeom>
          <a:noFill/>
          <a:ln/>
        </p:spPr>
        <p:txBody>
          <a:bodyPr wrap="square" rtlCol="0" anchor="ctr"/>
          <a:lstStyle/>
          <a:p>
            <a:pPr indent="0" marL="0">
              <a:buNone/>
            </a:pPr>
            <a:r>
              <a:rPr lang="en-US" sz="3800" b="1" dirty="0">
                <a:solidFill>
                  <a:srgbClr val="FFFFFF"/>
                </a:solidFill>
                <a:latin typeface="Segoe UI" pitchFamily="34" charset="0"/>
                <a:ea typeface="Segoe UI" pitchFamily="34" charset="-122"/>
                <a:cs typeface="Segoe UI" pitchFamily="34" charset="-120"/>
              </a:rPr>
              <a:t>Settle everything, reveal nothing.</a:t>
            </a:r>
            <a:endParaRPr lang="en-US" sz="3800" dirty="0"/>
          </a:p>
        </p:txBody>
      </p:sp>
      <p:sp>
        <p:nvSpPr>
          <p:cNvPr id="4" name="Text 2"/>
          <p:cNvSpPr/>
          <p:nvPr/>
        </p:nvSpPr>
        <p:spPr>
          <a:xfrm>
            <a:off x="640080" y="3474720"/>
            <a:ext cx="10698480" cy="640080"/>
          </a:xfrm>
          <a:prstGeom prst="rect">
            <a:avLst/>
          </a:prstGeom>
          <a:noFill/>
          <a:ln/>
        </p:spPr>
        <p:txBody>
          <a:bodyPr wrap="square" rtlCol="0" anchor="ctr"/>
          <a:lstStyle/>
          <a:p>
            <a:pPr indent="0" marL="0">
              <a:buNone/>
            </a:pPr>
            <a:r>
              <a:rPr lang="en-US" sz="1500" dirty="0">
                <a:solidFill>
                  <a:srgbClr val="8FA6B8"/>
                </a:solidFill>
                <a:latin typeface="Segoe UI" pitchFamily="34" charset="0"/>
                <a:ea typeface="Segoe UI" pitchFamily="34" charset="-122"/>
                <a:cs typeface="Segoe UI" pitchFamily="34" charset="-120"/>
              </a:rPr>
              <a:t>Confidential netting · atomic settlement · bilateral consent · maker-checker limits · a policy the ledger enforces · an agent that can't overstep it.</a:t>
            </a:r>
            <a:endParaRPr lang="en-US" sz="1500" dirty="0"/>
          </a:p>
        </p:txBody>
      </p:sp>
      <p:sp>
        <p:nvSpPr>
          <p:cNvPr id="5" name="Text 3"/>
          <p:cNvSpPr/>
          <p:nvPr/>
        </p:nvSpPr>
        <p:spPr>
          <a:xfrm>
            <a:off x="640080" y="4937760"/>
            <a:ext cx="10972800" cy="365760"/>
          </a:xfrm>
          <a:prstGeom prst="rect">
            <a:avLst/>
          </a:prstGeom>
          <a:noFill/>
          <a:ln/>
        </p:spPr>
        <p:txBody>
          <a:bodyPr wrap="square" rtlCol="0" anchor="ctr"/>
          <a:lstStyle/>
          <a:p>
            <a:pPr indent="0" marL="0">
              <a:buNone/>
            </a:pPr>
            <a:r>
              <a:rPr lang="en-US" sz="1400" dirty="0">
                <a:solidFill>
                  <a:srgbClr val="5F7486"/>
                </a:solidFill>
                <a:latin typeface="Segoe UI" pitchFamily="34" charset="0"/>
                <a:ea typeface="Segoe UI" pitchFamily="34" charset="-122"/>
                <a:cs typeface="Segoe UI" pitchFamily="34" charset="-120"/>
              </a:rPr>
              <a:t>Try it:  </a:t>
            </a:r>
            <a:pPr indent="0" marL="0">
              <a:buNone/>
            </a:pPr>
            <a:r>
              <a:rPr lang="en-US" sz="1400" b="1" dirty="0">
                <a:solidFill>
                  <a:srgbClr val="38E1A4"/>
                </a:solidFill>
                <a:latin typeface="Segoe UI" pitchFamily="34" charset="0"/>
                <a:ea typeface="Segoe UI" pitchFamily="34" charset="-122"/>
                <a:cs typeface="Segoe UI" pitchFamily="34" charset="-120"/>
              </a:rPr>
              <a:t>netchain.vercel.app</a:t>
            </a:r>
            <a:pPr indent="0" marL="0">
              <a:buNone/>
            </a:pPr>
            <a:r>
              <a:rPr lang="en-US" sz="1400" dirty="0">
                <a:solidFill>
                  <a:srgbClr val="5F7486"/>
                </a:solidFill>
                <a:latin typeface="Segoe UI" pitchFamily="34" charset="0"/>
                <a:ea typeface="Segoe UI" pitchFamily="34" charset="-122"/>
                <a:cs typeface="Segoe UI" pitchFamily="34" charset="-120"/>
              </a:rPr>
              <a:t>     Repo:  </a:t>
            </a:r>
            <a:pPr indent="0" marL="0">
              <a:buNone/>
            </a:pPr>
            <a:r>
              <a:rPr lang="en-US" sz="1400" dirty="0">
                <a:solidFill>
                  <a:srgbClr val="7FA6C9"/>
                </a:solidFill>
                <a:latin typeface="Segoe UI" pitchFamily="34" charset="0"/>
                <a:ea typeface="Segoe UI" pitchFamily="34" charset="-122"/>
                <a:cs typeface="Segoe UI" pitchFamily="34" charset="-120"/>
              </a:rPr>
              <a:t>github.com/manjeetsharma0796/Net-chain</a:t>
            </a:r>
            <a:endParaRPr lang="en-US" sz="1400" dirty="0"/>
          </a:p>
        </p:txBody>
      </p:sp>
      <p:sp>
        <p:nvSpPr>
          <p:cNvPr id="6" name="Text 4"/>
          <p:cNvSpPr/>
          <p:nvPr/>
        </p:nvSpPr>
        <p:spPr>
          <a:xfrm>
            <a:off x="640080" y="5440680"/>
            <a:ext cx="10972800" cy="365760"/>
          </a:xfrm>
          <a:prstGeom prst="rect">
            <a:avLst/>
          </a:prstGeom>
          <a:noFill/>
          <a:ln/>
        </p:spPr>
        <p:txBody>
          <a:bodyPr wrap="square" rtlCol="0" anchor="ctr"/>
          <a:lstStyle/>
          <a:p>
            <a:pPr indent="0" marL="0">
              <a:buNone/>
            </a:pPr>
            <a:r>
              <a:rPr lang="en-US" sz="1200" dirty="0">
                <a:solidFill>
                  <a:srgbClr val="5F7486"/>
                </a:solidFill>
                <a:latin typeface="Segoe UI" pitchFamily="34" charset="0"/>
                <a:ea typeface="Segoe UI" pitchFamily="34" charset="-122"/>
                <a:cs typeface="Segoe UI" pitchFamily="34" charset="-120"/>
              </a:rPr>
              <a:t>Live on Canton Devnet · package netchain v1.0.4 · every screen here is the real running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NetChain, a deep dive</dc:title>
  <dc:subject>PptxGenJS Presentation</dc:subject>
  <dc:creator>NetChain</dc:creator>
  <cp:lastModifiedBy>NetChain</cp:lastModifiedBy>
  <cp:revision>1</cp:revision>
  <dcterms:created xsi:type="dcterms:W3CDTF">2026-07-12T08:58:30Z</dcterms:created>
  <dcterms:modified xsi:type="dcterms:W3CDTF">2026-07-12T08:58:30Z</dcterms:modified>
</cp:coreProperties>
</file>