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1828800"/>
            <a:ext cx="10911535" cy="109728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NetChain</a:t>
            </a:r>
            <a:endParaRPr lang="en-US" sz="6000" dirty="0"/>
          </a:p>
        </p:txBody>
      </p:sp>
      <p:sp>
        <p:nvSpPr>
          <p:cNvPr id="4" name="Text 2"/>
          <p:cNvSpPr/>
          <p:nvPr/>
        </p:nvSpPr>
        <p:spPr>
          <a:xfrm>
            <a:off x="640080" y="2971800"/>
            <a:ext cx="10058400" cy="548640"/>
          </a:xfrm>
          <a:prstGeom prst="rect">
            <a:avLst/>
          </a:prstGeom>
          <a:noFill/>
          <a:ln/>
        </p:spPr>
        <p:txBody>
          <a:bodyPr wrap="square" rtlCol="0" anchor="ctr"/>
          <a:lstStyle/>
          <a:p>
            <a:pPr indent="0" marL="0">
              <a:buNone/>
            </a:pPr>
            <a:r>
              <a:rPr lang="en-US" sz="2200" dirty="0">
                <a:solidFill>
                  <a:srgbClr val="E6EDF3"/>
                </a:solidFill>
                <a:latin typeface="Segoe UI" pitchFamily="34" charset="0"/>
                <a:ea typeface="Segoe UI" pitchFamily="34" charset="-122"/>
                <a:cs typeface="Segoe UI" pitchFamily="34" charset="-120"/>
              </a:rPr>
              <a:t>A deep dive into the platform and how it works</a:t>
            </a:r>
            <a:endParaRPr lang="en-US" sz="2200" dirty="0"/>
          </a:p>
        </p:txBody>
      </p:sp>
      <p:sp>
        <p:nvSpPr>
          <p:cNvPr id="5" name="Text 3"/>
          <p:cNvSpPr/>
          <p:nvPr/>
        </p:nvSpPr>
        <p:spPr>
          <a:xfrm>
            <a:off x="640080" y="3611880"/>
            <a:ext cx="10515600" cy="548640"/>
          </a:xfrm>
          <a:prstGeom prst="rect">
            <a:avLst/>
          </a:prstGeom>
          <a:noFill/>
          <a:ln/>
        </p:spPr>
        <p:txBody>
          <a:bodyPr wrap="square" rtlCol="0" anchor="ctr"/>
          <a:lstStyle/>
          <a:p>
            <a:pPr indent="0" marL="0">
              <a:buNone/>
            </a:pPr>
            <a:r>
              <a:rPr lang="en-US" sz="1500" i="1" dirty="0">
                <a:solidFill>
                  <a:srgbClr val="7FA6C9"/>
                </a:solidFill>
                <a:latin typeface="Segoe UI" pitchFamily="34" charset="0"/>
                <a:ea typeface="Segoe UI" pitchFamily="34" charset="-122"/>
                <a:cs typeface="Segoe UI" pitchFamily="34" charset="-120"/>
              </a:rPr>
              <a:t>Confidential multilateral netting with atomic settlement on Canton. AI proposes, the ledger disposes.</a:t>
            </a:r>
            <a:endParaRPr lang="en-US" sz="1500" dirty="0"/>
          </a:p>
        </p:txBody>
      </p:sp>
      <p:sp>
        <p:nvSpPr>
          <p:cNvPr id="6" name="Text 4"/>
          <p:cNvSpPr/>
          <p:nvPr/>
        </p:nvSpPr>
        <p:spPr>
          <a:xfrm>
            <a:off x="640080" y="5669280"/>
            <a:ext cx="10972800" cy="365760"/>
          </a:xfrm>
          <a:prstGeom prst="rect">
            <a:avLst/>
          </a:prstGeom>
          <a:noFill/>
          <a:ln/>
        </p:spPr>
        <p:txBody>
          <a:bodyPr wrap="square" rtlCol="0" anchor="ctr"/>
          <a:lstStyle/>
          <a:p>
            <a:pPr indent="0" marL="0">
              <a:buNone/>
            </a:pPr>
            <a:r>
              <a:rPr lang="en-US" sz="1200" dirty="0">
                <a:solidFill>
                  <a:srgbClr val="5F7486"/>
                </a:solidFill>
                <a:latin typeface="Segoe UI" pitchFamily="34" charset="0"/>
                <a:ea typeface="Segoe UI" pitchFamily="34" charset="-122"/>
                <a:cs typeface="Segoe UI" pitchFamily="34" charset="-120"/>
              </a:rPr>
              <a:t>Live on Canton Devnet  ·  </a:t>
            </a:r>
            <a:pPr indent="0" marL="0">
              <a:buNone/>
            </a:pPr>
            <a:r>
              <a:rPr lang="en-US" sz="1200" dirty="0">
                <a:solidFill>
                  <a:srgbClr val="38E1A4"/>
                </a:solidFill>
                <a:latin typeface="Segoe UI" pitchFamily="34" charset="0"/>
                <a:ea typeface="Segoe UI" pitchFamily="34" charset="-122"/>
                <a:cs typeface="Segoe UI" pitchFamily="34" charset="-120"/>
              </a:rPr>
              <a:t>netchain.vercel.app</a:t>
            </a:r>
            <a:pPr indent="0" marL="0">
              <a:buNone/>
            </a:pPr>
            <a:r>
              <a:rPr lang="en-US" sz="1200" dirty="0">
                <a:solidFill>
                  <a:srgbClr val="5F7486"/>
                </a:solidFill>
                <a:latin typeface="Segoe UI" pitchFamily="34" charset="0"/>
                <a:ea typeface="Segoe UI" pitchFamily="34" charset="-122"/>
                <a:cs typeface="Segoe UI" pitchFamily="34" charset="-120"/>
              </a:rPr>
              <a:t>  ·  every screen in this deck is a real screenshot of the live 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IN ONE SCREEN</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What NetChain does</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dashboard.png">    </p:cNvPr>
          <p:cNvPicPr>
            <a:picLocks noChangeAspect="1"/>
          </p:cNvPicPr>
          <p:nvPr/>
        </p:nvPicPr>
        <p:blipFill>
          <a:blip r:embed="rId1"/>
          <a:stretch>
            <a:fillRect/>
          </a:stretch>
        </p:blipFill>
        <p:spPr>
          <a:xfrm>
            <a:off x="640080" y="1554480"/>
            <a:ext cx="6400800" cy="4000500"/>
          </a:xfrm>
          <a:prstGeom prst="rect">
            <a:avLst/>
          </a:prstGeom>
        </p:spPr>
      </p:pic>
      <p:sp>
        <p:nvSpPr>
          <p:cNvPr id="8" name="Shape 5"/>
          <p:cNvSpPr/>
          <p:nvPr/>
        </p:nvSpPr>
        <p:spPr>
          <a:xfrm>
            <a:off x="640080" y="1554480"/>
            <a:ext cx="6400800" cy="4000500"/>
          </a:xfrm>
          <a:prstGeom prst="roundRect">
            <a:avLst>
              <a:gd name="adj" fmla="val 686"/>
            </a:avLst>
          </a:prstGeom>
          <a:ln w="12700">
            <a:solidFill>
              <a:srgbClr val="223040"/>
            </a:solidFill>
            <a:prstDash val="solid"/>
          </a:ln>
        </p:spPr>
      </p:sp>
      <p:sp>
        <p:nvSpPr>
          <p:cNvPr id="9" name="Text 6"/>
          <p:cNvSpPr/>
          <p:nvPr/>
        </p:nvSpPr>
        <p:spPr>
          <a:xfrm>
            <a:off x="640080" y="5600700"/>
            <a:ext cx="640080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The live dashboard, LIVE badge = reads come straight from the Canton validator</a:t>
            </a:r>
            <a:endParaRPr lang="en-US" sz="1000" dirty="0"/>
          </a:p>
        </p:txBody>
      </p:sp>
      <p:sp>
        <p:nvSpPr>
          <p:cNvPr id="10" name="Shape 7"/>
          <p:cNvSpPr/>
          <p:nvPr/>
        </p:nvSpPr>
        <p:spPr>
          <a:xfrm>
            <a:off x="7406640" y="1554480"/>
            <a:ext cx="4142232" cy="4023360"/>
          </a:xfrm>
          <a:prstGeom prst="roundRect">
            <a:avLst>
              <a:gd name="adj" fmla="val 2045"/>
            </a:avLst>
          </a:prstGeom>
          <a:solidFill>
            <a:srgbClr val="141C25"/>
          </a:solidFill>
          <a:ln w="12700">
            <a:solidFill>
              <a:srgbClr val="223040"/>
            </a:solidFill>
            <a:prstDash val="solid"/>
          </a:ln>
        </p:spPr>
      </p:sp>
      <p:sp>
        <p:nvSpPr>
          <p:cNvPr id="11" name="Text 8"/>
          <p:cNvSpPr/>
          <p:nvPr/>
        </p:nvSpPr>
        <p:spPr>
          <a:xfrm>
            <a:off x="7635240" y="1828800"/>
            <a:ext cx="3657600" cy="3657600"/>
          </a:xfrm>
          <a:prstGeom prst="rect">
            <a:avLst/>
          </a:prstGeom>
          <a:noFill/>
          <a:ln/>
        </p:spPr>
        <p:txBody>
          <a:bodyPr wrap="square" rtlCol="0" anchor="t"/>
          <a:lstStyle/>
          <a:p>
            <a:pPr marL="203200" indent="-203200">
              <a:lnSpc>
                <a:spcPct val="120000"/>
              </a:lnSpc>
              <a:spcAft>
                <a:spcPts val="800"/>
              </a:spcAft>
              <a:buSzPct val="100000"/>
              <a:buChar char="•"/>
            </a:pPr>
            <a:r>
              <a:rPr lang="en-US" sz="1350" dirty="0">
                <a:solidFill>
                  <a:srgbClr val="E6EDF3"/>
                </a:solidFill>
                <a:latin typeface="Segoe UI" pitchFamily="34" charset="0"/>
                <a:ea typeface="Segoe UI" pitchFamily="34" charset="-122"/>
                <a:cs typeface="Segoe UI" pitchFamily="34" charset="-120"/>
              </a:rPr>
              <a:t>Companies that owe each other net down to one payment each, then settle.</a:t>
            </a:r>
            <a:endParaRPr lang="en-US" sz="1350" dirty="0"/>
          </a:p>
          <a:p>
            <a:pPr marL="203200" indent="-203200">
              <a:lnSpc>
                <a:spcPct val="120000"/>
              </a:lnSpc>
              <a:spcAft>
                <a:spcPts val="800"/>
              </a:spcAft>
              <a:buSzPct val="100000"/>
              <a:buChar char="•"/>
            </a:pPr>
            <a:r>
              <a:rPr lang="en-US" sz="1350" dirty="0">
                <a:solidFill>
                  <a:srgbClr val="E6EDF3"/>
                </a:solidFill>
                <a:latin typeface="Segoe UI" pitchFamily="34" charset="0"/>
                <a:ea typeface="Segoe UI" pitchFamily="34" charset="-122"/>
                <a:cs typeface="Segoe UI" pitchFamily="34" charset="-120"/>
              </a:rPr>
              <a:t>The catch everywhere else: to net, someone sees the whole web of who-owes-whom.</a:t>
            </a:r>
            <a:endParaRPr lang="en-US" sz="1350" dirty="0"/>
          </a:p>
          <a:p>
            <a:pPr marL="203200" indent="-203200">
              <a:lnSpc>
                <a:spcPct val="120000"/>
              </a:lnSpc>
              <a:spcAft>
                <a:spcPts val="800"/>
              </a:spcAft>
              <a:buSzPct val="100000"/>
              <a:buChar char="•"/>
            </a:pPr>
            <a:r>
              <a:rPr lang="en-US" sz="1350" dirty="0">
                <a:solidFill>
                  <a:srgbClr val="E6EDF3"/>
                </a:solidFill>
                <a:latin typeface="Segoe UI" pitchFamily="34" charset="0"/>
                <a:ea typeface="Segoe UI" pitchFamily="34" charset="-122"/>
                <a:cs typeface="Segoe UI" pitchFamily="34" charset="-120"/>
              </a:rPr>
              <a:t>NetChain keeps counterparties blind to each other AND settles every net leg atomically, in one Canton transaction.</a:t>
            </a:r>
            <a:endParaRPr lang="en-US" sz="1350" dirty="0"/>
          </a:p>
          <a:p>
            <a:pPr marL="203200" indent="-203200">
              <a:lnSpc>
                <a:spcPct val="120000"/>
              </a:lnSpc>
              <a:spcAft>
                <a:spcPts val="800"/>
              </a:spcAft>
              <a:buSzPct val="100000"/>
              <a:buChar char="•"/>
            </a:pPr>
            <a:r>
              <a:rPr lang="en-US" sz="1350" dirty="0">
                <a:solidFill>
                  <a:srgbClr val="E6EDF3"/>
                </a:solidFill>
                <a:latin typeface="Segoe UI" pitchFamily="34" charset="0"/>
                <a:ea typeface="Segoe UI" pitchFamily="34" charset="-122"/>
                <a:cs typeface="Segoe UI" pitchFamily="34" charset="-120"/>
              </a:rPr>
              <a:t>An on-ledger policy bounds it, so even an AI agent driving it cannot overspend.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THE CAST</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One operator, three companies</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5029200" y="1554480"/>
            <a:ext cx="2103120" cy="822960"/>
          </a:xfrm>
          <a:prstGeom prst="roundRect">
            <a:avLst>
              <a:gd name="adj" fmla="val 8889"/>
            </a:avLst>
          </a:prstGeom>
          <a:solidFill>
            <a:srgbClr val="141C25"/>
          </a:solidFill>
          <a:ln w="19050">
            <a:solidFill>
              <a:srgbClr val="F5C451"/>
            </a:solidFill>
            <a:prstDash val="solid"/>
          </a:ln>
        </p:spPr>
      </p:sp>
      <p:sp>
        <p:nvSpPr>
          <p:cNvPr id="8" name="Text 6"/>
          <p:cNvSpPr/>
          <p:nvPr/>
        </p:nvSpPr>
        <p:spPr>
          <a:xfrm>
            <a:off x="5120640" y="1554480"/>
            <a:ext cx="1920240" cy="82296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Operator</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netting bank / coordinator</a:t>
            </a:r>
            <a:endParaRPr lang="en-US" sz="1300" dirty="0"/>
          </a:p>
        </p:txBody>
      </p:sp>
      <p:sp>
        <p:nvSpPr>
          <p:cNvPr id="9" name="Shape 7"/>
          <p:cNvSpPr/>
          <p:nvPr/>
        </p:nvSpPr>
        <p:spPr>
          <a:xfrm>
            <a:off x="1554480" y="3291840"/>
            <a:ext cx="2194560" cy="822960"/>
          </a:xfrm>
          <a:prstGeom prst="roundRect">
            <a:avLst>
              <a:gd name="adj" fmla="val 8889"/>
            </a:avLst>
          </a:prstGeom>
          <a:solidFill>
            <a:srgbClr val="141C25"/>
          </a:solidFill>
          <a:ln w="19050">
            <a:solidFill>
              <a:srgbClr val="7FA6C9"/>
            </a:solidFill>
            <a:prstDash val="solid"/>
          </a:ln>
        </p:spPr>
      </p:sp>
      <p:sp>
        <p:nvSpPr>
          <p:cNvPr id="10" name="Text 8"/>
          <p:cNvSpPr/>
          <p:nvPr/>
        </p:nvSpPr>
        <p:spPr>
          <a:xfrm>
            <a:off x="1645920" y="3291840"/>
            <a:ext cx="2011680" cy="82296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Company A</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Aurora Manufacturing</a:t>
            </a:r>
            <a:endParaRPr lang="en-US" sz="1300" dirty="0"/>
          </a:p>
        </p:txBody>
      </p:sp>
      <p:sp>
        <p:nvSpPr>
          <p:cNvPr id="11" name="Shape 9"/>
          <p:cNvSpPr/>
          <p:nvPr/>
        </p:nvSpPr>
        <p:spPr>
          <a:xfrm>
            <a:off x="4983480" y="3291840"/>
            <a:ext cx="2194560" cy="822960"/>
          </a:xfrm>
          <a:prstGeom prst="roundRect">
            <a:avLst>
              <a:gd name="adj" fmla="val 8889"/>
            </a:avLst>
          </a:prstGeom>
          <a:solidFill>
            <a:srgbClr val="141C25"/>
          </a:solidFill>
          <a:ln w="19050">
            <a:solidFill>
              <a:srgbClr val="7FA6C9"/>
            </a:solidFill>
            <a:prstDash val="solid"/>
          </a:ln>
        </p:spPr>
      </p:sp>
      <p:sp>
        <p:nvSpPr>
          <p:cNvPr id="12" name="Text 10"/>
          <p:cNvSpPr/>
          <p:nvPr/>
        </p:nvSpPr>
        <p:spPr>
          <a:xfrm>
            <a:off x="5074920" y="3291840"/>
            <a:ext cx="2011680" cy="82296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Company B</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Borealis Logistics</a:t>
            </a:r>
            <a:endParaRPr lang="en-US" sz="1300" dirty="0"/>
          </a:p>
        </p:txBody>
      </p:sp>
      <p:sp>
        <p:nvSpPr>
          <p:cNvPr id="13" name="Shape 11"/>
          <p:cNvSpPr/>
          <p:nvPr/>
        </p:nvSpPr>
        <p:spPr>
          <a:xfrm>
            <a:off x="8412480" y="3291840"/>
            <a:ext cx="2194560" cy="822960"/>
          </a:xfrm>
          <a:prstGeom prst="roundRect">
            <a:avLst>
              <a:gd name="adj" fmla="val 8889"/>
            </a:avLst>
          </a:prstGeom>
          <a:solidFill>
            <a:srgbClr val="141C25"/>
          </a:solidFill>
          <a:ln w="19050">
            <a:solidFill>
              <a:srgbClr val="7FA6C9"/>
            </a:solidFill>
            <a:prstDash val="solid"/>
          </a:ln>
        </p:spPr>
      </p:sp>
      <p:sp>
        <p:nvSpPr>
          <p:cNvPr id="14" name="Text 12"/>
          <p:cNvSpPr/>
          <p:nvPr/>
        </p:nvSpPr>
        <p:spPr>
          <a:xfrm>
            <a:off x="8503920" y="3291840"/>
            <a:ext cx="2011680" cy="82296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Company C</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Cirrus Components</a:t>
            </a:r>
            <a:endParaRPr lang="en-US" sz="1300" dirty="0"/>
          </a:p>
        </p:txBody>
      </p:sp>
      <p:sp>
        <p:nvSpPr>
          <p:cNvPr id="15" name="Shape 13"/>
          <p:cNvSpPr/>
          <p:nvPr/>
        </p:nvSpPr>
        <p:spPr>
          <a:xfrm flipH="1">
            <a:off x="2651760" y="2377440"/>
            <a:ext cx="3429000" cy="914400"/>
          </a:xfrm>
          <a:prstGeom prst="line">
            <a:avLst/>
          </a:prstGeom>
          <a:noFill/>
          <a:ln w="22225">
            <a:solidFill>
              <a:srgbClr val="5F7486"/>
            </a:solidFill>
            <a:prstDash val="solid"/>
            <a:tailEnd type="triangle"/>
          </a:ln>
        </p:spPr>
      </p:sp>
      <p:sp>
        <p:nvSpPr>
          <p:cNvPr id="16" name="Shape 14"/>
          <p:cNvSpPr/>
          <p:nvPr/>
        </p:nvSpPr>
        <p:spPr>
          <a:xfrm>
            <a:off x="6080760" y="2377440"/>
            <a:ext cx="0" cy="914400"/>
          </a:xfrm>
          <a:prstGeom prst="line">
            <a:avLst/>
          </a:prstGeom>
          <a:noFill/>
          <a:ln w="22225">
            <a:solidFill>
              <a:srgbClr val="5F7486"/>
            </a:solidFill>
            <a:prstDash val="solid"/>
            <a:tailEnd type="triangle"/>
          </a:ln>
        </p:spPr>
      </p:sp>
      <p:sp>
        <p:nvSpPr>
          <p:cNvPr id="17" name="Shape 15"/>
          <p:cNvSpPr/>
          <p:nvPr/>
        </p:nvSpPr>
        <p:spPr>
          <a:xfrm>
            <a:off x="6080760" y="2377440"/>
            <a:ext cx="3429000" cy="914400"/>
          </a:xfrm>
          <a:prstGeom prst="line">
            <a:avLst/>
          </a:prstGeom>
          <a:noFill/>
          <a:ln w="22225">
            <a:solidFill>
              <a:srgbClr val="5F7486"/>
            </a:solidFill>
            <a:prstDash val="solid"/>
            <a:tailEnd type="triangle"/>
          </a:ln>
        </p:spPr>
      </p:sp>
      <p:sp>
        <p:nvSpPr>
          <p:cNvPr id="18" name="Text 16"/>
          <p:cNvSpPr/>
          <p:nvPr/>
        </p:nvSpPr>
        <p:spPr>
          <a:xfrm>
            <a:off x="640080" y="4572000"/>
            <a:ext cx="10911535" cy="2926080"/>
          </a:xfrm>
          <a:prstGeom prst="rect">
            <a:avLst/>
          </a:prstGeom>
          <a:noFill/>
          <a:ln/>
        </p:spPr>
        <p:txBody>
          <a:bodyPr wrap="square" rtlCol="0" anchor="t"/>
          <a:lstStyle/>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The operator observes every obligation and runs the netting cycle. It is the one trusted, regulated coordinator, exactly the CLS / in-house-bank model.</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Each company sees ONLY its own slice of the ledger (per-party projection). A never sees B's dealings with C.</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In the demo all four are driven by one shared machine identity on the shared Devnet; per-user signing is the named next step.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ARCHITECTURE</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The stack, top to bottom</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2194560" y="1508760"/>
            <a:ext cx="7772400" cy="749808"/>
          </a:xfrm>
          <a:prstGeom prst="roundRect">
            <a:avLst>
              <a:gd name="adj" fmla="val 9756"/>
            </a:avLst>
          </a:prstGeom>
          <a:solidFill>
            <a:srgbClr val="141C25"/>
          </a:solidFill>
          <a:ln w="19050">
            <a:solidFill>
              <a:srgbClr val="7FA6C9"/>
            </a:solidFill>
            <a:prstDash val="solid"/>
          </a:ln>
        </p:spPr>
      </p:sp>
      <p:sp>
        <p:nvSpPr>
          <p:cNvPr id="8" name="Text 6"/>
          <p:cNvSpPr/>
          <p:nvPr/>
        </p:nvSpPr>
        <p:spPr>
          <a:xfrm>
            <a:off x="2286000" y="1508760"/>
            <a:ext cx="7589520" cy="749808"/>
          </a:xfrm>
          <a:prstGeom prst="rect">
            <a:avLst/>
          </a:prstGeom>
          <a:noFill/>
          <a:ln/>
        </p:spPr>
        <p:txBody>
          <a:bodyPr wrap="square" rtlCol="0" anchor="ctr"/>
          <a:lstStyle/>
          <a:p>
            <a:pPr algn="ctr" indent="0" marL="0">
              <a:buNone/>
            </a:pPr>
            <a:endParaRPr lang="en-US" sz="1300" dirty="0"/>
          </a:p>
        </p:txBody>
      </p:sp>
      <p:sp>
        <p:nvSpPr>
          <p:cNvPr id="9" name="Text 7"/>
          <p:cNvSpPr/>
          <p:nvPr/>
        </p:nvSpPr>
        <p:spPr>
          <a:xfrm>
            <a:off x="2377440" y="1508760"/>
            <a:ext cx="7406640" cy="749808"/>
          </a:xfrm>
          <a:prstGeom prst="rect">
            <a:avLst/>
          </a:prstGeom>
          <a:noFill/>
          <a:ln/>
        </p:spPr>
        <p:txBody>
          <a:bodyPr wrap="square" rtlCol="0" anchor="ctr"/>
          <a:lstStyle/>
          <a:p>
            <a:pPr indent="0" marL="0">
              <a:buNone/>
            </a:pPr>
            <a:r>
              <a:rPr lang="en-US" sz="1300" b="1" dirty="0">
                <a:solidFill>
                  <a:srgbClr val="E6EDF3"/>
                </a:solidFill>
                <a:latin typeface="Segoe UI" pitchFamily="34" charset="0"/>
                <a:ea typeface="Segoe UI" pitchFamily="34" charset="-122"/>
                <a:cs typeface="Segoe UI" pitchFamily="34" charset="-120"/>
              </a:rPr>
              <a:t>Browser  ·  Next.js 14 App Router + Zustand</a:t>
            </a:r>
            <a:endParaRPr lang="en-US" sz="1300" dirty="0"/>
          </a:p>
          <a:p>
            <a:pPr indent="0" marL="0">
              <a:buNone/>
            </a:pPr>
            <a:r>
              <a:rPr lang="en-US" sz="1050" dirty="0">
                <a:solidFill>
                  <a:srgbClr val="8FA6B8"/>
                </a:solidFill>
                <a:latin typeface="Segoe UI" pitchFamily="34" charset="0"/>
                <a:ea typeface="Segoe UI" pitchFamily="34" charset="-122"/>
                <a:cs typeface="Segoe UI" pitchFamily="34" charset="-120"/>
              </a:rPr>
              <a:t>lib/ledger.ts client wrappers  (LIVE/mock switch, silent fallback)</a:t>
            </a:r>
            <a:endParaRPr lang="en-US" sz="1300" dirty="0"/>
          </a:p>
        </p:txBody>
      </p:sp>
      <p:sp>
        <p:nvSpPr>
          <p:cNvPr id="10" name="Shape 8"/>
          <p:cNvSpPr/>
          <p:nvPr/>
        </p:nvSpPr>
        <p:spPr>
          <a:xfrm>
            <a:off x="6080760" y="2258568"/>
            <a:ext cx="0" cy="192024"/>
          </a:xfrm>
          <a:prstGeom prst="line">
            <a:avLst/>
          </a:prstGeom>
          <a:noFill/>
          <a:ln w="22225">
            <a:solidFill>
              <a:srgbClr val="5F7486"/>
            </a:solidFill>
            <a:prstDash val="solid"/>
            <a:tailEnd type="triangle"/>
          </a:ln>
        </p:spPr>
      </p:sp>
      <p:sp>
        <p:nvSpPr>
          <p:cNvPr id="11" name="Shape 9"/>
          <p:cNvSpPr/>
          <p:nvPr/>
        </p:nvSpPr>
        <p:spPr>
          <a:xfrm>
            <a:off x="2194560" y="2450592"/>
            <a:ext cx="7772400" cy="749808"/>
          </a:xfrm>
          <a:prstGeom prst="roundRect">
            <a:avLst>
              <a:gd name="adj" fmla="val 9756"/>
            </a:avLst>
          </a:prstGeom>
          <a:solidFill>
            <a:srgbClr val="141C25"/>
          </a:solidFill>
          <a:ln w="19050">
            <a:solidFill>
              <a:srgbClr val="7FA6C9"/>
            </a:solidFill>
            <a:prstDash val="solid"/>
          </a:ln>
        </p:spPr>
      </p:sp>
      <p:sp>
        <p:nvSpPr>
          <p:cNvPr id="12" name="Text 10"/>
          <p:cNvSpPr/>
          <p:nvPr/>
        </p:nvSpPr>
        <p:spPr>
          <a:xfrm>
            <a:off x="2286000" y="2450592"/>
            <a:ext cx="7589520" cy="749808"/>
          </a:xfrm>
          <a:prstGeom prst="rect">
            <a:avLst/>
          </a:prstGeom>
          <a:noFill/>
          <a:ln/>
        </p:spPr>
        <p:txBody>
          <a:bodyPr wrap="square" rtlCol="0" anchor="ctr"/>
          <a:lstStyle/>
          <a:p>
            <a:pPr algn="ctr" indent="0" marL="0">
              <a:buNone/>
            </a:pPr>
            <a:endParaRPr lang="en-US" sz="1300" dirty="0"/>
          </a:p>
        </p:txBody>
      </p:sp>
      <p:sp>
        <p:nvSpPr>
          <p:cNvPr id="13" name="Text 11"/>
          <p:cNvSpPr/>
          <p:nvPr/>
        </p:nvSpPr>
        <p:spPr>
          <a:xfrm>
            <a:off x="2377440" y="2450592"/>
            <a:ext cx="7406640" cy="749808"/>
          </a:xfrm>
          <a:prstGeom prst="rect">
            <a:avLst/>
          </a:prstGeom>
          <a:noFill/>
          <a:ln/>
        </p:spPr>
        <p:txBody>
          <a:bodyPr wrap="square" rtlCol="0" anchor="ctr"/>
          <a:lstStyle/>
          <a:p>
            <a:pPr indent="0" marL="0">
              <a:buNone/>
            </a:pPr>
            <a:r>
              <a:rPr lang="en-US" sz="1300" b="1" dirty="0">
                <a:solidFill>
                  <a:srgbClr val="E6EDF3"/>
                </a:solidFill>
                <a:latin typeface="Segoe UI" pitchFamily="34" charset="0"/>
                <a:ea typeface="Segoe UI" pitchFamily="34" charset="-122"/>
                <a:cs typeface="Segoe UI" pitchFamily="34" charset="-120"/>
              </a:rPr>
              <a:t>Server routes  ·  /api/ledger/[op]  +  /api/cron/net</a:t>
            </a:r>
            <a:endParaRPr lang="en-US" sz="1300" dirty="0"/>
          </a:p>
          <a:p>
            <a:pPr indent="0" marL="0">
              <a:buNone/>
            </a:pPr>
            <a:r>
              <a:rPr lang="en-US" sz="1050" dirty="0">
                <a:solidFill>
                  <a:srgbClr val="8FA6B8"/>
                </a:solidFill>
                <a:latin typeface="Segoe UI" pitchFamily="34" charset="0"/>
                <a:ea typeface="Segoe UI" pitchFamily="34" charset="-122"/>
                <a:cs typeface="Segoe UI" pitchFamily="34" charset="-120"/>
              </a:rPr>
              <a:t>hold the M2M secret; the browser never touches a credential</a:t>
            </a:r>
            <a:endParaRPr lang="en-US" sz="1300" dirty="0"/>
          </a:p>
        </p:txBody>
      </p:sp>
      <p:sp>
        <p:nvSpPr>
          <p:cNvPr id="14" name="Shape 12"/>
          <p:cNvSpPr/>
          <p:nvPr/>
        </p:nvSpPr>
        <p:spPr>
          <a:xfrm>
            <a:off x="6080760" y="3200400"/>
            <a:ext cx="0" cy="192024"/>
          </a:xfrm>
          <a:prstGeom prst="line">
            <a:avLst/>
          </a:prstGeom>
          <a:noFill/>
          <a:ln w="22225">
            <a:solidFill>
              <a:srgbClr val="5F7486"/>
            </a:solidFill>
            <a:prstDash val="solid"/>
            <a:tailEnd type="triangle"/>
          </a:ln>
        </p:spPr>
      </p:sp>
      <p:sp>
        <p:nvSpPr>
          <p:cNvPr id="15" name="Shape 13"/>
          <p:cNvSpPr/>
          <p:nvPr/>
        </p:nvSpPr>
        <p:spPr>
          <a:xfrm>
            <a:off x="2194560" y="3392424"/>
            <a:ext cx="7772400" cy="749808"/>
          </a:xfrm>
          <a:prstGeom prst="roundRect">
            <a:avLst>
              <a:gd name="adj" fmla="val 9756"/>
            </a:avLst>
          </a:prstGeom>
          <a:solidFill>
            <a:srgbClr val="141C25"/>
          </a:solidFill>
          <a:ln w="19050">
            <a:solidFill>
              <a:srgbClr val="7FA6C9"/>
            </a:solidFill>
            <a:prstDash val="solid"/>
          </a:ln>
        </p:spPr>
      </p:sp>
      <p:sp>
        <p:nvSpPr>
          <p:cNvPr id="16" name="Text 14"/>
          <p:cNvSpPr/>
          <p:nvPr/>
        </p:nvSpPr>
        <p:spPr>
          <a:xfrm>
            <a:off x="2286000" y="3392424"/>
            <a:ext cx="7589520" cy="749808"/>
          </a:xfrm>
          <a:prstGeom prst="rect">
            <a:avLst/>
          </a:prstGeom>
          <a:noFill/>
          <a:ln/>
        </p:spPr>
        <p:txBody>
          <a:bodyPr wrap="square" rtlCol="0" anchor="ctr"/>
          <a:lstStyle/>
          <a:p>
            <a:pPr algn="ctr" indent="0" marL="0">
              <a:buNone/>
            </a:pPr>
            <a:endParaRPr lang="en-US" sz="1300" dirty="0"/>
          </a:p>
        </p:txBody>
      </p:sp>
      <p:sp>
        <p:nvSpPr>
          <p:cNvPr id="17" name="Text 15"/>
          <p:cNvSpPr/>
          <p:nvPr/>
        </p:nvSpPr>
        <p:spPr>
          <a:xfrm>
            <a:off x="2377440" y="3392424"/>
            <a:ext cx="7406640" cy="749808"/>
          </a:xfrm>
          <a:prstGeom prst="rect">
            <a:avLst/>
          </a:prstGeom>
          <a:noFill/>
          <a:ln/>
        </p:spPr>
        <p:txBody>
          <a:bodyPr wrap="square" rtlCol="0" anchor="ctr"/>
          <a:lstStyle/>
          <a:p>
            <a:pPr indent="0" marL="0">
              <a:buNone/>
            </a:pPr>
            <a:r>
              <a:rPr lang="en-US" sz="1300" b="1" dirty="0">
                <a:solidFill>
                  <a:srgbClr val="E6EDF3"/>
                </a:solidFill>
                <a:latin typeface="Segoe UI" pitchFamily="34" charset="0"/>
                <a:ea typeface="Segoe UI" pitchFamily="34" charset="-122"/>
                <a:cs typeface="Segoe UI" pitchFamily="34" charset="-120"/>
              </a:rPr>
              <a:t>lib/ledger-server.ts</a:t>
            </a:r>
            <a:endParaRPr lang="en-US" sz="1300" dirty="0"/>
          </a:p>
          <a:p>
            <a:pPr indent="0" marL="0">
              <a:buNone/>
            </a:pPr>
            <a:r>
              <a:rPr lang="en-US" sz="1050" dirty="0">
                <a:solidFill>
                  <a:srgbClr val="8FA6B8"/>
                </a:solidFill>
                <a:latin typeface="Segoe UI" pitchFamily="34" charset="0"/>
                <a:ea typeface="Segoe UI" pitchFamily="34" charset="-122"/>
                <a:cs typeface="Segoe UI" pitchFamily="34" charset="-120"/>
              </a:rPr>
              <a:t>builds JSON Ledger API commands, maps ledger ids &lt;-&gt; company-a/b/c</a:t>
            </a:r>
            <a:endParaRPr lang="en-US" sz="1300" dirty="0"/>
          </a:p>
        </p:txBody>
      </p:sp>
      <p:sp>
        <p:nvSpPr>
          <p:cNvPr id="18" name="Shape 16"/>
          <p:cNvSpPr/>
          <p:nvPr/>
        </p:nvSpPr>
        <p:spPr>
          <a:xfrm>
            <a:off x="6080760" y="4142232"/>
            <a:ext cx="0" cy="192024"/>
          </a:xfrm>
          <a:prstGeom prst="line">
            <a:avLst/>
          </a:prstGeom>
          <a:noFill/>
          <a:ln w="22225">
            <a:solidFill>
              <a:srgbClr val="5F7486"/>
            </a:solidFill>
            <a:prstDash val="solid"/>
            <a:tailEnd type="triangle"/>
          </a:ln>
        </p:spPr>
      </p:sp>
      <p:sp>
        <p:nvSpPr>
          <p:cNvPr id="19" name="Shape 17"/>
          <p:cNvSpPr/>
          <p:nvPr/>
        </p:nvSpPr>
        <p:spPr>
          <a:xfrm>
            <a:off x="2194560" y="4334256"/>
            <a:ext cx="7772400" cy="749808"/>
          </a:xfrm>
          <a:prstGeom prst="roundRect">
            <a:avLst>
              <a:gd name="adj" fmla="val 9756"/>
            </a:avLst>
          </a:prstGeom>
          <a:solidFill>
            <a:srgbClr val="141C25"/>
          </a:solidFill>
          <a:ln w="19050">
            <a:solidFill>
              <a:srgbClr val="38E1A4"/>
            </a:solidFill>
            <a:prstDash val="solid"/>
          </a:ln>
        </p:spPr>
      </p:sp>
      <p:sp>
        <p:nvSpPr>
          <p:cNvPr id="20" name="Text 18"/>
          <p:cNvSpPr/>
          <p:nvPr/>
        </p:nvSpPr>
        <p:spPr>
          <a:xfrm>
            <a:off x="2286000" y="4334256"/>
            <a:ext cx="7589520" cy="749808"/>
          </a:xfrm>
          <a:prstGeom prst="rect">
            <a:avLst/>
          </a:prstGeom>
          <a:noFill/>
          <a:ln/>
        </p:spPr>
        <p:txBody>
          <a:bodyPr wrap="square" rtlCol="0" anchor="ctr"/>
          <a:lstStyle/>
          <a:p>
            <a:pPr algn="ctr" indent="0" marL="0">
              <a:buNone/>
            </a:pPr>
            <a:endParaRPr lang="en-US" sz="1300" dirty="0"/>
          </a:p>
        </p:txBody>
      </p:sp>
      <p:sp>
        <p:nvSpPr>
          <p:cNvPr id="21" name="Text 19"/>
          <p:cNvSpPr/>
          <p:nvPr/>
        </p:nvSpPr>
        <p:spPr>
          <a:xfrm>
            <a:off x="2377440" y="4334256"/>
            <a:ext cx="7406640" cy="749808"/>
          </a:xfrm>
          <a:prstGeom prst="rect">
            <a:avLst/>
          </a:prstGeom>
          <a:noFill/>
          <a:ln/>
        </p:spPr>
        <p:txBody>
          <a:bodyPr wrap="square" rtlCol="0" anchor="ctr"/>
          <a:lstStyle/>
          <a:p>
            <a:pPr indent="0" marL="0">
              <a:buNone/>
            </a:pPr>
            <a:r>
              <a:rPr lang="en-US" sz="1300" b="1" dirty="0">
                <a:solidFill>
                  <a:srgbClr val="E6EDF3"/>
                </a:solidFill>
                <a:latin typeface="Segoe UI" pitchFamily="34" charset="0"/>
                <a:ea typeface="Segoe UI" pitchFamily="34" charset="-122"/>
                <a:cs typeface="Segoe UI" pitchFamily="34" charset="-120"/>
              </a:rPr>
              <a:t>JSON Ledger API v2  ·  5N Devnet validator</a:t>
            </a:r>
            <a:endParaRPr lang="en-US" sz="1300" dirty="0"/>
          </a:p>
          <a:p>
            <a:pPr indent="0" marL="0">
              <a:buNone/>
            </a:pPr>
            <a:r>
              <a:rPr lang="en-US" sz="1050" dirty="0">
                <a:solidFill>
                  <a:srgbClr val="8FA6B8"/>
                </a:solidFill>
                <a:latin typeface="Segoe UI" pitchFamily="34" charset="0"/>
                <a:ea typeface="Segoe UI" pitchFamily="34" charset="-122"/>
                <a:cs typeface="Segoe UI" pitchFamily="34" charset="-120"/>
              </a:rPr>
              <a:t>/v2/commands, /v2/state/active-contracts, /v2/updates</a:t>
            </a:r>
            <a:endParaRPr lang="en-US" sz="1300" dirty="0"/>
          </a:p>
        </p:txBody>
      </p:sp>
      <p:sp>
        <p:nvSpPr>
          <p:cNvPr id="22" name="Shape 20"/>
          <p:cNvSpPr/>
          <p:nvPr/>
        </p:nvSpPr>
        <p:spPr>
          <a:xfrm>
            <a:off x="6080760" y="5084064"/>
            <a:ext cx="0" cy="192024"/>
          </a:xfrm>
          <a:prstGeom prst="line">
            <a:avLst/>
          </a:prstGeom>
          <a:noFill/>
          <a:ln w="22225">
            <a:solidFill>
              <a:srgbClr val="5F7486"/>
            </a:solidFill>
            <a:prstDash val="solid"/>
            <a:tailEnd type="triangle"/>
          </a:ln>
        </p:spPr>
      </p:sp>
      <p:sp>
        <p:nvSpPr>
          <p:cNvPr id="23" name="Shape 21"/>
          <p:cNvSpPr/>
          <p:nvPr/>
        </p:nvSpPr>
        <p:spPr>
          <a:xfrm>
            <a:off x="2194560" y="5276088"/>
            <a:ext cx="7772400" cy="749808"/>
          </a:xfrm>
          <a:prstGeom prst="roundRect">
            <a:avLst>
              <a:gd name="adj" fmla="val 9756"/>
            </a:avLst>
          </a:prstGeom>
          <a:solidFill>
            <a:srgbClr val="141C25"/>
          </a:solidFill>
          <a:ln w="19050">
            <a:solidFill>
              <a:srgbClr val="38E1A4"/>
            </a:solidFill>
            <a:prstDash val="solid"/>
          </a:ln>
        </p:spPr>
      </p:sp>
      <p:sp>
        <p:nvSpPr>
          <p:cNvPr id="24" name="Text 22"/>
          <p:cNvSpPr/>
          <p:nvPr/>
        </p:nvSpPr>
        <p:spPr>
          <a:xfrm>
            <a:off x="2286000" y="5276088"/>
            <a:ext cx="7589520" cy="749808"/>
          </a:xfrm>
          <a:prstGeom prst="rect">
            <a:avLst/>
          </a:prstGeom>
          <a:noFill/>
          <a:ln/>
        </p:spPr>
        <p:txBody>
          <a:bodyPr wrap="square" rtlCol="0" anchor="ctr"/>
          <a:lstStyle/>
          <a:p>
            <a:pPr algn="ctr" indent="0" marL="0">
              <a:buNone/>
            </a:pPr>
            <a:endParaRPr lang="en-US" sz="1300" dirty="0"/>
          </a:p>
        </p:txBody>
      </p:sp>
      <p:sp>
        <p:nvSpPr>
          <p:cNvPr id="25" name="Text 23"/>
          <p:cNvSpPr/>
          <p:nvPr/>
        </p:nvSpPr>
        <p:spPr>
          <a:xfrm>
            <a:off x="2377440" y="5276088"/>
            <a:ext cx="7406640" cy="749808"/>
          </a:xfrm>
          <a:prstGeom prst="rect">
            <a:avLst/>
          </a:prstGeom>
          <a:noFill/>
          <a:ln/>
        </p:spPr>
        <p:txBody>
          <a:bodyPr wrap="square" rtlCol="0" anchor="ctr"/>
          <a:lstStyle/>
          <a:p>
            <a:pPr indent="0" marL="0">
              <a:buNone/>
            </a:pPr>
            <a:r>
              <a:rPr lang="en-US" sz="1300" b="1" dirty="0">
                <a:solidFill>
                  <a:srgbClr val="E6EDF3"/>
                </a:solidFill>
                <a:latin typeface="Segoe UI" pitchFamily="34" charset="0"/>
                <a:ea typeface="Segoe UI" pitchFamily="34" charset="-122"/>
                <a:cs typeface="Segoe UI" pitchFamily="34" charset="-120"/>
              </a:rPr>
              <a:t>Canton  ·  Daml package  (netchain, LF 2.3, PV35)</a:t>
            </a:r>
            <a:endParaRPr lang="en-US" sz="1300" dirty="0"/>
          </a:p>
          <a:p>
            <a:pPr indent="0" marL="0">
              <a:buNone/>
            </a:pPr>
            <a:r>
              <a:rPr lang="en-US" sz="1050" dirty="0">
                <a:solidFill>
                  <a:srgbClr val="8FA6B8"/>
                </a:solidFill>
                <a:latin typeface="Segoe UI" pitchFamily="34" charset="0"/>
                <a:ea typeface="Segoe UI" pitchFamily="34" charset="-122"/>
                <a:cs typeface="Segoe UI" pitchFamily="34" charset="-120"/>
              </a:rPr>
              <a:t>Obligation · NettingCycle · TreasuryPolicy(+Proposal) · Account · NetPosition</a:t>
            </a:r>
            <a:endParaRPr lang="en-US" sz="1300" dirty="0"/>
          </a:p>
        </p:txBody>
      </p:sp>
      <p:sp>
        <p:nvSpPr>
          <p:cNvPr id="26" name="Text 24"/>
          <p:cNvSpPr/>
          <p:nvPr/>
        </p:nvSpPr>
        <p:spPr>
          <a:xfrm>
            <a:off x="640080" y="5989320"/>
            <a:ext cx="10911535" cy="274320"/>
          </a:xfrm>
          <a:prstGeom prst="rect">
            <a:avLst/>
          </a:prstGeom>
          <a:noFill/>
          <a:ln/>
        </p:spPr>
        <p:txBody>
          <a:bodyPr wrap="square" rtlCol="0" anchor="ctr"/>
          <a:lstStyle/>
          <a:p>
            <a:pPr algn="ctr" indent="0" marL="0">
              <a:buNone/>
            </a:pPr>
            <a:r>
              <a:rPr lang="en-US" sz="1200" i="1" dirty="0">
                <a:solidFill>
                  <a:srgbClr val="5F7486"/>
                </a:solidFill>
                <a:latin typeface="Segoe UI" pitchFamily="34" charset="0"/>
                <a:ea typeface="Segoe UI" pitchFamily="34" charset="-122"/>
                <a:cs typeface="Segoe UI" pitchFamily="34" charset="-120"/>
              </a:rPr>
              <a:t>One request's path is the same every time: wrapper → route → ledger-server → validator → Daml, and back.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CORE CONCEPT</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Multilateral netting: 460k gross collapses to 45k net</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graph-gross.png">    </p:cNvPr>
          <p:cNvPicPr>
            <a:picLocks noChangeAspect="1"/>
          </p:cNvPicPr>
          <p:nvPr/>
        </p:nvPicPr>
        <p:blipFill>
          <a:blip r:embed="rId1"/>
          <a:stretch>
            <a:fillRect/>
          </a:stretch>
        </p:blipFill>
        <p:spPr>
          <a:xfrm>
            <a:off x="640080" y="1508760"/>
            <a:ext cx="5486400" cy="3429000"/>
          </a:xfrm>
          <a:prstGeom prst="rect">
            <a:avLst/>
          </a:prstGeom>
        </p:spPr>
      </p:pic>
      <p:sp>
        <p:nvSpPr>
          <p:cNvPr id="8" name="Shape 5"/>
          <p:cNvSpPr/>
          <p:nvPr/>
        </p:nvSpPr>
        <p:spPr>
          <a:xfrm>
            <a:off x="640080" y="1508760"/>
            <a:ext cx="5486400" cy="3429000"/>
          </a:xfrm>
          <a:prstGeom prst="roundRect">
            <a:avLst>
              <a:gd name="adj" fmla="val 800"/>
            </a:avLst>
          </a:prstGeom>
          <a:ln w="12700">
            <a:solidFill>
              <a:srgbClr val="223040"/>
            </a:solidFill>
            <a:prstDash val="solid"/>
          </a:ln>
        </p:spPr>
      </p:sp>
      <p:sp>
        <p:nvSpPr>
          <p:cNvPr id="9" name="Text 6"/>
          <p:cNvSpPr/>
          <p:nvPr/>
        </p:nvSpPr>
        <p:spPr>
          <a:xfrm>
            <a:off x="640080" y="4983480"/>
            <a:ext cx="548640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GROSS: 6 bilateral obligations, 460,000 USDCx</a:t>
            </a:r>
            <a:endParaRPr lang="en-US" sz="1000" dirty="0"/>
          </a:p>
        </p:txBody>
      </p:sp>
      <p:pic>
        <p:nvPicPr>
          <p:cNvPr id="10" name="Image 1" descr="screens/shot-graph-net.png">    </p:cNvPr>
          <p:cNvPicPr>
            <a:picLocks noChangeAspect="1"/>
          </p:cNvPicPr>
          <p:nvPr/>
        </p:nvPicPr>
        <p:blipFill>
          <a:blip r:embed="rId2"/>
          <a:stretch>
            <a:fillRect/>
          </a:stretch>
        </p:blipFill>
        <p:spPr>
          <a:xfrm>
            <a:off x="6355080" y="1508760"/>
            <a:ext cx="5486400" cy="3429000"/>
          </a:xfrm>
          <a:prstGeom prst="rect">
            <a:avLst/>
          </a:prstGeom>
        </p:spPr>
      </p:pic>
      <p:sp>
        <p:nvSpPr>
          <p:cNvPr id="11" name="Shape 7"/>
          <p:cNvSpPr/>
          <p:nvPr/>
        </p:nvSpPr>
        <p:spPr>
          <a:xfrm>
            <a:off x="6355080" y="1508760"/>
            <a:ext cx="5486400" cy="3429000"/>
          </a:xfrm>
          <a:prstGeom prst="roundRect">
            <a:avLst>
              <a:gd name="adj" fmla="val 800"/>
            </a:avLst>
          </a:prstGeom>
          <a:ln w="12700">
            <a:solidFill>
              <a:srgbClr val="223040"/>
            </a:solidFill>
            <a:prstDash val="solid"/>
          </a:ln>
        </p:spPr>
      </p:sp>
      <p:sp>
        <p:nvSpPr>
          <p:cNvPr id="12" name="Text 8"/>
          <p:cNvSpPr/>
          <p:nvPr/>
        </p:nvSpPr>
        <p:spPr>
          <a:xfrm>
            <a:off x="6355080" y="4983480"/>
            <a:ext cx="548640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NET: one figure per party, sum = 0</a:t>
            </a:r>
            <a:endParaRPr lang="en-US" sz="1000" dirty="0"/>
          </a:p>
        </p:txBody>
      </p:sp>
      <p:sp>
        <p:nvSpPr>
          <p:cNvPr id="13" name="Shape 9"/>
          <p:cNvSpPr/>
          <p:nvPr/>
        </p:nvSpPr>
        <p:spPr>
          <a:xfrm>
            <a:off x="640080" y="5029200"/>
            <a:ext cx="10911535" cy="1051560"/>
          </a:xfrm>
          <a:prstGeom prst="roundRect">
            <a:avLst>
              <a:gd name="adj" fmla="val 7826"/>
            </a:avLst>
          </a:prstGeom>
          <a:solidFill>
            <a:srgbClr val="141C25"/>
          </a:solidFill>
          <a:ln w="12700">
            <a:solidFill>
              <a:srgbClr val="223040"/>
            </a:solidFill>
            <a:prstDash val="solid"/>
          </a:ln>
        </p:spPr>
      </p:sp>
      <p:sp>
        <p:nvSpPr>
          <p:cNvPr id="14" name="Text 10"/>
          <p:cNvSpPr/>
          <p:nvPr/>
        </p:nvSpPr>
        <p:spPr>
          <a:xfrm>
            <a:off x="914400" y="5074920"/>
            <a:ext cx="10362895" cy="960120"/>
          </a:xfrm>
          <a:prstGeom prst="rect">
            <a:avLst/>
          </a:prstGeom>
          <a:noFill/>
          <a:ln/>
        </p:spPr>
        <p:txBody>
          <a:bodyPr wrap="square" rtlCol="0" anchor="ctr"/>
          <a:lstStyle/>
          <a:p>
            <a:pPr indent="0" marL="0">
              <a:lnSpc>
                <a:spcPct val="115000"/>
              </a:lnSpc>
              <a:buNone/>
            </a:pPr>
            <a:r>
              <a:rPr lang="en-US" sz="1200" dirty="0">
                <a:solidFill>
                  <a:srgbClr val="8FA6B8"/>
                </a:solidFill>
                <a:latin typeface="Segoe UI" pitchFamily="34" charset="0"/>
                <a:ea typeface="Segoe UI" pitchFamily="34" charset="-122"/>
                <a:cs typeface="Segoe UI" pitchFamily="34" charset="-120"/>
              </a:rPr>
              <a:t>A owes B 120k, B owes C 95k, C owes A 150k, A owes C 40k, B owes A 25k, C owes B 30k   </a:t>
            </a:r>
            <a:pPr indent="0" marL="0">
              <a:lnSpc>
                <a:spcPct val="115000"/>
              </a:lnSpc>
              <a:buNone/>
            </a:pPr>
            <a:r>
              <a:rPr lang="en-US" sz="1200" dirty="0">
                <a:solidFill>
                  <a:srgbClr val="5F7486"/>
                </a:solidFill>
                <a:latin typeface="Segoe UI" pitchFamily="34" charset="0"/>
                <a:ea typeface="Segoe UI" pitchFamily="34" charset="-122"/>
                <a:cs typeface="Segoe UI" pitchFamily="34" charset="-120"/>
              </a:rPr>
              <a:t>-&gt;   </a:t>
            </a:r>
            <a:pPr indent="0" marL="0">
              <a:lnSpc>
                <a:spcPct val="115000"/>
              </a:lnSpc>
              <a:buNone/>
            </a:pPr>
            <a:r>
              <a:rPr lang="en-US" sz="1300" b="1" dirty="0">
                <a:solidFill>
                  <a:srgbClr val="38E1A4"/>
                </a:solidFill>
                <a:latin typeface="Segoe UI" pitchFamily="34" charset="0"/>
                <a:ea typeface="Segoe UI" pitchFamily="34" charset="-122"/>
                <a:cs typeface="Segoe UI" pitchFamily="34" charset="-120"/>
              </a:rPr>
              <a:t>A +15k   B +30k   C -45k   (Σ = 0)</a:t>
            </a:r>
            <a:pPr indent="0" marL="0">
              <a:lnSpc>
                <a:spcPct val="115000"/>
              </a:lnSpc>
              <a:buNone/>
            </a:pPr>
            <a:endParaRPr lang="en-US" sz="1200" dirty="0"/>
          </a:p>
          <a:p>
            <a:pPr indent="0" marL="0">
              <a:lnSpc>
                <a:spcPct val="115000"/>
              </a:lnSpc>
              <a:buNone/>
            </a:pPr>
            <a:r>
              <a:rPr lang="en-US" sz="1200" dirty="0">
                <a:solidFill>
                  <a:srgbClr val="E6EDF3"/>
                </a:solidFill>
                <a:latin typeface="Segoe UI" pitchFamily="34" charset="0"/>
                <a:ea typeface="Segoe UI" pitchFamily="34" charset="-122"/>
                <a:cs typeface="Segoe UI" pitchFamily="34" charset="-120"/>
              </a:rPr>
              <a:t>90% less value has to actually move. The graph animates the collapse live (Gross &lt;-&gt; Net toggle).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CORE CONCEPT</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Atomic settlement: all legs move, or none do</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settlement.png">    </p:cNvPr>
          <p:cNvPicPr>
            <a:picLocks noChangeAspect="1"/>
          </p:cNvPicPr>
          <p:nvPr/>
        </p:nvPicPr>
        <p:blipFill>
          <a:blip r:embed="rId1"/>
          <a:stretch>
            <a:fillRect/>
          </a:stretch>
        </p:blipFill>
        <p:spPr>
          <a:xfrm>
            <a:off x="640080" y="1554480"/>
            <a:ext cx="6035040" cy="3771900"/>
          </a:xfrm>
          <a:prstGeom prst="rect">
            <a:avLst/>
          </a:prstGeom>
        </p:spPr>
      </p:pic>
      <p:sp>
        <p:nvSpPr>
          <p:cNvPr id="8" name="Shape 5"/>
          <p:cNvSpPr/>
          <p:nvPr/>
        </p:nvSpPr>
        <p:spPr>
          <a:xfrm>
            <a:off x="640080" y="1554480"/>
            <a:ext cx="6035040" cy="3771900"/>
          </a:xfrm>
          <a:prstGeom prst="roundRect">
            <a:avLst>
              <a:gd name="adj" fmla="val 727"/>
            </a:avLst>
          </a:prstGeom>
          <a:ln w="12700">
            <a:solidFill>
              <a:srgbClr val="223040"/>
            </a:solidFill>
            <a:prstDash val="solid"/>
          </a:ln>
        </p:spPr>
      </p:sp>
      <p:sp>
        <p:nvSpPr>
          <p:cNvPr id="9" name="Text 6"/>
          <p:cNvSpPr/>
          <p:nvPr/>
        </p:nvSpPr>
        <p:spPr>
          <a:xfrm>
            <a:off x="640080" y="5372100"/>
            <a:ext cx="603504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Settlement page: every net leg flips to Settled together, with a real tx id</a:t>
            </a:r>
            <a:endParaRPr lang="en-US" sz="1000" dirty="0"/>
          </a:p>
        </p:txBody>
      </p:sp>
      <p:sp>
        <p:nvSpPr>
          <p:cNvPr id="10" name="Shape 7"/>
          <p:cNvSpPr/>
          <p:nvPr/>
        </p:nvSpPr>
        <p:spPr>
          <a:xfrm>
            <a:off x="7086600" y="1554480"/>
            <a:ext cx="4462272" cy="4114800"/>
          </a:xfrm>
          <a:prstGeom prst="roundRect">
            <a:avLst>
              <a:gd name="adj" fmla="val 2000"/>
            </a:avLst>
          </a:prstGeom>
          <a:solidFill>
            <a:srgbClr val="141C25"/>
          </a:solidFill>
          <a:ln w="12700">
            <a:solidFill>
              <a:srgbClr val="223040"/>
            </a:solidFill>
            <a:prstDash val="solid"/>
          </a:ln>
        </p:spPr>
      </p:sp>
      <p:sp>
        <p:nvSpPr>
          <p:cNvPr id="11" name="Text 8"/>
          <p:cNvSpPr/>
          <p:nvPr/>
        </p:nvSpPr>
        <p:spPr>
          <a:xfrm>
            <a:off x="7315200" y="1828800"/>
            <a:ext cx="3977640" cy="3657600"/>
          </a:xfrm>
          <a:prstGeom prst="rect">
            <a:avLst/>
          </a:prstGeom>
          <a:noFill/>
          <a:ln/>
        </p:spPr>
        <p:txBody>
          <a:bodyPr wrap="square" rtlCol="0" anchor="t"/>
          <a:lstStyle/>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Settle moves every party's balance inside ONE Canton transaction.</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Any failed assertion rolls back the WHOLE commit: no partial fills, no timing risk.</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An over-cap attempt aborts in-transaction and moves nothing, not by a cent, verifiable on the balances.</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This all-or-nothing DvP is the whole reason to settle on a ledger instead of over SWIFT.</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Funding is checked first; an underfunded party is dropped and the solvent remainder re-nets and settles.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CORE CONCEPT</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Per-party privacy is a ledger property, not a UI mask</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privacy.png">    </p:cNvPr>
          <p:cNvPicPr>
            <a:picLocks noChangeAspect="1"/>
          </p:cNvPicPr>
          <p:nvPr/>
        </p:nvPicPr>
        <p:blipFill>
          <a:blip r:embed="rId1"/>
          <a:stretch>
            <a:fillRect/>
          </a:stretch>
        </p:blipFill>
        <p:spPr>
          <a:xfrm>
            <a:off x="640080" y="1554480"/>
            <a:ext cx="6035040" cy="3771900"/>
          </a:xfrm>
          <a:prstGeom prst="rect">
            <a:avLst/>
          </a:prstGeom>
        </p:spPr>
      </p:pic>
      <p:sp>
        <p:nvSpPr>
          <p:cNvPr id="8" name="Shape 5"/>
          <p:cNvSpPr/>
          <p:nvPr/>
        </p:nvSpPr>
        <p:spPr>
          <a:xfrm>
            <a:off x="640080" y="1554480"/>
            <a:ext cx="6035040" cy="3771900"/>
          </a:xfrm>
          <a:prstGeom prst="roundRect">
            <a:avLst>
              <a:gd name="adj" fmla="val 727"/>
            </a:avLst>
          </a:prstGeom>
          <a:ln w="12700">
            <a:solidFill>
              <a:srgbClr val="223040"/>
            </a:solidFill>
            <a:prstDash val="solid"/>
          </a:ln>
        </p:spPr>
      </p:sp>
      <p:sp>
        <p:nvSpPr>
          <p:cNvPr id="9" name="Text 6"/>
          <p:cNvSpPr/>
          <p:nvPr/>
        </p:nvSpPr>
        <p:spPr>
          <a:xfrm>
            <a:off x="640080" y="5372100"/>
            <a:ext cx="603504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Privacy Check: as Company C, an A&lt;-&gt;B contract returns a real 404</a:t>
            </a:r>
            <a:endParaRPr lang="en-US" sz="1000" dirty="0"/>
          </a:p>
        </p:txBody>
      </p:sp>
      <p:sp>
        <p:nvSpPr>
          <p:cNvPr id="10" name="Shape 7"/>
          <p:cNvSpPr/>
          <p:nvPr/>
        </p:nvSpPr>
        <p:spPr>
          <a:xfrm>
            <a:off x="7086600" y="1554480"/>
            <a:ext cx="4462272" cy="4114800"/>
          </a:xfrm>
          <a:prstGeom prst="roundRect">
            <a:avLst>
              <a:gd name="adj" fmla="val 2000"/>
            </a:avLst>
          </a:prstGeom>
          <a:solidFill>
            <a:srgbClr val="141C25"/>
          </a:solidFill>
          <a:ln w="12700">
            <a:solidFill>
              <a:srgbClr val="223040"/>
            </a:solidFill>
            <a:prstDash val="solid"/>
          </a:ln>
        </p:spPr>
      </p:sp>
      <p:sp>
        <p:nvSpPr>
          <p:cNvPr id="11" name="Text 8"/>
          <p:cNvSpPr/>
          <p:nvPr/>
        </p:nvSpPr>
        <p:spPr>
          <a:xfrm>
            <a:off x="7315200" y="1783080"/>
            <a:ext cx="4023360" cy="320040"/>
          </a:xfrm>
          <a:prstGeom prst="rect">
            <a:avLst/>
          </a:prstGeom>
          <a:noFill/>
          <a:ln/>
        </p:spPr>
        <p:txBody>
          <a:bodyPr wrap="square" rtlCol="0" anchor="ctr"/>
          <a:lstStyle/>
          <a:p>
            <a:pPr indent="0" marL="0">
              <a:buNone/>
            </a:pPr>
            <a:r>
              <a:rPr lang="en-US" sz="1500" b="1" dirty="0">
                <a:solidFill>
                  <a:srgbClr val="7FA6C9"/>
                </a:solidFill>
                <a:latin typeface="Segoe UI" pitchFamily="34" charset="0"/>
                <a:ea typeface="Segoe UI" pitchFamily="34" charset="-122"/>
                <a:cs typeface="Segoe UI" pitchFamily="34" charset="-120"/>
              </a:rPr>
              <a:t>How it works</a:t>
            </a:r>
            <a:endParaRPr lang="en-US" sz="1500" dirty="0"/>
          </a:p>
        </p:txBody>
      </p:sp>
      <p:sp>
        <p:nvSpPr>
          <p:cNvPr id="12" name="Text 9"/>
          <p:cNvSpPr/>
          <p:nvPr/>
        </p:nvSpPr>
        <p:spPr>
          <a:xfrm>
            <a:off x="7315200" y="2194560"/>
            <a:ext cx="3977640" cy="3291840"/>
          </a:xfrm>
          <a:prstGeom prst="rect">
            <a:avLst/>
          </a:prstGeom>
          <a:noFill/>
          <a:ln/>
        </p:spPr>
        <p:txBody>
          <a:bodyPr wrap="square" rtlCol="0" anchor="t"/>
          <a:lstStyle/>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Canton projects each party only the sub-transactions it is a stakeholder in.</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Ask for a foreign contract as C: the validator returns HTTP 404, it will not even confirm it exists.</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Same id as Company A (a real stakeholder): resolves 200 with the amount.</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There is no `if (party != owner) hide()` in app code, the boundary is the node's.</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Impossible to fake with database access control, where a DB admin can always peek.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CAPABILITY</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Obligations: from a raw invoice to an on-ledger contract</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obligations.png">    </p:cNvPr>
          <p:cNvPicPr>
            <a:picLocks noChangeAspect="1"/>
          </p:cNvPicPr>
          <p:nvPr/>
        </p:nvPicPr>
        <p:blipFill>
          <a:blip r:embed="rId1"/>
          <a:stretch>
            <a:fillRect/>
          </a:stretch>
        </p:blipFill>
        <p:spPr>
          <a:xfrm>
            <a:off x="640080" y="1554480"/>
            <a:ext cx="6400800" cy="4000500"/>
          </a:xfrm>
          <a:prstGeom prst="rect">
            <a:avLst/>
          </a:prstGeom>
        </p:spPr>
      </p:pic>
      <p:sp>
        <p:nvSpPr>
          <p:cNvPr id="8" name="Shape 5"/>
          <p:cNvSpPr/>
          <p:nvPr/>
        </p:nvSpPr>
        <p:spPr>
          <a:xfrm>
            <a:off x="640080" y="1554480"/>
            <a:ext cx="6400800" cy="4000500"/>
          </a:xfrm>
          <a:prstGeom prst="roundRect">
            <a:avLst>
              <a:gd name="adj" fmla="val 686"/>
            </a:avLst>
          </a:prstGeom>
          <a:ln w="12700">
            <a:solidFill>
              <a:srgbClr val="223040"/>
            </a:solidFill>
            <a:prstDash val="solid"/>
          </a:ln>
        </p:spPr>
      </p:sp>
      <p:sp>
        <p:nvSpPr>
          <p:cNvPr id="9" name="Text 6"/>
          <p:cNvSpPr/>
          <p:nvPr/>
        </p:nvSpPr>
        <p:spPr>
          <a:xfrm>
            <a:off x="640080" y="5600700"/>
            <a:ext cx="640080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Obligations table, each row is a real Daml Obligation in this party's projection</a:t>
            </a:r>
            <a:endParaRPr lang="en-US" sz="1000" dirty="0"/>
          </a:p>
        </p:txBody>
      </p:sp>
      <p:sp>
        <p:nvSpPr>
          <p:cNvPr id="10" name="Shape 7"/>
          <p:cNvSpPr/>
          <p:nvPr/>
        </p:nvSpPr>
        <p:spPr>
          <a:xfrm>
            <a:off x="7406640" y="1554480"/>
            <a:ext cx="4142232" cy="4114800"/>
          </a:xfrm>
          <a:prstGeom prst="roundRect">
            <a:avLst>
              <a:gd name="adj" fmla="val 2000"/>
            </a:avLst>
          </a:prstGeom>
          <a:solidFill>
            <a:srgbClr val="141C25"/>
          </a:solidFill>
          <a:ln w="12700">
            <a:solidFill>
              <a:srgbClr val="223040"/>
            </a:solidFill>
            <a:prstDash val="solid"/>
          </a:ln>
        </p:spPr>
      </p:sp>
      <p:sp>
        <p:nvSpPr>
          <p:cNvPr id="11" name="Text 8"/>
          <p:cNvSpPr/>
          <p:nvPr/>
        </p:nvSpPr>
        <p:spPr>
          <a:xfrm>
            <a:off x="7635240" y="1828800"/>
            <a:ext cx="3657600" cy="3657600"/>
          </a:xfrm>
          <a:prstGeom prst="rect">
            <a:avLst/>
          </a:prstGeom>
          <a:noFill/>
          <a:ln/>
        </p:spPr>
        <p:txBody>
          <a:bodyPr wrap="square" rtlCol="0" anchor="t"/>
          <a:lstStyle/>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Drop an invoice image: an AI agent (NVIDIA NIM vision) reads amount, counterparty, due date, reference.</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It proposes an on-ledger Obligation, stamped source = agent, with a UETR-style trace id.</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Manual entry is always right there as the always-works fallback.</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Signed by the obligor; observed only by the obligee and operator, so no third party sees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TRUST SAFEGUARD</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Bilateral confirmation: a fake invoice can't settle</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bilateral.png">    </p:cNvPr>
          <p:cNvPicPr>
            <a:picLocks noChangeAspect="1"/>
          </p:cNvPicPr>
          <p:nvPr/>
        </p:nvPicPr>
        <p:blipFill>
          <a:blip r:embed="rId1"/>
          <a:stretch>
            <a:fillRect/>
          </a:stretch>
        </p:blipFill>
        <p:spPr>
          <a:xfrm>
            <a:off x="640080" y="1554480"/>
            <a:ext cx="5943600" cy="3714750"/>
          </a:xfrm>
          <a:prstGeom prst="rect">
            <a:avLst/>
          </a:prstGeom>
        </p:spPr>
      </p:pic>
      <p:sp>
        <p:nvSpPr>
          <p:cNvPr id="8" name="Shape 5"/>
          <p:cNvSpPr/>
          <p:nvPr/>
        </p:nvSpPr>
        <p:spPr>
          <a:xfrm>
            <a:off x="640080" y="1554480"/>
            <a:ext cx="5943600" cy="3714750"/>
          </a:xfrm>
          <a:prstGeom prst="roundRect">
            <a:avLst>
              <a:gd name="adj" fmla="val 738"/>
            </a:avLst>
          </a:prstGeom>
          <a:ln w="12700">
            <a:solidFill>
              <a:srgbClr val="223040"/>
            </a:solidFill>
            <a:prstDash val="solid"/>
          </a:ln>
        </p:spPr>
      </p:sp>
      <p:sp>
        <p:nvSpPr>
          <p:cNvPr id="9" name="Text 6"/>
          <p:cNvSpPr/>
          <p:nvPr/>
        </p:nvSpPr>
        <p:spPr>
          <a:xfrm>
            <a:off x="640080" y="5314950"/>
            <a:ext cx="594360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As the obligee: 'Pending your acceptance' with an Accept button</a:t>
            </a:r>
            <a:endParaRPr lang="en-US" sz="1000" dirty="0"/>
          </a:p>
        </p:txBody>
      </p:sp>
      <p:sp>
        <p:nvSpPr>
          <p:cNvPr id="10" name="Shape 7"/>
          <p:cNvSpPr/>
          <p:nvPr/>
        </p:nvSpPr>
        <p:spPr>
          <a:xfrm>
            <a:off x="7040880" y="1828800"/>
            <a:ext cx="4389120" cy="685800"/>
          </a:xfrm>
          <a:prstGeom prst="roundRect">
            <a:avLst>
              <a:gd name="adj" fmla="val 10667"/>
            </a:avLst>
          </a:prstGeom>
          <a:solidFill>
            <a:srgbClr val="141C25"/>
          </a:solidFill>
          <a:ln w="19050">
            <a:solidFill>
              <a:srgbClr val="7FA6C9"/>
            </a:solidFill>
            <a:prstDash val="solid"/>
          </a:ln>
        </p:spPr>
      </p:sp>
      <p:sp>
        <p:nvSpPr>
          <p:cNvPr id="11" name="Text 8"/>
          <p:cNvSpPr/>
          <p:nvPr/>
        </p:nvSpPr>
        <p:spPr>
          <a:xfrm>
            <a:off x="7132320" y="1828800"/>
            <a:ext cx="4206240" cy="6858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1  Obligor records it</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lands PENDING, excluded from netting</a:t>
            </a:r>
            <a:endParaRPr lang="en-US" sz="1300" dirty="0"/>
          </a:p>
        </p:txBody>
      </p:sp>
      <p:sp>
        <p:nvSpPr>
          <p:cNvPr id="12" name="Shape 9"/>
          <p:cNvSpPr/>
          <p:nvPr/>
        </p:nvSpPr>
        <p:spPr>
          <a:xfrm>
            <a:off x="7040880" y="2880360"/>
            <a:ext cx="4389120" cy="685800"/>
          </a:xfrm>
          <a:prstGeom prst="roundRect">
            <a:avLst>
              <a:gd name="adj" fmla="val 10667"/>
            </a:avLst>
          </a:prstGeom>
          <a:solidFill>
            <a:srgbClr val="141C25"/>
          </a:solidFill>
          <a:ln w="19050">
            <a:solidFill>
              <a:srgbClr val="F5C451"/>
            </a:solidFill>
            <a:prstDash val="solid"/>
          </a:ln>
        </p:spPr>
      </p:sp>
      <p:sp>
        <p:nvSpPr>
          <p:cNvPr id="13" name="Text 10"/>
          <p:cNvSpPr/>
          <p:nvPr/>
        </p:nvSpPr>
        <p:spPr>
          <a:xfrm>
            <a:off x="7132320" y="2880360"/>
            <a:ext cx="4206240" cy="6858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2  Obligee Accepts (on-ledger)</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the second signature</a:t>
            </a:r>
            <a:endParaRPr lang="en-US" sz="1300" dirty="0"/>
          </a:p>
        </p:txBody>
      </p:sp>
      <p:sp>
        <p:nvSpPr>
          <p:cNvPr id="14" name="Shape 11"/>
          <p:cNvSpPr/>
          <p:nvPr/>
        </p:nvSpPr>
        <p:spPr>
          <a:xfrm>
            <a:off x="7040880" y="3931920"/>
            <a:ext cx="4389120" cy="685800"/>
          </a:xfrm>
          <a:prstGeom prst="roundRect">
            <a:avLst>
              <a:gd name="adj" fmla="val 10667"/>
            </a:avLst>
          </a:prstGeom>
          <a:solidFill>
            <a:srgbClr val="141C25"/>
          </a:solidFill>
          <a:ln w="19050">
            <a:solidFill>
              <a:srgbClr val="38E1A4"/>
            </a:solidFill>
            <a:prstDash val="solid"/>
          </a:ln>
        </p:spPr>
      </p:sp>
      <p:sp>
        <p:nvSpPr>
          <p:cNvPr id="15" name="Text 12"/>
          <p:cNvSpPr/>
          <p:nvPr/>
        </p:nvSpPr>
        <p:spPr>
          <a:xfrm>
            <a:off x="7132320" y="3931920"/>
            <a:ext cx="4206240" cy="6858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3  Now it nets</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both parties have consented</a:t>
            </a:r>
            <a:endParaRPr lang="en-US" sz="1300" dirty="0"/>
          </a:p>
        </p:txBody>
      </p:sp>
      <p:sp>
        <p:nvSpPr>
          <p:cNvPr id="16" name="Shape 13"/>
          <p:cNvSpPr/>
          <p:nvPr/>
        </p:nvSpPr>
        <p:spPr>
          <a:xfrm>
            <a:off x="9235440" y="2514600"/>
            <a:ext cx="0" cy="365760"/>
          </a:xfrm>
          <a:prstGeom prst="line">
            <a:avLst/>
          </a:prstGeom>
          <a:noFill/>
          <a:ln w="22225">
            <a:solidFill>
              <a:srgbClr val="5F7486"/>
            </a:solidFill>
            <a:prstDash val="solid"/>
            <a:tailEnd type="triangle"/>
          </a:ln>
        </p:spPr>
      </p:sp>
      <p:sp>
        <p:nvSpPr>
          <p:cNvPr id="17" name="Shape 14"/>
          <p:cNvSpPr/>
          <p:nvPr/>
        </p:nvSpPr>
        <p:spPr>
          <a:xfrm>
            <a:off x="9235440" y="3566160"/>
            <a:ext cx="0" cy="365760"/>
          </a:xfrm>
          <a:prstGeom prst="line">
            <a:avLst/>
          </a:prstGeom>
          <a:noFill/>
          <a:ln w="22225">
            <a:solidFill>
              <a:srgbClr val="5F7486"/>
            </a:solidFill>
            <a:prstDash val="solid"/>
            <a:tailEnd type="triangle"/>
          </a:ln>
        </p:spPr>
      </p:sp>
      <p:sp>
        <p:nvSpPr>
          <p:cNvPr id="18" name="Text 15"/>
          <p:cNvSpPr/>
          <p:nvPr/>
        </p:nvSpPr>
        <p:spPr>
          <a:xfrm>
            <a:off x="7040880" y="4800600"/>
            <a:ext cx="4480560" cy="822960"/>
          </a:xfrm>
          <a:prstGeom prst="rect">
            <a:avLst/>
          </a:prstGeom>
          <a:noFill/>
          <a:ln/>
        </p:spPr>
        <p:txBody>
          <a:bodyPr wrap="square" rtlCol="0" anchor="ctr"/>
          <a:lstStyle/>
          <a:p>
            <a:pPr indent="0" marL="0">
              <a:lnSpc>
                <a:spcPct val="115000"/>
              </a:lnSpc>
              <a:buNone/>
            </a:pPr>
            <a:r>
              <a:rPr lang="en-US" sz="1150" dirty="0">
                <a:solidFill>
                  <a:srgbClr val="E6EDF3"/>
                </a:solidFill>
                <a:latin typeface="Segoe UI" pitchFamily="34" charset="0"/>
                <a:ea typeface="Segoe UI" pitchFamily="34" charset="-122"/>
                <a:cs typeface="Segoe UI" pitchFamily="34" charset="-120"/>
              </a:rPr>
              <a:t>Enforced in the contract: ComputeNetPositions / Settle only count obligations where accepted = Some True. Neither a rogue party nor an AI agent can fabricate a debt that settles.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GOVERNANCE</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TreasuryPolicy cap + maker-checker cap changes</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policy.png">    </p:cNvPr>
          <p:cNvPicPr>
            <a:picLocks noChangeAspect="1"/>
          </p:cNvPicPr>
          <p:nvPr/>
        </p:nvPicPr>
        <p:blipFill>
          <a:blip r:embed="rId1"/>
          <a:stretch>
            <a:fillRect/>
          </a:stretch>
        </p:blipFill>
        <p:spPr>
          <a:xfrm>
            <a:off x="640080" y="1554480"/>
            <a:ext cx="5669280" cy="3543300"/>
          </a:xfrm>
          <a:prstGeom prst="rect">
            <a:avLst/>
          </a:prstGeom>
        </p:spPr>
      </p:pic>
      <p:sp>
        <p:nvSpPr>
          <p:cNvPr id="8" name="Shape 5"/>
          <p:cNvSpPr/>
          <p:nvPr/>
        </p:nvSpPr>
        <p:spPr>
          <a:xfrm>
            <a:off x="640080" y="1554480"/>
            <a:ext cx="5669280" cy="3543300"/>
          </a:xfrm>
          <a:prstGeom prst="roundRect">
            <a:avLst>
              <a:gd name="adj" fmla="val 774"/>
            </a:avLst>
          </a:prstGeom>
          <a:ln w="12700">
            <a:solidFill>
              <a:srgbClr val="223040"/>
            </a:solidFill>
            <a:prstDash val="solid"/>
          </a:ln>
        </p:spPr>
      </p:sp>
      <p:sp>
        <p:nvSpPr>
          <p:cNvPr id="9" name="Text 6"/>
          <p:cNvSpPr/>
          <p:nvPr/>
        </p:nvSpPr>
        <p:spPr>
          <a:xfrm>
            <a:off x="640080" y="5143500"/>
            <a:ext cx="566928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Policy page: the enforced cap + the maker-checker governance panel</a:t>
            </a:r>
            <a:endParaRPr lang="en-US" sz="1000" dirty="0"/>
          </a:p>
        </p:txBody>
      </p:sp>
      <p:sp>
        <p:nvSpPr>
          <p:cNvPr id="10" name="Shape 7"/>
          <p:cNvSpPr/>
          <p:nvPr/>
        </p:nvSpPr>
        <p:spPr>
          <a:xfrm>
            <a:off x="6720840" y="1554480"/>
            <a:ext cx="4828032" cy="4114800"/>
          </a:xfrm>
          <a:prstGeom prst="roundRect">
            <a:avLst>
              <a:gd name="adj" fmla="val 2000"/>
            </a:avLst>
          </a:prstGeom>
          <a:solidFill>
            <a:srgbClr val="141C25"/>
          </a:solidFill>
          <a:ln w="12700">
            <a:solidFill>
              <a:srgbClr val="223040"/>
            </a:solidFill>
            <a:prstDash val="solid"/>
          </a:ln>
        </p:spPr>
      </p:sp>
      <p:sp>
        <p:nvSpPr>
          <p:cNvPr id="11" name="Text 8"/>
          <p:cNvSpPr/>
          <p:nvPr/>
        </p:nvSpPr>
        <p:spPr>
          <a:xfrm>
            <a:off x="6949440" y="1783080"/>
            <a:ext cx="4389120" cy="320040"/>
          </a:xfrm>
          <a:prstGeom prst="rect">
            <a:avLst/>
          </a:prstGeom>
          <a:noFill/>
          <a:ln/>
        </p:spPr>
        <p:txBody>
          <a:bodyPr wrap="square" rtlCol="0" anchor="ctr"/>
          <a:lstStyle/>
          <a:p>
            <a:pPr indent="0" marL="0">
              <a:buNone/>
            </a:pPr>
            <a:r>
              <a:rPr lang="en-US" sz="1400" b="1" dirty="0">
                <a:solidFill>
                  <a:srgbClr val="7FA6C9"/>
                </a:solidFill>
                <a:latin typeface="Segoe UI" pitchFamily="34" charset="0"/>
                <a:ea typeface="Segoe UI" pitchFamily="34" charset="-122"/>
                <a:cs typeface="Segoe UI" pitchFamily="34" charset="-120"/>
              </a:rPr>
              <a:t>The cap the ledger enforces</a:t>
            </a:r>
            <a:endParaRPr lang="en-US" sz="1400" dirty="0"/>
          </a:p>
        </p:txBody>
      </p:sp>
      <p:sp>
        <p:nvSpPr>
          <p:cNvPr id="12" name="Text 9"/>
          <p:cNvSpPr/>
          <p:nvPr/>
        </p:nvSpPr>
        <p:spPr>
          <a:xfrm>
            <a:off x="6949440" y="2148840"/>
            <a:ext cx="4343400" cy="1188720"/>
          </a:xfrm>
          <a:prstGeom prst="rect">
            <a:avLst/>
          </a:prstGeom>
          <a:noFill/>
          <a:ln/>
        </p:spPr>
        <p:txBody>
          <a:bodyPr wrap="square" rtlCol="0" anchor="t"/>
          <a:lstStyle/>
          <a:p>
            <a:pPr marL="203200" indent="-203200">
              <a:lnSpc>
                <a:spcPct val="120000"/>
              </a:lnSpc>
              <a:spcAft>
                <a:spcPts val="800"/>
              </a:spcAft>
              <a:buSzPct val="100000"/>
              <a:buChar char="•"/>
            </a:pPr>
            <a:r>
              <a:rPr lang="en-US" sz="1200" dirty="0">
                <a:solidFill>
                  <a:srgbClr val="E6EDF3"/>
                </a:solidFill>
                <a:latin typeface="Segoe UI" pitchFamily="34" charset="0"/>
                <a:ea typeface="Segoe UI" pitchFamily="34" charset="-122"/>
                <a:cs typeface="Segoe UI" pitchFamily="34" charset="-120"/>
              </a:rPr>
              <a:t>maxSettlementPerCycle is asserted INSIDE the Settle transaction, not in the UI.</a:t>
            </a:r>
            <a:endParaRPr lang="en-US" sz="1200" dirty="0"/>
          </a:p>
          <a:p>
            <a:pPr marL="203200" indent="-203200">
              <a:lnSpc>
                <a:spcPct val="120000"/>
              </a:lnSpc>
              <a:spcAft>
                <a:spcPts val="800"/>
              </a:spcAft>
              <a:buSzPct val="100000"/>
              <a:buChar char="•"/>
            </a:pPr>
            <a:r>
              <a:rPr lang="en-US" sz="1200" dirty="0">
                <a:solidFill>
                  <a:srgbClr val="E6EDF3"/>
                </a:solidFill>
                <a:latin typeface="Segoe UI" pitchFamily="34" charset="0"/>
                <a:ea typeface="Segoe UI" pitchFamily="34" charset="-122"/>
                <a:cs typeface="Segoe UI" pitchFamily="34" charset="-120"/>
              </a:rPr>
              <a:t>Over-cap settle is refused on-ledger; no override flag exists for an agent to set.</a:t>
            </a:r>
            <a:endParaRPr lang="en-US" sz="1200" dirty="0"/>
          </a:p>
        </p:txBody>
      </p:sp>
      <p:sp>
        <p:nvSpPr>
          <p:cNvPr id="13" name="Text 10"/>
          <p:cNvSpPr/>
          <p:nvPr/>
        </p:nvSpPr>
        <p:spPr>
          <a:xfrm>
            <a:off x="6949440" y="3429000"/>
            <a:ext cx="4389120" cy="320040"/>
          </a:xfrm>
          <a:prstGeom prst="rect">
            <a:avLst/>
          </a:prstGeom>
          <a:noFill/>
          <a:ln/>
        </p:spPr>
        <p:txBody>
          <a:bodyPr wrap="square" rtlCol="0" anchor="ctr"/>
          <a:lstStyle/>
          <a:p>
            <a:pPr indent="0" marL="0">
              <a:buNone/>
            </a:pPr>
            <a:r>
              <a:rPr lang="en-US" sz="1400" b="1" dirty="0">
                <a:solidFill>
                  <a:srgbClr val="F5C451"/>
                </a:solidFill>
                <a:latin typeface="Segoe UI" pitchFamily="34" charset="0"/>
                <a:ea typeface="Segoe UI" pitchFamily="34" charset="-122"/>
                <a:cs typeface="Segoe UI" pitchFamily="34" charset="-120"/>
              </a:rPr>
              <a:t>Changing a cap: four-eyes</a:t>
            </a:r>
            <a:endParaRPr lang="en-US" sz="1400" dirty="0"/>
          </a:p>
        </p:txBody>
      </p:sp>
      <p:sp>
        <p:nvSpPr>
          <p:cNvPr id="14" name="Text 11"/>
          <p:cNvSpPr/>
          <p:nvPr/>
        </p:nvSpPr>
        <p:spPr>
          <a:xfrm>
            <a:off x="6949440" y="3794760"/>
            <a:ext cx="4343400" cy="1828800"/>
          </a:xfrm>
          <a:prstGeom prst="rect">
            <a:avLst/>
          </a:prstGeom>
          <a:noFill/>
          <a:ln/>
        </p:spPr>
        <p:txBody>
          <a:bodyPr wrap="square" rtlCol="0" anchor="t"/>
          <a:lstStyle/>
          <a:p>
            <a:pPr marL="203200" indent="-203200">
              <a:lnSpc>
                <a:spcPct val="120000"/>
              </a:lnSpc>
              <a:spcAft>
                <a:spcPts val="800"/>
              </a:spcAft>
              <a:buSzPct val="100000"/>
              <a:buChar char="•"/>
            </a:pPr>
            <a:r>
              <a:rPr lang="en-US" sz="1200" dirty="0">
                <a:solidFill>
                  <a:srgbClr val="E6EDF3"/>
                </a:solidFill>
                <a:latin typeface="Segoe UI" pitchFamily="34" charset="0"/>
                <a:ea typeface="Segoe UI" pitchFamily="34" charset="-122"/>
                <a:cs typeface="Segoe UI" pitchFamily="34" charset="-120"/>
              </a:rPr>
              <a:t>Party proposes a new cap (maker); operator approves (checker). Neither acts alone.</a:t>
            </a:r>
            <a:endParaRPr lang="en-US" sz="1200" dirty="0"/>
          </a:p>
          <a:p>
            <a:pPr marL="203200" indent="-203200">
              <a:lnSpc>
                <a:spcPct val="120000"/>
              </a:lnSpc>
              <a:spcAft>
                <a:spcPts val="800"/>
              </a:spcAft>
              <a:buSzPct val="100000"/>
              <a:buChar char="•"/>
            </a:pPr>
            <a:r>
              <a:rPr lang="en-US" sz="1200" dirty="0">
                <a:solidFill>
                  <a:srgbClr val="E6EDF3"/>
                </a:solidFill>
                <a:latin typeface="Segoe UI" pitchFamily="34" charset="0"/>
                <a:ea typeface="Segoe UI" pitchFamily="34" charset="-122"/>
                <a:cs typeface="Segoe UI" pitchFamily="34" charset="-120"/>
              </a:rPr>
              <a:t>The operator still cannot unilaterally RAISE a cap, only approve what the party proposed.</a:t>
            </a:r>
            <a:endParaRPr lang="en-US" sz="1200" dirty="0"/>
          </a:p>
          <a:p>
            <a:pPr marL="203200" indent="-203200">
              <a:lnSpc>
                <a:spcPct val="120000"/>
              </a:lnSpc>
              <a:spcAft>
                <a:spcPts val="800"/>
              </a:spcAft>
              <a:buSzPct val="100000"/>
              <a:buChar char="•"/>
            </a:pPr>
            <a:r>
              <a:rPr lang="en-US" sz="1200" dirty="0">
                <a:solidFill>
                  <a:srgbClr val="E6EDF3"/>
                </a:solidFill>
                <a:latin typeface="Segoe UI" pitchFamily="34" charset="0"/>
                <a:ea typeface="Segoe UI" pitchFamily="34" charset="-122"/>
                <a:cs typeface="Segoe UI" pitchFamily="34" charset="-120"/>
              </a:rPr>
              <a:t>The SOX / Basel / treasury segregation-of-duties standard, modeled on-ledger.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AUTOMATION</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Netting runs itself, on a schedule</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822960" y="2331720"/>
            <a:ext cx="2286000" cy="914400"/>
          </a:xfrm>
          <a:prstGeom prst="roundRect">
            <a:avLst>
              <a:gd name="adj" fmla="val 8000"/>
            </a:avLst>
          </a:prstGeom>
          <a:solidFill>
            <a:srgbClr val="141C25"/>
          </a:solidFill>
          <a:ln w="19050">
            <a:solidFill>
              <a:srgbClr val="7FA6C9"/>
            </a:solidFill>
            <a:prstDash val="solid"/>
          </a:ln>
        </p:spPr>
      </p:sp>
      <p:sp>
        <p:nvSpPr>
          <p:cNvPr id="8" name="Text 6"/>
          <p:cNvSpPr/>
          <p:nvPr/>
        </p:nvSpPr>
        <p:spPr>
          <a:xfrm>
            <a:off x="914400" y="2331720"/>
            <a:ext cx="210312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Vercel Cron</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free daily, or an agent</a:t>
            </a:r>
            <a:endParaRPr lang="en-US" sz="1300" dirty="0"/>
          </a:p>
        </p:txBody>
      </p:sp>
      <p:sp>
        <p:nvSpPr>
          <p:cNvPr id="9" name="Shape 7"/>
          <p:cNvSpPr/>
          <p:nvPr/>
        </p:nvSpPr>
        <p:spPr>
          <a:xfrm>
            <a:off x="3657600" y="2331720"/>
            <a:ext cx="2377440" cy="914400"/>
          </a:xfrm>
          <a:prstGeom prst="roundRect">
            <a:avLst>
              <a:gd name="adj" fmla="val 8000"/>
            </a:avLst>
          </a:prstGeom>
          <a:solidFill>
            <a:srgbClr val="141C25"/>
          </a:solidFill>
          <a:ln w="19050">
            <a:solidFill>
              <a:srgbClr val="7FA6C9"/>
            </a:solidFill>
            <a:prstDash val="solid"/>
          </a:ln>
        </p:spPr>
      </p:sp>
      <p:sp>
        <p:nvSpPr>
          <p:cNvPr id="10" name="Text 8"/>
          <p:cNvSpPr/>
          <p:nvPr/>
        </p:nvSpPr>
        <p:spPr>
          <a:xfrm>
            <a:off x="3749040" y="2331720"/>
            <a:ext cx="219456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/api/cron/net</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CRON_SECRET-gated</a:t>
            </a:r>
            <a:endParaRPr lang="en-US" sz="1300" dirty="0"/>
          </a:p>
        </p:txBody>
      </p:sp>
      <p:sp>
        <p:nvSpPr>
          <p:cNvPr id="11" name="Shape 9"/>
          <p:cNvSpPr/>
          <p:nvPr/>
        </p:nvSpPr>
        <p:spPr>
          <a:xfrm>
            <a:off x="6583680" y="2331720"/>
            <a:ext cx="2377440" cy="914400"/>
          </a:xfrm>
          <a:prstGeom prst="roundRect">
            <a:avLst>
              <a:gd name="adj" fmla="val 8000"/>
            </a:avLst>
          </a:prstGeom>
          <a:solidFill>
            <a:srgbClr val="141C25"/>
          </a:solidFill>
          <a:ln w="19050">
            <a:solidFill>
              <a:srgbClr val="38E1A4"/>
            </a:solidFill>
            <a:prstDash val="solid"/>
          </a:ln>
        </p:spPr>
      </p:sp>
      <p:sp>
        <p:nvSpPr>
          <p:cNvPr id="12" name="Text 10"/>
          <p:cNvSpPr/>
          <p:nvPr/>
        </p:nvSpPr>
        <p:spPr>
          <a:xfrm>
            <a:off x="6675120" y="2331720"/>
            <a:ext cx="219456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Funding check</a:t>
            </a:r>
            <a:endParaRPr lang="en-US" sz="1300" dirty="0"/>
          </a:p>
          <a:p>
            <a:pPr algn="ctr" indent="0" marL="0">
              <a:buNone/>
            </a:pPr>
            <a:r>
              <a:rPr lang="en-US" sz="1300" b="1" dirty="0">
                <a:solidFill>
                  <a:srgbClr val="E6EDF3"/>
                </a:solidFill>
                <a:latin typeface="Segoe UI" pitchFamily="34" charset="0"/>
                <a:ea typeface="Segoe UI" pitchFamily="34" charset="-122"/>
                <a:cs typeface="Segoe UI" pitchFamily="34" charset="-120"/>
              </a:rPr>
              <a:t>+ Settle</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policy-bounded</a:t>
            </a:r>
            <a:endParaRPr lang="en-US" sz="1300" dirty="0"/>
          </a:p>
        </p:txBody>
      </p:sp>
      <p:sp>
        <p:nvSpPr>
          <p:cNvPr id="13" name="Shape 11"/>
          <p:cNvSpPr/>
          <p:nvPr/>
        </p:nvSpPr>
        <p:spPr>
          <a:xfrm>
            <a:off x="9509760" y="2331720"/>
            <a:ext cx="2011680" cy="914400"/>
          </a:xfrm>
          <a:prstGeom prst="roundRect">
            <a:avLst>
              <a:gd name="adj" fmla="val 8000"/>
            </a:avLst>
          </a:prstGeom>
          <a:solidFill>
            <a:srgbClr val="141C25"/>
          </a:solidFill>
          <a:ln w="19050">
            <a:solidFill>
              <a:srgbClr val="F5C451"/>
            </a:solidFill>
            <a:prstDash val="solid"/>
          </a:ln>
        </p:spPr>
      </p:sp>
      <p:sp>
        <p:nvSpPr>
          <p:cNvPr id="14" name="Text 12"/>
          <p:cNvSpPr/>
          <p:nvPr/>
        </p:nvSpPr>
        <p:spPr>
          <a:xfrm>
            <a:off x="9601200" y="2331720"/>
            <a:ext cx="182880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Self-heal</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reseed to clean</a:t>
            </a:r>
            <a:endParaRPr lang="en-US" sz="1300" dirty="0"/>
          </a:p>
        </p:txBody>
      </p:sp>
      <p:sp>
        <p:nvSpPr>
          <p:cNvPr id="15" name="Shape 13"/>
          <p:cNvSpPr/>
          <p:nvPr/>
        </p:nvSpPr>
        <p:spPr>
          <a:xfrm>
            <a:off x="3108960" y="2788920"/>
            <a:ext cx="548640" cy="0"/>
          </a:xfrm>
          <a:prstGeom prst="line">
            <a:avLst/>
          </a:prstGeom>
          <a:noFill/>
          <a:ln w="22225">
            <a:solidFill>
              <a:srgbClr val="5F7486"/>
            </a:solidFill>
            <a:prstDash val="solid"/>
            <a:tailEnd type="triangle"/>
          </a:ln>
        </p:spPr>
      </p:sp>
      <p:sp>
        <p:nvSpPr>
          <p:cNvPr id="16" name="Shape 14"/>
          <p:cNvSpPr/>
          <p:nvPr/>
        </p:nvSpPr>
        <p:spPr>
          <a:xfrm>
            <a:off x="6035040" y="2788920"/>
            <a:ext cx="548640" cy="0"/>
          </a:xfrm>
          <a:prstGeom prst="line">
            <a:avLst/>
          </a:prstGeom>
          <a:noFill/>
          <a:ln w="22225">
            <a:solidFill>
              <a:srgbClr val="5F7486"/>
            </a:solidFill>
            <a:prstDash val="solid"/>
            <a:tailEnd type="triangle"/>
          </a:ln>
        </p:spPr>
      </p:sp>
      <p:sp>
        <p:nvSpPr>
          <p:cNvPr id="17" name="Shape 15"/>
          <p:cNvSpPr/>
          <p:nvPr/>
        </p:nvSpPr>
        <p:spPr>
          <a:xfrm>
            <a:off x="8961120" y="2788920"/>
            <a:ext cx="548640" cy="0"/>
          </a:xfrm>
          <a:prstGeom prst="line">
            <a:avLst/>
          </a:prstGeom>
          <a:noFill/>
          <a:ln w="22225">
            <a:solidFill>
              <a:srgbClr val="5F7486"/>
            </a:solidFill>
            <a:prstDash val="solid"/>
            <a:tailEnd type="triangle"/>
          </a:ln>
        </p:spPr>
      </p:sp>
      <p:sp>
        <p:nvSpPr>
          <p:cNvPr id="18" name="Text 16"/>
          <p:cNvSpPr/>
          <p:nvPr/>
        </p:nvSpPr>
        <p:spPr>
          <a:xfrm>
            <a:off x="640080" y="3931920"/>
            <a:ext cx="10911535" cy="2926080"/>
          </a:xfrm>
          <a:prstGeom prst="rect">
            <a:avLst/>
          </a:prstGeom>
          <a:noFill/>
          <a:ln/>
        </p:spPr>
        <p:txBody>
          <a:bodyPr wrap="square" rtlCol="0" anchor="t"/>
          <a:lstStyle/>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The operator does not have to click every time: a scheduled job runs the whole cycle and settles.</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Automating the trigger changes nothing about correctness, the cap and funding checks are enforced on-ledger regardless of who fires it.</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Scheduled batch windows are also the industry-correct model (CLS / CHIPS run daily cutoffs); netting compresses more with batching.</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After each run it self-heals the public demo back to the clean open state, so it is always ready to show.</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AGENTIC (TRACK 3)</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An AI agent drives it, bounded by the ledger</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1005840" y="2286000"/>
            <a:ext cx="2377440" cy="914400"/>
          </a:xfrm>
          <a:prstGeom prst="roundRect">
            <a:avLst>
              <a:gd name="adj" fmla="val 8000"/>
            </a:avLst>
          </a:prstGeom>
          <a:solidFill>
            <a:srgbClr val="141C25"/>
          </a:solidFill>
          <a:ln w="19050">
            <a:solidFill>
              <a:srgbClr val="7FA6C9"/>
            </a:solidFill>
            <a:prstDash val="solid"/>
          </a:ln>
        </p:spPr>
      </p:sp>
      <p:sp>
        <p:nvSpPr>
          <p:cNvPr id="8" name="Text 6"/>
          <p:cNvSpPr/>
          <p:nvPr/>
        </p:nvSpPr>
        <p:spPr>
          <a:xfrm>
            <a:off x="1097280" y="2286000"/>
            <a:ext cx="219456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AI agent</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Claude or any MCP client</a:t>
            </a:r>
            <a:endParaRPr lang="en-US" sz="1300" dirty="0"/>
          </a:p>
        </p:txBody>
      </p:sp>
      <p:sp>
        <p:nvSpPr>
          <p:cNvPr id="9" name="Shape 7"/>
          <p:cNvSpPr/>
          <p:nvPr/>
        </p:nvSpPr>
        <p:spPr>
          <a:xfrm>
            <a:off x="4023360" y="2286000"/>
            <a:ext cx="2743200" cy="914400"/>
          </a:xfrm>
          <a:prstGeom prst="roundRect">
            <a:avLst>
              <a:gd name="adj" fmla="val 8000"/>
            </a:avLst>
          </a:prstGeom>
          <a:solidFill>
            <a:srgbClr val="141C25"/>
          </a:solidFill>
          <a:ln w="19050">
            <a:solidFill>
              <a:srgbClr val="7FA6C9"/>
            </a:solidFill>
            <a:prstDash val="solid"/>
          </a:ln>
        </p:spPr>
      </p:sp>
      <p:sp>
        <p:nvSpPr>
          <p:cNvPr id="10" name="Text 8"/>
          <p:cNvSpPr/>
          <p:nvPr/>
        </p:nvSpPr>
        <p:spPr>
          <a:xfrm>
            <a:off x="4114800" y="2286000"/>
            <a:ext cx="256032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NetChain MCP</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16 tools, thin pass-through</a:t>
            </a:r>
            <a:endParaRPr lang="en-US" sz="1300" dirty="0"/>
          </a:p>
        </p:txBody>
      </p:sp>
      <p:sp>
        <p:nvSpPr>
          <p:cNvPr id="11" name="Shape 9"/>
          <p:cNvSpPr/>
          <p:nvPr/>
        </p:nvSpPr>
        <p:spPr>
          <a:xfrm>
            <a:off x="7406640" y="2286000"/>
            <a:ext cx="2194560" cy="914400"/>
          </a:xfrm>
          <a:prstGeom prst="roundRect">
            <a:avLst>
              <a:gd name="adj" fmla="val 8000"/>
            </a:avLst>
          </a:prstGeom>
          <a:solidFill>
            <a:srgbClr val="141C25"/>
          </a:solidFill>
          <a:ln w="19050">
            <a:solidFill>
              <a:srgbClr val="7FA6C9"/>
            </a:solidFill>
            <a:prstDash val="solid"/>
          </a:ln>
        </p:spPr>
      </p:sp>
      <p:sp>
        <p:nvSpPr>
          <p:cNvPr id="12" name="Text 10"/>
          <p:cNvSpPr/>
          <p:nvPr/>
        </p:nvSpPr>
        <p:spPr>
          <a:xfrm>
            <a:off x="7498080" y="2286000"/>
            <a:ext cx="201168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HTTP API</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same routes as UI</a:t>
            </a:r>
            <a:endParaRPr lang="en-US" sz="1300" dirty="0"/>
          </a:p>
        </p:txBody>
      </p:sp>
      <p:sp>
        <p:nvSpPr>
          <p:cNvPr id="13" name="Shape 11"/>
          <p:cNvSpPr/>
          <p:nvPr/>
        </p:nvSpPr>
        <p:spPr>
          <a:xfrm>
            <a:off x="9966960" y="2286000"/>
            <a:ext cx="1554480" cy="914400"/>
          </a:xfrm>
          <a:prstGeom prst="roundRect">
            <a:avLst>
              <a:gd name="adj" fmla="val 8000"/>
            </a:avLst>
          </a:prstGeom>
          <a:solidFill>
            <a:srgbClr val="141C25"/>
          </a:solidFill>
          <a:ln w="19050">
            <a:solidFill>
              <a:srgbClr val="38E1A4"/>
            </a:solidFill>
            <a:prstDash val="solid"/>
          </a:ln>
        </p:spPr>
      </p:sp>
      <p:sp>
        <p:nvSpPr>
          <p:cNvPr id="14" name="Text 12"/>
          <p:cNvSpPr/>
          <p:nvPr/>
        </p:nvSpPr>
        <p:spPr>
          <a:xfrm>
            <a:off x="10058400" y="2286000"/>
            <a:ext cx="1371600" cy="914400"/>
          </a:xfrm>
          <a:prstGeom prst="rect">
            <a:avLst/>
          </a:prstGeom>
          <a:noFill/>
          <a:ln/>
        </p:spPr>
        <p:txBody>
          <a:bodyPr wrap="square" rtlCol="0" anchor="ctr"/>
          <a:lstStyle/>
          <a:p>
            <a:pPr algn="ctr" indent="0" marL="0">
              <a:buNone/>
            </a:pPr>
            <a:r>
              <a:rPr lang="en-US" sz="1300" b="1" dirty="0">
                <a:solidFill>
                  <a:srgbClr val="E6EDF3"/>
                </a:solidFill>
                <a:latin typeface="Segoe UI" pitchFamily="34" charset="0"/>
                <a:ea typeface="Segoe UI" pitchFamily="34" charset="-122"/>
                <a:cs typeface="Segoe UI" pitchFamily="34" charset="-120"/>
              </a:rPr>
              <a:t>Canton</a:t>
            </a:r>
            <a:endParaRPr lang="en-US" sz="1300" dirty="0"/>
          </a:p>
          <a:p>
            <a:pPr algn="ctr" indent="0" marL="0">
              <a:buNone/>
            </a:pPr>
            <a:r>
              <a:rPr lang="en-US" sz="1000" b="1" dirty="0">
                <a:solidFill>
                  <a:srgbClr val="8FA6B8"/>
                </a:solidFill>
                <a:latin typeface="Segoe UI" pitchFamily="34" charset="0"/>
                <a:ea typeface="Segoe UI" pitchFamily="34" charset="-122"/>
                <a:cs typeface="Segoe UI" pitchFamily="34" charset="-120"/>
              </a:rPr>
              <a:t>the ledger decides</a:t>
            </a:r>
            <a:endParaRPr lang="en-US" sz="1300" dirty="0"/>
          </a:p>
        </p:txBody>
      </p:sp>
      <p:sp>
        <p:nvSpPr>
          <p:cNvPr id="15" name="Shape 13"/>
          <p:cNvSpPr/>
          <p:nvPr/>
        </p:nvSpPr>
        <p:spPr>
          <a:xfrm>
            <a:off x="3383280" y="2743200"/>
            <a:ext cx="640080" cy="0"/>
          </a:xfrm>
          <a:prstGeom prst="line">
            <a:avLst/>
          </a:prstGeom>
          <a:noFill/>
          <a:ln w="22225">
            <a:solidFill>
              <a:srgbClr val="5F7486"/>
            </a:solidFill>
            <a:prstDash val="solid"/>
            <a:tailEnd type="triangle"/>
          </a:ln>
        </p:spPr>
      </p:sp>
      <p:sp>
        <p:nvSpPr>
          <p:cNvPr id="16" name="Shape 14"/>
          <p:cNvSpPr/>
          <p:nvPr/>
        </p:nvSpPr>
        <p:spPr>
          <a:xfrm>
            <a:off x="6766560" y="2743200"/>
            <a:ext cx="640080" cy="0"/>
          </a:xfrm>
          <a:prstGeom prst="line">
            <a:avLst/>
          </a:prstGeom>
          <a:noFill/>
          <a:ln w="22225">
            <a:solidFill>
              <a:srgbClr val="5F7486"/>
            </a:solidFill>
            <a:prstDash val="solid"/>
            <a:tailEnd type="triangle"/>
          </a:ln>
        </p:spPr>
      </p:sp>
      <p:sp>
        <p:nvSpPr>
          <p:cNvPr id="17" name="Shape 15"/>
          <p:cNvSpPr/>
          <p:nvPr/>
        </p:nvSpPr>
        <p:spPr>
          <a:xfrm>
            <a:off x="9601200" y="2743200"/>
            <a:ext cx="365760" cy="0"/>
          </a:xfrm>
          <a:prstGeom prst="line">
            <a:avLst/>
          </a:prstGeom>
          <a:noFill/>
          <a:ln w="22225">
            <a:solidFill>
              <a:srgbClr val="5F7486"/>
            </a:solidFill>
            <a:prstDash val="solid"/>
            <a:tailEnd type="triangle"/>
          </a:ln>
        </p:spPr>
      </p:sp>
      <p:sp>
        <p:nvSpPr>
          <p:cNvPr id="18" name="Shape 16"/>
          <p:cNvSpPr/>
          <p:nvPr/>
        </p:nvSpPr>
        <p:spPr>
          <a:xfrm flipV="1">
            <a:off x="10744200" y="3246120"/>
            <a:ext cx="0" cy="320040"/>
          </a:xfrm>
          <a:prstGeom prst="line">
            <a:avLst/>
          </a:prstGeom>
          <a:noFill/>
          <a:ln w="22225">
            <a:solidFill>
              <a:srgbClr val="E8846B"/>
            </a:solidFill>
            <a:prstDash val="solid"/>
            <a:tailEnd type="triangle"/>
          </a:ln>
        </p:spPr>
      </p:sp>
      <p:sp>
        <p:nvSpPr>
          <p:cNvPr id="19" name="Shape 17"/>
          <p:cNvSpPr/>
          <p:nvPr/>
        </p:nvSpPr>
        <p:spPr>
          <a:xfrm>
            <a:off x="7955280" y="3611880"/>
            <a:ext cx="3108960" cy="310896"/>
          </a:xfrm>
          <a:prstGeom prst="roundRect">
            <a:avLst>
              <a:gd name="adj" fmla="val 50000"/>
            </a:avLst>
          </a:prstGeom>
          <a:solidFill>
            <a:srgbClr val="141C25"/>
          </a:solidFill>
          <a:ln w="12700">
            <a:solidFill>
              <a:srgbClr val="E8846B"/>
            </a:solidFill>
            <a:prstDash val="solid"/>
          </a:ln>
        </p:spPr>
      </p:sp>
      <p:sp>
        <p:nvSpPr>
          <p:cNvPr id="20" name="Text 18"/>
          <p:cNvSpPr/>
          <p:nvPr/>
        </p:nvSpPr>
        <p:spPr>
          <a:xfrm>
            <a:off x="7955280" y="3611880"/>
            <a:ext cx="3108960" cy="310896"/>
          </a:xfrm>
          <a:prstGeom prst="rect">
            <a:avLst/>
          </a:prstGeom>
          <a:noFill/>
          <a:ln/>
        </p:spPr>
        <p:txBody>
          <a:bodyPr wrap="square" rtlCol="0" anchor="ctr"/>
          <a:lstStyle/>
          <a:p>
            <a:pPr algn="ctr" indent="0" marL="0">
              <a:buNone/>
            </a:pPr>
            <a:r>
              <a:rPr lang="en-US" sz="1000" b="1" dirty="0">
                <a:solidFill>
                  <a:srgbClr val="E8846B"/>
                </a:solidFill>
                <a:latin typeface="Segoe UI" pitchFamily="34" charset="0"/>
                <a:ea typeface="Segoe UI" pitchFamily="34" charset="-122"/>
                <a:cs typeface="Segoe UI" pitchFamily="34" charset="-120"/>
              </a:rPr>
              <a:t>TreasuryPolicy blocks over-cap</a:t>
            </a:r>
            <a:endParaRPr lang="en-US" sz="1000" dirty="0"/>
          </a:p>
        </p:txBody>
      </p:sp>
      <p:sp>
        <p:nvSpPr>
          <p:cNvPr id="21" name="Text 19"/>
          <p:cNvSpPr/>
          <p:nvPr/>
        </p:nvSpPr>
        <p:spPr>
          <a:xfrm>
            <a:off x="640080" y="4114800"/>
            <a:ext cx="10911535" cy="2926080"/>
          </a:xfrm>
          <a:prstGeom prst="rect">
            <a:avLst/>
          </a:prstGeom>
          <a:noFill/>
          <a:ln/>
        </p:spPr>
        <p:txBody>
          <a:bodyPr wrap="square" rtlCol="0" anchor="t"/>
          <a:lstStyle/>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The agent can propose any obligation, cycle, or settlement, list/create/accept/net/settle, propose or approve caps.</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It CANNOT make the ledger accept an over-cap settle, raise its own cap, or self-approve a debt: those live in the Daml, not the prompt.</a:t>
            </a:r>
            <a:endParaRPr lang="en-US" sz="1300" dirty="0"/>
          </a:p>
          <a:p>
            <a:pPr marL="203200" indent="-203200">
              <a:lnSpc>
                <a:spcPct val="120000"/>
              </a:lnSpc>
              <a:spcAft>
                <a:spcPts val="800"/>
              </a:spcAft>
              <a:buSzPct val="100000"/>
              <a:buChar char="•"/>
            </a:pPr>
            <a:r>
              <a:rPr lang="en-US" sz="1300" dirty="0">
                <a:solidFill>
                  <a:srgbClr val="E6EDF3"/>
                </a:solidFill>
                <a:latin typeface="Segoe UI" pitchFamily="34" charset="0"/>
                <a:ea typeface="Segoe UI" pitchFamily="34" charset="-122"/>
                <a:cs typeface="Segoe UI" pitchFamily="34" charset="-120"/>
              </a:rPr>
              <a:t>'AI proposes, the ledger disposes.' A concrete answer to agent authority without an unbounded blast radius.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PROOF</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Every settlement is a verifiable on-ledger fact</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640080" y="1645920"/>
            <a:ext cx="5120640" cy="3840480"/>
          </a:xfrm>
          <a:prstGeom prst="roundRect">
            <a:avLst>
              <a:gd name="adj" fmla="val 2143"/>
            </a:avLst>
          </a:prstGeom>
          <a:solidFill>
            <a:srgbClr val="141C25"/>
          </a:solidFill>
          <a:ln w="12700">
            <a:solidFill>
              <a:srgbClr val="223040"/>
            </a:solidFill>
            <a:prstDash val="solid"/>
          </a:ln>
        </p:spPr>
      </p:sp>
      <p:sp>
        <p:nvSpPr>
          <p:cNvPr id="8" name="Text 6"/>
          <p:cNvSpPr/>
          <p:nvPr/>
        </p:nvSpPr>
        <p:spPr>
          <a:xfrm>
            <a:off x="914400" y="1920240"/>
            <a:ext cx="4572000" cy="365760"/>
          </a:xfrm>
          <a:prstGeom prst="rect">
            <a:avLst/>
          </a:prstGeom>
          <a:noFill/>
          <a:ln/>
        </p:spPr>
        <p:txBody>
          <a:bodyPr wrap="square" rtlCol="0" anchor="ctr"/>
          <a:lstStyle/>
          <a:p>
            <a:pPr indent="0" marL="0">
              <a:buNone/>
            </a:pPr>
            <a:r>
              <a:rPr lang="en-US" sz="1500" b="1" dirty="0">
                <a:solidFill>
                  <a:srgbClr val="7FA6C9"/>
                </a:solidFill>
                <a:latin typeface="Segoe UI" pitchFamily="34" charset="0"/>
                <a:ea typeface="Segoe UI" pitchFamily="34" charset="-122"/>
                <a:cs typeface="Segoe UI" pitchFamily="34" charset="-120"/>
              </a:rPr>
              <a:t>updateId = the ledger receipt</a:t>
            </a:r>
            <a:endParaRPr lang="en-US" sz="1500" dirty="0"/>
          </a:p>
        </p:txBody>
      </p:sp>
      <p:sp>
        <p:nvSpPr>
          <p:cNvPr id="9" name="Text 7"/>
          <p:cNvSpPr/>
          <p:nvPr/>
        </p:nvSpPr>
        <p:spPr>
          <a:xfrm>
            <a:off x="914400" y="2331720"/>
            <a:ext cx="4572000" cy="2926080"/>
          </a:xfrm>
          <a:prstGeom prst="rect">
            <a:avLst/>
          </a:prstGeom>
          <a:noFill/>
          <a:ln/>
        </p:spPr>
        <p:txBody>
          <a:bodyPr wrap="square" rtlCol="0" anchor="t"/>
          <a:lstStyle/>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Settle returns a real updateId from the validator's submit-and-wait, not a client-side hash.</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'Re-verify live' re-fetches that exact id via /v2/updates/update-by-id: confirmed = true + effectiveAt.</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A bogus/forged id returns confirmed = false.</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Look it up on Lighthouse (a public Canton explorer): the updateId resolves to its envelope, verdict ACCEPTED, round, acting parties; only the amounts stay private.</a:t>
            </a:r>
            <a:endParaRPr lang="en-US" sz="1250" dirty="0"/>
          </a:p>
        </p:txBody>
      </p:sp>
      <p:sp>
        <p:nvSpPr>
          <p:cNvPr id="10" name="Shape 8"/>
          <p:cNvSpPr/>
          <p:nvPr/>
        </p:nvSpPr>
        <p:spPr>
          <a:xfrm>
            <a:off x="6035040" y="1645920"/>
            <a:ext cx="5513832" cy="3840480"/>
          </a:xfrm>
          <a:prstGeom prst="roundRect">
            <a:avLst>
              <a:gd name="adj" fmla="val 2143"/>
            </a:avLst>
          </a:prstGeom>
          <a:solidFill>
            <a:srgbClr val="0E1620"/>
          </a:solidFill>
          <a:ln w="12700">
            <a:solidFill>
              <a:srgbClr val="223040"/>
            </a:solidFill>
            <a:prstDash val="solid"/>
          </a:ln>
        </p:spPr>
      </p:sp>
      <p:sp>
        <p:nvSpPr>
          <p:cNvPr id="11" name="Text 9"/>
          <p:cNvSpPr/>
          <p:nvPr/>
        </p:nvSpPr>
        <p:spPr>
          <a:xfrm>
            <a:off x="6263640" y="1920240"/>
            <a:ext cx="5029200" cy="3291840"/>
          </a:xfrm>
          <a:prstGeom prst="rect">
            <a:avLst/>
          </a:prstGeom>
          <a:noFill/>
          <a:ln/>
        </p:spPr>
        <p:txBody>
          <a:bodyPr wrap="square" rtlCol="0" anchor="t"/>
          <a:lstStyle/>
          <a:p>
            <a:pPr indent="0" marL="0">
              <a:lnSpc>
                <a:spcPct val="125000"/>
              </a:lnSpc>
              <a:buNone/>
            </a:pPr>
            <a:r>
              <a:rPr lang="en-US" sz="1200" dirty="0">
                <a:solidFill>
                  <a:srgbClr val="38E1A4"/>
                </a:solidFill>
                <a:latin typeface="Consolas" pitchFamily="34" charset="0"/>
                <a:ea typeface="Consolas" pitchFamily="34" charset="-122"/>
                <a:cs typeface="Consolas" pitchFamily="34" charset="-120"/>
              </a:rPr>
              <a:t>GET /api/ledger/verify?updateId=1220ab1b…
</a:t>
            </a:r>
            <a:pPr indent="0" marL="0">
              <a:lnSpc>
                <a:spcPct val="12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25000"/>
              </a:lnSpc>
              <a:buNone/>
            </a:pPr>
            <a:r>
              <a:rPr lang="en-US" sz="1200" dirty="0">
                <a:solidFill>
                  <a:srgbClr val="E6EDF3"/>
                </a:solidFill>
                <a:latin typeface="Consolas" pitchFamily="34" charset="0"/>
                <a:ea typeface="Consolas" pitchFamily="34" charset="-122"/>
                <a:cs typeface="Consolas" pitchFamily="34" charset="-120"/>
              </a:rPr>
              <a:t>  "confirmed": true,</a:t>
            </a:r>
            <a:endParaRPr lang="en-US" sz="1200" dirty="0"/>
          </a:p>
          <a:p>
            <a:pPr indent="0" marL="0">
              <a:lnSpc>
                <a:spcPct val="125000"/>
              </a:lnSpc>
              <a:buNone/>
            </a:pPr>
            <a:r>
              <a:rPr lang="en-US" sz="1200" dirty="0">
                <a:solidFill>
                  <a:srgbClr val="E6EDF3"/>
                </a:solidFill>
                <a:latin typeface="Consolas" pitchFamily="34" charset="0"/>
                <a:ea typeface="Consolas" pitchFamily="34" charset="-122"/>
                <a:cs typeface="Consolas" pitchFamily="34" charset="-120"/>
              </a:rPr>
              <a:t>  "effectiveAt": "2026-07-12T07:29:51Z",</a:t>
            </a:r>
            <a:endParaRPr lang="en-US" sz="1200" dirty="0"/>
          </a:p>
          <a:p>
            <a:pPr indent="0" marL="0">
              <a:lnSpc>
                <a:spcPct val="125000"/>
              </a:lnSpc>
              <a:buNone/>
            </a:pPr>
            <a:r>
              <a:rPr lang="en-US" sz="1200" dirty="0">
                <a:solidFill>
                  <a:srgbClr val="E6EDF3"/>
                </a:solidFill>
                <a:latin typeface="Consolas" pitchFamily="34" charset="0"/>
                <a:ea typeface="Consolas" pitchFamily="34" charset="-122"/>
                <a:cs typeface="Consolas" pitchFamily="34" charset="-120"/>
              </a:rPr>
              <a:t>  "validator":</a:t>
            </a:r>
            <a:endParaRPr lang="en-US" sz="1200" dirty="0"/>
          </a:p>
          <a:p>
            <a:pPr indent="0" marL="0">
              <a:lnSpc>
                <a:spcPct val="125000"/>
              </a:lnSpc>
              <a:buNone/>
            </a:pPr>
            <a:r>
              <a:rPr lang="en-US" sz="1200" dirty="0">
                <a:solidFill>
                  <a:srgbClr val="E6EDF3"/>
                </a:solidFill>
                <a:latin typeface="Consolas" pitchFamily="34" charset="0"/>
                <a:ea typeface="Consolas" pitchFamily="34" charset="-122"/>
                <a:cs typeface="Consolas" pitchFamily="34" charset="-120"/>
              </a:rPr>
              <a:t>    "ledger-api.validator.devnet…fivenorth.io"</a:t>
            </a:r>
            <a:endParaRPr lang="en-US" sz="1200" dirty="0"/>
          </a:p>
          <a:p>
            <a:pPr indent="0" marL="0">
              <a:lnSpc>
                <a:spcPct val="12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LIVE ON CANTON</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Shipped as live Smart Contract Upgrades, no downtime</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640080" y="2651760"/>
            <a:ext cx="1965960" cy="1280160"/>
          </a:xfrm>
          <a:prstGeom prst="roundRect">
            <a:avLst>
              <a:gd name="adj" fmla="val 5714"/>
            </a:avLst>
          </a:prstGeom>
          <a:solidFill>
            <a:srgbClr val="141C25"/>
          </a:solidFill>
          <a:ln w="19050">
            <a:solidFill>
              <a:srgbClr val="7FA6C9"/>
            </a:solidFill>
            <a:prstDash val="solid"/>
          </a:ln>
        </p:spPr>
      </p:sp>
      <p:sp>
        <p:nvSpPr>
          <p:cNvPr id="8" name="Text 6"/>
          <p:cNvSpPr/>
          <p:nvPr/>
        </p:nvSpPr>
        <p:spPr>
          <a:xfrm>
            <a:off x="731520" y="2651760"/>
            <a:ext cx="1783080" cy="1280160"/>
          </a:xfrm>
          <a:prstGeom prst="rect">
            <a:avLst/>
          </a:prstGeom>
          <a:noFill/>
          <a:ln/>
        </p:spPr>
        <p:txBody>
          <a:bodyPr wrap="square" rtlCol="0" anchor="ctr"/>
          <a:lstStyle/>
          <a:p>
            <a:pPr algn="ctr" indent="0" marL="0">
              <a:buNone/>
            </a:pPr>
            <a:endParaRPr lang="en-US" sz="1300" dirty="0"/>
          </a:p>
        </p:txBody>
      </p:sp>
      <p:sp>
        <p:nvSpPr>
          <p:cNvPr id="9" name="Text 7"/>
          <p:cNvSpPr/>
          <p:nvPr/>
        </p:nvSpPr>
        <p:spPr>
          <a:xfrm>
            <a:off x="749808" y="2651760"/>
            <a:ext cx="1746504" cy="1280160"/>
          </a:xfrm>
          <a:prstGeom prst="rect">
            <a:avLst/>
          </a:prstGeom>
          <a:noFill/>
          <a:ln/>
        </p:spPr>
        <p:txBody>
          <a:bodyPr wrap="square" rtlCol="0" anchor="ctr"/>
          <a:lstStyle/>
          <a:p>
            <a:pPr algn="ctr" indent="0" marL="0">
              <a:buNone/>
            </a:pPr>
            <a:r>
              <a:rPr lang="en-US" sz="1600" b="1" dirty="0">
                <a:solidFill>
                  <a:srgbClr val="7FA6C9"/>
                </a:solidFill>
                <a:latin typeface="Segoe UI" pitchFamily="34" charset="0"/>
                <a:ea typeface="Segoe UI" pitchFamily="34" charset="-122"/>
                <a:cs typeface="Segoe UI" pitchFamily="34" charset="-120"/>
              </a:rPr>
              <a:t>v1.0.0</a:t>
            </a:r>
            <a:endParaRPr lang="en-US" sz="1600" dirty="0"/>
          </a:p>
          <a:p>
            <a:pPr algn="ctr" indent="0" marL="0">
              <a:buNone/>
            </a:pPr>
            <a:endParaRPr lang="en-US" sz="1600" dirty="0"/>
          </a:p>
          <a:p>
            <a:pPr algn="ctr" indent="0" marL="0">
              <a:buNone/>
            </a:pPr>
            <a:r>
              <a:rPr lang="en-US" sz="1050" dirty="0">
                <a:solidFill>
                  <a:srgbClr val="8FA6B8"/>
                </a:solidFill>
                <a:latin typeface="Segoe UI" pitchFamily="34" charset="0"/>
                <a:ea typeface="Segoe UI" pitchFamily="34" charset="-122"/>
                <a:cs typeface="Segoe UI" pitchFamily="34" charset="-120"/>
              </a:rPr>
              <a:t>netting + atomic settle + privacy</a:t>
            </a:r>
            <a:endParaRPr lang="en-US" sz="1600" dirty="0"/>
          </a:p>
        </p:txBody>
      </p:sp>
      <p:sp>
        <p:nvSpPr>
          <p:cNvPr id="10" name="Shape 8"/>
          <p:cNvSpPr/>
          <p:nvPr/>
        </p:nvSpPr>
        <p:spPr>
          <a:xfrm>
            <a:off x="2606040" y="3291840"/>
            <a:ext cx="256032" cy="0"/>
          </a:xfrm>
          <a:prstGeom prst="line">
            <a:avLst/>
          </a:prstGeom>
          <a:noFill/>
          <a:ln w="22225">
            <a:solidFill>
              <a:srgbClr val="5F7486"/>
            </a:solidFill>
            <a:prstDash val="solid"/>
            <a:tailEnd type="triangle"/>
          </a:ln>
        </p:spPr>
      </p:sp>
      <p:sp>
        <p:nvSpPr>
          <p:cNvPr id="11" name="Shape 9"/>
          <p:cNvSpPr/>
          <p:nvPr/>
        </p:nvSpPr>
        <p:spPr>
          <a:xfrm>
            <a:off x="2862072" y="2651760"/>
            <a:ext cx="1965960" cy="1280160"/>
          </a:xfrm>
          <a:prstGeom prst="roundRect">
            <a:avLst>
              <a:gd name="adj" fmla="val 5714"/>
            </a:avLst>
          </a:prstGeom>
          <a:solidFill>
            <a:srgbClr val="141C25"/>
          </a:solidFill>
          <a:ln w="19050">
            <a:solidFill>
              <a:srgbClr val="7FA6C9"/>
            </a:solidFill>
            <a:prstDash val="solid"/>
          </a:ln>
        </p:spPr>
      </p:sp>
      <p:sp>
        <p:nvSpPr>
          <p:cNvPr id="12" name="Text 10"/>
          <p:cNvSpPr/>
          <p:nvPr/>
        </p:nvSpPr>
        <p:spPr>
          <a:xfrm>
            <a:off x="2953512" y="2651760"/>
            <a:ext cx="1783080" cy="1280160"/>
          </a:xfrm>
          <a:prstGeom prst="rect">
            <a:avLst/>
          </a:prstGeom>
          <a:noFill/>
          <a:ln/>
        </p:spPr>
        <p:txBody>
          <a:bodyPr wrap="square" rtlCol="0" anchor="ctr"/>
          <a:lstStyle/>
          <a:p>
            <a:pPr algn="ctr" indent="0" marL="0">
              <a:buNone/>
            </a:pPr>
            <a:endParaRPr lang="en-US" sz="1300" dirty="0"/>
          </a:p>
        </p:txBody>
      </p:sp>
      <p:sp>
        <p:nvSpPr>
          <p:cNvPr id="13" name="Text 11"/>
          <p:cNvSpPr/>
          <p:nvPr/>
        </p:nvSpPr>
        <p:spPr>
          <a:xfrm>
            <a:off x="2971800" y="2651760"/>
            <a:ext cx="1746504" cy="1280160"/>
          </a:xfrm>
          <a:prstGeom prst="rect">
            <a:avLst/>
          </a:prstGeom>
          <a:noFill/>
          <a:ln/>
        </p:spPr>
        <p:txBody>
          <a:bodyPr wrap="square" rtlCol="0" anchor="ctr"/>
          <a:lstStyle/>
          <a:p>
            <a:pPr algn="ctr" indent="0" marL="0">
              <a:buNone/>
            </a:pPr>
            <a:r>
              <a:rPr lang="en-US" sz="1600" b="1" dirty="0">
                <a:solidFill>
                  <a:srgbClr val="7FA6C9"/>
                </a:solidFill>
                <a:latin typeface="Segoe UI" pitchFamily="34" charset="0"/>
                <a:ea typeface="Segoe UI" pitchFamily="34" charset="-122"/>
                <a:cs typeface="Segoe UI" pitchFamily="34" charset="-120"/>
              </a:rPr>
              <a:t>v1.0.1</a:t>
            </a:r>
            <a:endParaRPr lang="en-US" sz="1600" dirty="0"/>
          </a:p>
          <a:p>
            <a:pPr algn="ctr" indent="0" marL="0">
              <a:buNone/>
            </a:pPr>
            <a:endParaRPr lang="en-US" sz="1600" dirty="0"/>
          </a:p>
          <a:p>
            <a:pPr algn="ctr" indent="0" marL="0">
              <a:buNone/>
            </a:pPr>
            <a:r>
              <a:rPr lang="en-US" sz="1050" dirty="0">
                <a:solidFill>
                  <a:srgbClr val="8FA6B8"/>
                </a:solidFill>
                <a:latin typeface="Segoe UI" pitchFamily="34" charset="0"/>
                <a:ea typeface="Segoe UI" pitchFamily="34" charset="-122"/>
                <a:cs typeface="Segoe UI" pitchFamily="34" charset="-120"/>
              </a:rPr>
              <a:t>settle-correctness fix</a:t>
            </a:r>
            <a:endParaRPr lang="en-US" sz="1600" dirty="0"/>
          </a:p>
        </p:txBody>
      </p:sp>
      <p:sp>
        <p:nvSpPr>
          <p:cNvPr id="14" name="Shape 12"/>
          <p:cNvSpPr/>
          <p:nvPr/>
        </p:nvSpPr>
        <p:spPr>
          <a:xfrm>
            <a:off x="4828032" y="3291840"/>
            <a:ext cx="256032" cy="0"/>
          </a:xfrm>
          <a:prstGeom prst="line">
            <a:avLst/>
          </a:prstGeom>
          <a:noFill/>
          <a:ln w="22225">
            <a:solidFill>
              <a:srgbClr val="5F7486"/>
            </a:solidFill>
            <a:prstDash val="solid"/>
            <a:tailEnd type="triangle"/>
          </a:ln>
        </p:spPr>
      </p:sp>
      <p:sp>
        <p:nvSpPr>
          <p:cNvPr id="15" name="Shape 13"/>
          <p:cNvSpPr/>
          <p:nvPr/>
        </p:nvSpPr>
        <p:spPr>
          <a:xfrm>
            <a:off x="5084064" y="2651760"/>
            <a:ext cx="1965960" cy="1280160"/>
          </a:xfrm>
          <a:prstGeom prst="roundRect">
            <a:avLst>
              <a:gd name="adj" fmla="val 5714"/>
            </a:avLst>
          </a:prstGeom>
          <a:solidFill>
            <a:srgbClr val="141C25"/>
          </a:solidFill>
          <a:ln w="19050">
            <a:solidFill>
              <a:srgbClr val="7FA6C9"/>
            </a:solidFill>
            <a:prstDash val="solid"/>
          </a:ln>
        </p:spPr>
      </p:sp>
      <p:sp>
        <p:nvSpPr>
          <p:cNvPr id="16" name="Text 14"/>
          <p:cNvSpPr/>
          <p:nvPr/>
        </p:nvSpPr>
        <p:spPr>
          <a:xfrm>
            <a:off x="5175504" y="2651760"/>
            <a:ext cx="1783080" cy="1280160"/>
          </a:xfrm>
          <a:prstGeom prst="rect">
            <a:avLst/>
          </a:prstGeom>
          <a:noFill/>
          <a:ln/>
        </p:spPr>
        <p:txBody>
          <a:bodyPr wrap="square" rtlCol="0" anchor="ctr"/>
          <a:lstStyle/>
          <a:p>
            <a:pPr algn="ctr" indent="0" marL="0">
              <a:buNone/>
            </a:pPr>
            <a:endParaRPr lang="en-US" sz="1300" dirty="0"/>
          </a:p>
        </p:txBody>
      </p:sp>
      <p:sp>
        <p:nvSpPr>
          <p:cNvPr id="17" name="Text 15"/>
          <p:cNvSpPr/>
          <p:nvPr/>
        </p:nvSpPr>
        <p:spPr>
          <a:xfrm>
            <a:off x="5193792" y="2651760"/>
            <a:ext cx="1746504" cy="1280160"/>
          </a:xfrm>
          <a:prstGeom prst="rect">
            <a:avLst/>
          </a:prstGeom>
          <a:noFill/>
          <a:ln/>
        </p:spPr>
        <p:txBody>
          <a:bodyPr wrap="square" rtlCol="0" anchor="ctr"/>
          <a:lstStyle/>
          <a:p>
            <a:pPr algn="ctr" indent="0" marL="0">
              <a:buNone/>
            </a:pPr>
            <a:r>
              <a:rPr lang="en-US" sz="1600" b="1" dirty="0">
                <a:solidFill>
                  <a:srgbClr val="7FA6C9"/>
                </a:solidFill>
                <a:latin typeface="Segoe UI" pitchFamily="34" charset="0"/>
                <a:ea typeface="Segoe UI" pitchFamily="34" charset="-122"/>
                <a:cs typeface="Segoe UI" pitchFamily="34" charset="-120"/>
              </a:rPr>
              <a:t>v1.0.2</a:t>
            </a:r>
            <a:endParaRPr lang="en-US" sz="1600" dirty="0"/>
          </a:p>
          <a:p>
            <a:pPr algn="ctr" indent="0" marL="0">
              <a:buNone/>
            </a:pPr>
            <a:endParaRPr lang="en-US" sz="1600" dirty="0"/>
          </a:p>
          <a:p>
            <a:pPr algn="ctr" indent="0" marL="0">
              <a:buNone/>
            </a:pPr>
            <a:r>
              <a:rPr lang="en-US" sz="1050" dirty="0">
                <a:solidFill>
                  <a:srgbClr val="8FA6B8"/>
                </a:solidFill>
                <a:latin typeface="Segoe UI" pitchFamily="34" charset="0"/>
                <a:ea typeface="Segoe UI" pitchFamily="34" charset="-122"/>
                <a:cs typeface="Segoe UI" pitchFamily="34" charset="-120"/>
              </a:rPr>
              <a:t>provenance + UETR trace</a:t>
            </a:r>
            <a:endParaRPr lang="en-US" sz="1600" dirty="0"/>
          </a:p>
        </p:txBody>
      </p:sp>
      <p:sp>
        <p:nvSpPr>
          <p:cNvPr id="18" name="Shape 16"/>
          <p:cNvSpPr/>
          <p:nvPr/>
        </p:nvSpPr>
        <p:spPr>
          <a:xfrm>
            <a:off x="7050024" y="3291840"/>
            <a:ext cx="256032" cy="0"/>
          </a:xfrm>
          <a:prstGeom prst="line">
            <a:avLst/>
          </a:prstGeom>
          <a:noFill/>
          <a:ln w="22225">
            <a:solidFill>
              <a:srgbClr val="5F7486"/>
            </a:solidFill>
            <a:prstDash val="solid"/>
            <a:tailEnd type="triangle"/>
          </a:ln>
        </p:spPr>
      </p:sp>
      <p:sp>
        <p:nvSpPr>
          <p:cNvPr id="19" name="Shape 17"/>
          <p:cNvSpPr/>
          <p:nvPr/>
        </p:nvSpPr>
        <p:spPr>
          <a:xfrm>
            <a:off x="7306056" y="2651760"/>
            <a:ext cx="1965960" cy="1280160"/>
          </a:xfrm>
          <a:prstGeom prst="roundRect">
            <a:avLst>
              <a:gd name="adj" fmla="val 5714"/>
            </a:avLst>
          </a:prstGeom>
          <a:solidFill>
            <a:srgbClr val="141C25"/>
          </a:solidFill>
          <a:ln w="19050">
            <a:solidFill>
              <a:srgbClr val="38E1A4"/>
            </a:solidFill>
            <a:prstDash val="solid"/>
          </a:ln>
        </p:spPr>
      </p:sp>
      <p:sp>
        <p:nvSpPr>
          <p:cNvPr id="20" name="Text 18"/>
          <p:cNvSpPr/>
          <p:nvPr/>
        </p:nvSpPr>
        <p:spPr>
          <a:xfrm>
            <a:off x="7397496" y="2651760"/>
            <a:ext cx="1783080" cy="1280160"/>
          </a:xfrm>
          <a:prstGeom prst="rect">
            <a:avLst/>
          </a:prstGeom>
          <a:noFill/>
          <a:ln/>
        </p:spPr>
        <p:txBody>
          <a:bodyPr wrap="square" rtlCol="0" anchor="ctr"/>
          <a:lstStyle/>
          <a:p>
            <a:pPr algn="ctr" indent="0" marL="0">
              <a:buNone/>
            </a:pPr>
            <a:endParaRPr lang="en-US" sz="1300" dirty="0"/>
          </a:p>
        </p:txBody>
      </p:sp>
      <p:sp>
        <p:nvSpPr>
          <p:cNvPr id="21" name="Text 19"/>
          <p:cNvSpPr/>
          <p:nvPr/>
        </p:nvSpPr>
        <p:spPr>
          <a:xfrm>
            <a:off x="7415784" y="2651760"/>
            <a:ext cx="1746504" cy="1280160"/>
          </a:xfrm>
          <a:prstGeom prst="rect">
            <a:avLst/>
          </a:prstGeom>
          <a:noFill/>
          <a:ln/>
        </p:spPr>
        <p:txBody>
          <a:bodyPr wrap="square" rtlCol="0" anchor="ctr"/>
          <a:lstStyle/>
          <a:p>
            <a:pPr algn="ctr" indent="0" marL="0">
              <a:buNone/>
            </a:pPr>
            <a:r>
              <a:rPr lang="en-US" sz="1600" b="1" dirty="0">
                <a:solidFill>
                  <a:srgbClr val="38E1A4"/>
                </a:solidFill>
                <a:latin typeface="Segoe UI" pitchFamily="34" charset="0"/>
                <a:ea typeface="Segoe UI" pitchFamily="34" charset="-122"/>
                <a:cs typeface="Segoe UI" pitchFamily="34" charset="-120"/>
              </a:rPr>
              <a:t>v1.0.3</a:t>
            </a:r>
            <a:endParaRPr lang="en-US" sz="1600" dirty="0"/>
          </a:p>
          <a:p>
            <a:pPr algn="ctr" indent="0" marL="0">
              <a:buNone/>
            </a:pPr>
            <a:endParaRPr lang="en-US" sz="1600" dirty="0"/>
          </a:p>
          <a:p>
            <a:pPr algn="ctr" indent="0" marL="0">
              <a:buNone/>
            </a:pPr>
            <a:r>
              <a:rPr lang="en-US" sz="1050" dirty="0">
                <a:solidFill>
                  <a:srgbClr val="8FA6B8"/>
                </a:solidFill>
                <a:latin typeface="Segoe UI" pitchFamily="34" charset="0"/>
                <a:ea typeface="Segoe UI" pitchFamily="34" charset="-122"/>
                <a:cs typeface="Segoe UI" pitchFamily="34" charset="-120"/>
              </a:rPr>
              <a:t>bilateral confirmation</a:t>
            </a:r>
            <a:endParaRPr lang="en-US" sz="1600" dirty="0"/>
          </a:p>
        </p:txBody>
      </p:sp>
      <p:sp>
        <p:nvSpPr>
          <p:cNvPr id="22" name="Shape 20"/>
          <p:cNvSpPr/>
          <p:nvPr/>
        </p:nvSpPr>
        <p:spPr>
          <a:xfrm>
            <a:off x="9272016" y="3291840"/>
            <a:ext cx="256032" cy="0"/>
          </a:xfrm>
          <a:prstGeom prst="line">
            <a:avLst/>
          </a:prstGeom>
          <a:noFill/>
          <a:ln w="22225">
            <a:solidFill>
              <a:srgbClr val="5F7486"/>
            </a:solidFill>
            <a:prstDash val="solid"/>
            <a:tailEnd type="triangle"/>
          </a:ln>
        </p:spPr>
      </p:sp>
      <p:sp>
        <p:nvSpPr>
          <p:cNvPr id="23" name="Shape 21"/>
          <p:cNvSpPr/>
          <p:nvPr/>
        </p:nvSpPr>
        <p:spPr>
          <a:xfrm>
            <a:off x="9528048" y="2651760"/>
            <a:ext cx="1965960" cy="1280160"/>
          </a:xfrm>
          <a:prstGeom prst="roundRect">
            <a:avLst>
              <a:gd name="adj" fmla="val 5714"/>
            </a:avLst>
          </a:prstGeom>
          <a:solidFill>
            <a:srgbClr val="141C25"/>
          </a:solidFill>
          <a:ln w="19050">
            <a:solidFill>
              <a:srgbClr val="38E1A4"/>
            </a:solidFill>
            <a:prstDash val="solid"/>
          </a:ln>
        </p:spPr>
      </p:sp>
      <p:sp>
        <p:nvSpPr>
          <p:cNvPr id="24" name="Text 22"/>
          <p:cNvSpPr/>
          <p:nvPr/>
        </p:nvSpPr>
        <p:spPr>
          <a:xfrm>
            <a:off x="9619488" y="2651760"/>
            <a:ext cx="1783080" cy="1280160"/>
          </a:xfrm>
          <a:prstGeom prst="rect">
            <a:avLst/>
          </a:prstGeom>
          <a:noFill/>
          <a:ln/>
        </p:spPr>
        <p:txBody>
          <a:bodyPr wrap="square" rtlCol="0" anchor="ctr"/>
          <a:lstStyle/>
          <a:p>
            <a:pPr algn="ctr" indent="0" marL="0">
              <a:buNone/>
            </a:pPr>
            <a:endParaRPr lang="en-US" sz="1300" dirty="0"/>
          </a:p>
        </p:txBody>
      </p:sp>
      <p:sp>
        <p:nvSpPr>
          <p:cNvPr id="25" name="Text 23"/>
          <p:cNvSpPr/>
          <p:nvPr/>
        </p:nvSpPr>
        <p:spPr>
          <a:xfrm>
            <a:off x="9637776" y="2651760"/>
            <a:ext cx="1746504" cy="1280160"/>
          </a:xfrm>
          <a:prstGeom prst="rect">
            <a:avLst/>
          </a:prstGeom>
          <a:noFill/>
          <a:ln/>
        </p:spPr>
        <p:txBody>
          <a:bodyPr wrap="square" rtlCol="0" anchor="ctr"/>
          <a:lstStyle/>
          <a:p>
            <a:pPr algn="ctr" indent="0" marL="0">
              <a:buNone/>
            </a:pPr>
            <a:r>
              <a:rPr lang="en-US" sz="1600" b="1" dirty="0">
                <a:solidFill>
                  <a:srgbClr val="38E1A4"/>
                </a:solidFill>
                <a:latin typeface="Segoe UI" pitchFamily="34" charset="0"/>
                <a:ea typeface="Segoe UI" pitchFamily="34" charset="-122"/>
                <a:cs typeface="Segoe UI" pitchFamily="34" charset="-120"/>
              </a:rPr>
              <a:t>v1.0.4</a:t>
            </a:r>
            <a:endParaRPr lang="en-US" sz="1600" dirty="0"/>
          </a:p>
          <a:p>
            <a:pPr algn="ctr" indent="0" marL="0">
              <a:buNone/>
            </a:pPr>
            <a:endParaRPr lang="en-US" sz="1600" dirty="0"/>
          </a:p>
          <a:p>
            <a:pPr algn="ctr" indent="0" marL="0">
              <a:buNone/>
            </a:pPr>
            <a:r>
              <a:rPr lang="en-US" sz="1050" dirty="0">
                <a:solidFill>
                  <a:srgbClr val="8FA6B8"/>
                </a:solidFill>
                <a:latin typeface="Segoe UI" pitchFamily="34" charset="0"/>
                <a:ea typeface="Segoe UI" pitchFamily="34" charset="-122"/>
                <a:cs typeface="Segoe UI" pitchFamily="34" charset="-120"/>
              </a:rPr>
              <a:t>maker-checker cap governance</a:t>
            </a:r>
            <a:endParaRPr lang="en-US" sz="1600" dirty="0"/>
          </a:p>
        </p:txBody>
      </p:sp>
      <p:sp>
        <p:nvSpPr>
          <p:cNvPr id="26" name="Text 24"/>
          <p:cNvSpPr/>
          <p:nvPr/>
        </p:nvSpPr>
        <p:spPr>
          <a:xfrm>
            <a:off x="640080" y="4434840"/>
            <a:ext cx="10911535" cy="731520"/>
          </a:xfrm>
          <a:prstGeom prst="rect">
            <a:avLst/>
          </a:prstGeom>
          <a:noFill/>
          <a:ln/>
        </p:spPr>
        <p:txBody>
          <a:bodyPr wrap="square" rtlCol="0" anchor="ctr"/>
          <a:lstStyle/>
          <a:p>
            <a:pPr algn="ctr" indent="0" marL="0">
              <a:lnSpc>
                <a:spcPct val="120000"/>
              </a:lnSpc>
              <a:buNone/>
            </a:pPr>
            <a:r>
              <a:rPr lang="en-US" sz="1300" dirty="0">
                <a:solidFill>
                  <a:srgbClr val="E6EDF3"/>
                </a:solidFill>
                <a:latin typeface="Segoe UI" pitchFamily="34" charset="0"/>
                <a:ea typeface="Segoe UI" pitchFamily="34" charset="-122"/>
                <a:cs typeface="Segoe UI" pitchFamily="34" charset="-120"/>
              </a:rPr>
              <a:t>Adding Optional fields, choices, and whole templates as valid upgrades, the running demo was never taken down. Each step is reversible by pointing the app back at the prior package id.</a:t>
            </a:r>
            <a:endParaRPr lang="en-US" sz="1300" dirty="0"/>
          </a:p>
        </p:txBody>
      </p:sp>
      <p:sp>
        <p:nvSpPr>
          <p:cNvPr id="27" name="Text 25"/>
          <p:cNvSpPr/>
          <p:nvPr/>
        </p:nvSpPr>
        <p:spPr>
          <a:xfrm>
            <a:off x="640080" y="5440680"/>
            <a:ext cx="10911535" cy="274320"/>
          </a:xfrm>
          <a:prstGeom prst="rect">
            <a:avLst/>
          </a:prstGeom>
          <a:noFill/>
          <a:ln/>
        </p:spPr>
        <p:txBody>
          <a:bodyPr wrap="square" rtlCol="0" anchor="ctr"/>
          <a:lstStyle/>
          <a:p>
            <a:pPr algn="ctr" indent="0" marL="0">
              <a:buNone/>
            </a:pPr>
            <a:r>
              <a:rPr lang="en-US" sz="1050" dirty="0">
                <a:solidFill>
                  <a:srgbClr val="8FA6B8"/>
                </a:solidFill>
                <a:latin typeface="Consolas" pitchFamily="34" charset="0"/>
                <a:ea typeface="Consolas" pitchFamily="34" charset="-122"/>
                <a:cs typeface="Consolas" pitchFamily="34" charset="-120"/>
              </a:rPr>
              <a:t>current: netchain v1.0.4  ·  8ae58d7ccd979213f10c78a328da0f7edfa3614060a4cf7250216837a7768cbb</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CAPABILITY</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Audit trail + regulator-ready exports</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pic>
        <p:nvPicPr>
          <p:cNvPr id="7" name="Image 0" descr="screens/shot-audit.png">    </p:cNvPr>
          <p:cNvPicPr>
            <a:picLocks noChangeAspect="1"/>
          </p:cNvPicPr>
          <p:nvPr/>
        </p:nvPicPr>
        <p:blipFill>
          <a:blip r:embed="rId1"/>
          <a:stretch>
            <a:fillRect/>
          </a:stretch>
        </p:blipFill>
        <p:spPr>
          <a:xfrm>
            <a:off x="640080" y="1554480"/>
            <a:ext cx="6400800" cy="4000500"/>
          </a:xfrm>
          <a:prstGeom prst="rect">
            <a:avLst/>
          </a:prstGeom>
        </p:spPr>
      </p:pic>
      <p:sp>
        <p:nvSpPr>
          <p:cNvPr id="8" name="Shape 5"/>
          <p:cNvSpPr/>
          <p:nvPr/>
        </p:nvSpPr>
        <p:spPr>
          <a:xfrm>
            <a:off x="640080" y="1554480"/>
            <a:ext cx="6400800" cy="4000500"/>
          </a:xfrm>
          <a:prstGeom prst="roundRect">
            <a:avLst>
              <a:gd name="adj" fmla="val 686"/>
            </a:avLst>
          </a:prstGeom>
          <a:ln w="12700">
            <a:solidFill>
              <a:srgbClr val="223040"/>
            </a:solidFill>
            <a:prstDash val="solid"/>
          </a:ln>
        </p:spPr>
      </p:sp>
      <p:sp>
        <p:nvSpPr>
          <p:cNvPr id="9" name="Text 6"/>
          <p:cNvSpPr/>
          <p:nvPr/>
        </p:nvSpPr>
        <p:spPr>
          <a:xfrm>
            <a:off x="640080" y="5600700"/>
            <a:ext cx="6400800" cy="274320"/>
          </a:xfrm>
          <a:prstGeom prst="rect">
            <a:avLst/>
          </a:prstGeom>
          <a:noFill/>
          <a:ln/>
        </p:spPr>
        <p:txBody>
          <a:bodyPr wrap="square" rtlCol="0" anchor="ctr"/>
          <a:lstStyle/>
          <a:p>
            <a:pPr algn="ctr" indent="0" marL="0">
              <a:buNone/>
            </a:pPr>
            <a:r>
              <a:rPr lang="en-US" sz="1000" i="1" dirty="0">
                <a:solidFill>
                  <a:srgbClr val="5F7486"/>
                </a:solidFill>
                <a:latin typeface="Segoe UI" pitchFamily="34" charset="0"/>
                <a:ea typeface="Segoe UI" pitchFamily="34" charset="-122"/>
                <a:cs typeface="Segoe UI" pitchFamily="34" charset="-120"/>
              </a:rPr>
              <a:t>Audit page: gross obligations, net positions, and settled legs, all from the ledger</a:t>
            </a:r>
            <a:endParaRPr lang="en-US" sz="1000" dirty="0"/>
          </a:p>
        </p:txBody>
      </p:sp>
      <p:sp>
        <p:nvSpPr>
          <p:cNvPr id="10" name="Shape 7"/>
          <p:cNvSpPr/>
          <p:nvPr/>
        </p:nvSpPr>
        <p:spPr>
          <a:xfrm>
            <a:off x="7406640" y="1554480"/>
            <a:ext cx="4142232" cy="4114800"/>
          </a:xfrm>
          <a:prstGeom prst="roundRect">
            <a:avLst>
              <a:gd name="adj" fmla="val 2000"/>
            </a:avLst>
          </a:prstGeom>
          <a:solidFill>
            <a:srgbClr val="141C25"/>
          </a:solidFill>
          <a:ln w="12700">
            <a:solidFill>
              <a:srgbClr val="223040"/>
            </a:solidFill>
            <a:prstDash val="solid"/>
          </a:ln>
        </p:spPr>
      </p:sp>
      <p:sp>
        <p:nvSpPr>
          <p:cNvPr id="11" name="Text 8"/>
          <p:cNvSpPr/>
          <p:nvPr/>
        </p:nvSpPr>
        <p:spPr>
          <a:xfrm>
            <a:off x="7635240" y="1828800"/>
            <a:ext cx="3657600" cy="3657600"/>
          </a:xfrm>
          <a:prstGeom prst="rect">
            <a:avLst/>
          </a:prstGeom>
          <a:noFill/>
          <a:ln/>
        </p:spPr>
        <p:txBody>
          <a:bodyPr wrap="square" rtlCol="0" anchor="t"/>
          <a:lstStyle/>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The full chronological activity feed comes from real on-chain transaction history (/v2/updates).</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Net positions are recovered from history, so the audit view survives Settle archiving them.</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Export settled legs as CSV and as ISO 20022 pain.001 (one PmtInf per debtor), the format banks already ingest.</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This is the reconciliation surface a treasury/SSC team lives in.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HONEST FRAMING</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"If the operator sees the graph, what's private?"</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Text 5"/>
          <p:cNvSpPr/>
          <p:nvPr/>
        </p:nvSpPr>
        <p:spPr>
          <a:xfrm>
            <a:off x="640080" y="1920240"/>
            <a:ext cx="10911535" cy="3291840"/>
          </a:xfrm>
          <a:prstGeom prst="rect">
            <a:avLst/>
          </a:prstGeom>
          <a:noFill/>
          <a:ln/>
        </p:spPr>
        <p:txBody>
          <a:bodyPr wrap="square" rtlCol="0" anchor="t"/>
          <a:lstStyle/>
          <a:p>
            <a:pPr marL="203200" indent="-203200">
              <a:lnSpc>
                <a:spcPct val="120000"/>
              </a:lnSpc>
              <a:spcAft>
                <a:spcPts val="800"/>
              </a:spcAft>
              <a:buSzPct val="100000"/>
              <a:buChar char="•"/>
            </a:pPr>
            <a:r>
              <a:rPr lang="en-US" sz="1500" dirty="0">
                <a:solidFill>
                  <a:srgbClr val="E6EDF3"/>
                </a:solidFill>
                <a:latin typeface="Segoe UI" pitchFamily="34" charset="0"/>
                <a:ea typeface="Segoe UI" pitchFamily="34" charset="-122"/>
                <a:cs typeface="Segoe UI" pitchFamily="34" charset="-120"/>
              </a:rPr>
              <a:t>Counterparty privacy is the guarantee, and the valuable kind: A and C never see each other (the live 404). That is what a treasurer needs, your positions never leak to a competitor.</a:t>
            </a:r>
            <a:endParaRPr lang="en-US" sz="1500" dirty="0"/>
          </a:p>
          <a:p>
            <a:pPr marL="203200" indent="-203200">
              <a:lnSpc>
                <a:spcPct val="120000"/>
              </a:lnSpc>
              <a:spcAft>
                <a:spcPts val="800"/>
              </a:spcAft>
              <a:buSzPct val="100000"/>
              <a:buChar char="•"/>
            </a:pPr>
            <a:r>
              <a:rPr lang="en-US" sz="1500" dirty="0">
                <a:solidFill>
                  <a:srgbClr val="E6EDF3"/>
                </a:solidFill>
                <a:latin typeface="Segoe UI" pitchFamily="34" charset="0"/>
                <a:ea typeface="Segoe UI" pitchFamily="34" charset="-122"/>
                <a:cs typeface="Segoe UI" pitchFamily="34" charset="-120"/>
              </a:rPr>
              <a:t>The operator is a trusted, regulated intermediary, the same model as CLS and every netting center today, not an eavesdropper.</a:t>
            </a:r>
            <a:endParaRPr lang="en-US" sz="1500" dirty="0"/>
          </a:p>
          <a:p>
            <a:pPr marL="203200" indent="-203200">
              <a:lnSpc>
                <a:spcPct val="120000"/>
              </a:lnSpc>
              <a:spcAft>
                <a:spcPts val="800"/>
              </a:spcAft>
              <a:buSzPct val="100000"/>
              <a:buChar char="•"/>
            </a:pPr>
            <a:r>
              <a:rPr lang="en-US" sz="1500" dirty="0">
                <a:solidFill>
                  <a:srgbClr val="E6EDF3"/>
                </a:solidFill>
                <a:latin typeface="Segoe UI" pitchFamily="34" charset="0"/>
                <a:ea typeface="Segoe UI" pitchFamily="34" charset="-122"/>
                <a:cs typeface="Segoe UI" pitchFamily="34" charset="-120"/>
              </a:rPr>
              <a:t>That already beats incumbents (Kyriba / SAP), a ledger boundary instead of database access control.</a:t>
            </a:r>
            <a:endParaRPr lang="en-US" sz="1500" dirty="0"/>
          </a:p>
          <a:p>
            <a:pPr marL="203200" indent="-203200">
              <a:lnSpc>
                <a:spcPct val="120000"/>
              </a:lnSpc>
              <a:spcAft>
                <a:spcPts val="800"/>
              </a:spcAft>
              <a:buSzPct val="100000"/>
              <a:buChar char="•"/>
            </a:pPr>
            <a:r>
              <a:rPr lang="en-US" sz="1500" dirty="0">
                <a:solidFill>
                  <a:srgbClr val="E6EDF3"/>
                </a:solidFill>
                <a:latin typeface="Segoe UI" pitchFamily="34" charset="0"/>
                <a:ea typeface="Segoe UI" pitchFamily="34" charset="-122"/>
                <a:cs typeface="Segoe UI" pitchFamily="34" charset="-120"/>
              </a:rPr>
              <a:t>Removing even operator visibility (operator-blind netting via MPC / ZK) is named as roadmap, honestly, in docs/SETTLEMENT_DESIGN.md, not faked.</a:t>
            </a:r>
            <a:endParaRPr lang="en-US" sz="1500" dirty="0"/>
          </a:p>
        </p:txBody>
      </p:sp>
      <p:sp>
        <p:nvSpPr>
          <p:cNvPr id="8" name="Shape 6"/>
          <p:cNvSpPr/>
          <p:nvPr/>
        </p:nvSpPr>
        <p:spPr>
          <a:xfrm>
            <a:off x="640080" y="5120640"/>
            <a:ext cx="4297680" cy="310896"/>
          </a:xfrm>
          <a:prstGeom prst="roundRect">
            <a:avLst>
              <a:gd name="adj" fmla="val 50000"/>
            </a:avLst>
          </a:prstGeom>
          <a:solidFill>
            <a:srgbClr val="141C25"/>
          </a:solidFill>
          <a:ln w="12700">
            <a:solidFill>
              <a:srgbClr val="F5C451"/>
            </a:solidFill>
            <a:prstDash val="solid"/>
          </a:ln>
        </p:spPr>
      </p:sp>
      <p:sp>
        <p:nvSpPr>
          <p:cNvPr id="9" name="Text 7"/>
          <p:cNvSpPr/>
          <p:nvPr/>
        </p:nvSpPr>
        <p:spPr>
          <a:xfrm>
            <a:off x="640080" y="5120640"/>
            <a:ext cx="4297680" cy="310896"/>
          </a:xfrm>
          <a:prstGeom prst="rect">
            <a:avLst/>
          </a:prstGeom>
          <a:noFill/>
          <a:ln/>
        </p:spPr>
        <p:txBody>
          <a:bodyPr wrap="square" rtlCol="0" anchor="ctr"/>
          <a:lstStyle/>
          <a:p>
            <a:pPr algn="ctr" indent="0" marL="0">
              <a:buNone/>
            </a:pPr>
            <a:r>
              <a:rPr lang="en-US" sz="1000" b="1" dirty="0">
                <a:solidFill>
                  <a:srgbClr val="F5C451"/>
                </a:solidFill>
                <a:latin typeface="Segoe UI" pitchFamily="34" charset="0"/>
                <a:ea typeface="Segoe UI" pitchFamily="34" charset="-122"/>
                <a:cs typeface="Segoe UI" pitchFamily="34" charset="-120"/>
              </a:rPr>
              <a:t>Lead with the true claim, not overclaim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WHERE IT SITS</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The intersection nobody else occupies</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640080" y="1645920"/>
            <a:ext cx="5257800" cy="2743200"/>
          </a:xfrm>
          <a:prstGeom prst="roundRect">
            <a:avLst>
              <a:gd name="adj" fmla="val 3000"/>
            </a:avLst>
          </a:prstGeom>
          <a:solidFill>
            <a:srgbClr val="141C25"/>
          </a:solidFill>
          <a:ln w="12700">
            <a:solidFill>
              <a:srgbClr val="223040"/>
            </a:solidFill>
            <a:prstDash val="solid"/>
          </a:ln>
        </p:spPr>
      </p:sp>
      <p:sp>
        <p:nvSpPr>
          <p:cNvPr id="8" name="Text 6"/>
          <p:cNvSpPr/>
          <p:nvPr/>
        </p:nvSpPr>
        <p:spPr>
          <a:xfrm>
            <a:off x="914400" y="1874520"/>
            <a:ext cx="4572000" cy="365760"/>
          </a:xfrm>
          <a:prstGeom prst="rect">
            <a:avLst/>
          </a:prstGeom>
          <a:noFill/>
          <a:ln/>
        </p:spPr>
        <p:txBody>
          <a:bodyPr wrap="square" rtlCol="0" anchor="ctr"/>
          <a:lstStyle/>
          <a:p>
            <a:pPr indent="0" marL="0">
              <a:buNone/>
            </a:pPr>
            <a:r>
              <a:rPr lang="en-US" sz="1500" b="1" dirty="0">
                <a:solidFill>
                  <a:srgbClr val="8FA6B8"/>
                </a:solidFill>
                <a:latin typeface="Segoe UI" pitchFamily="34" charset="0"/>
                <a:ea typeface="Segoe UI" pitchFamily="34" charset="-122"/>
                <a:cs typeface="Segoe UI" pitchFamily="34" charset="-120"/>
              </a:rPr>
              <a:t>Netting incumbents</a:t>
            </a:r>
            <a:endParaRPr lang="en-US" sz="1500" dirty="0"/>
          </a:p>
        </p:txBody>
      </p:sp>
      <p:sp>
        <p:nvSpPr>
          <p:cNvPr id="9" name="Text 7"/>
          <p:cNvSpPr/>
          <p:nvPr/>
        </p:nvSpPr>
        <p:spPr>
          <a:xfrm>
            <a:off x="914400" y="2286000"/>
            <a:ext cx="4709160" cy="1920240"/>
          </a:xfrm>
          <a:prstGeom prst="rect">
            <a:avLst/>
          </a:prstGeom>
          <a:noFill/>
          <a:ln/>
        </p:spPr>
        <p:txBody>
          <a:bodyPr wrap="square" rtlCol="0" anchor="t"/>
          <a:lstStyle/>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Kyriba, Coprocess/GTreasury, SAP In-House Cash.</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Compute the net, then hand off to non-atomic bank rails.</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No cryptographic per-party privacy.</a:t>
            </a:r>
            <a:endParaRPr lang="en-US" sz="1250" dirty="0"/>
          </a:p>
        </p:txBody>
      </p:sp>
      <p:sp>
        <p:nvSpPr>
          <p:cNvPr id="10" name="Shape 8"/>
          <p:cNvSpPr/>
          <p:nvPr/>
        </p:nvSpPr>
        <p:spPr>
          <a:xfrm>
            <a:off x="6263640" y="1645920"/>
            <a:ext cx="5285232" cy="2743200"/>
          </a:xfrm>
          <a:prstGeom prst="roundRect">
            <a:avLst>
              <a:gd name="adj" fmla="val 3000"/>
            </a:avLst>
          </a:prstGeom>
          <a:solidFill>
            <a:srgbClr val="141C25"/>
          </a:solidFill>
          <a:ln w="12700">
            <a:solidFill>
              <a:srgbClr val="223040"/>
            </a:solidFill>
            <a:prstDash val="solid"/>
          </a:ln>
        </p:spPr>
      </p:sp>
      <p:sp>
        <p:nvSpPr>
          <p:cNvPr id="11" name="Text 9"/>
          <p:cNvSpPr/>
          <p:nvPr/>
        </p:nvSpPr>
        <p:spPr>
          <a:xfrm>
            <a:off x="6537960" y="1874520"/>
            <a:ext cx="4572000" cy="365760"/>
          </a:xfrm>
          <a:prstGeom prst="rect">
            <a:avLst/>
          </a:prstGeom>
          <a:noFill/>
          <a:ln/>
        </p:spPr>
        <p:txBody>
          <a:bodyPr wrap="square" rtlCol="0" anchor="ctr"/>
          <a:lstStyle/>
          <a:p>
            <a:pPr indent="0" marL="0">
              <a:buNone/>
            </a:pPr>
            <a:r>
              <a:rPr lang="en-US" sz="1500" b="1" dirty="0">
                <a:solidFill>
                  <a:srgbClr val="8FA6B8"/>
                </a:solidFill>
                <a:latin typeface="Segoe UI" pitchFamily="34" charset="0"/>
                <a:ea typeface="Segoe UI" pitchFamily="34" charset="-122"/>
                <a:cs typeface="Segoe UI" pitchFamily="34" charset="-120"/>
              </a:rPr>
              <a:t>DLT settlement players</a:t>
            </a:r>
            <a:endParaRPr lang="en-US" sz="1500" dirty="0"/>
          </a:p>
        </p:txBody>
      </p:sp>
      <p:sp>
        <p:nvSpPr>
          <p:cNvPr id="12" name="Text 10"/>
          <p:cNvSpPr/>
          <p:nvPr/>
        </p:nvSpPr>
        <p:spPr>
          <a:xfrm>
            <a:off x="6537960" y="2286000"/>
            <a:ext cx="4709160" cy="1920240"/>
          </a:xfrm>
          <a:prstGeom prst="rect">
            <a:avLst/>
          </a:prstGeom>
          <a:noFill/>
          <a:ln/>
        </p:spPr>
        <p:txBody>
          <a:bodyPr wrap="square" rtlCol="0" anchor="t"/>
          <a:lstStyle/>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Partior, Fnality, J.P. Morgan Kinexys.</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Settle atomically, but only bilaterally.</a:t>
            </a:r>
            <a:endParaRPr lang="en-US" sz="1250" dirty="0"/>
          </a:p>
          <a:p>
            <a:pPr marL="203200" indent="-203200">
              <a:lnSpc>
                <a:spcPct val="120000"/>
              </a:lnSpc>
              <a:spcAft>
                <a:spcPts val="800"/>
              </a:spcAft>
              <a:buSzPct val="100000"/>
              <a:buChar char="•"/>
            </a:pPr>
            <a:r>
              <a:rPr lang="en-US" sz="1250" dirty="0">
                <a:solidFill>
                  <a:srgbClr val="E6EDF3"/>
                </a:solidFill>
                <a:latin typeface="Segoe UI" pitchFamily="34" charset="0"/>
                <a:ea typeface="Segoe UI" pitchFamily="34" charset="-122"/>
                <a:cs typeface="Segoe UI" pitchFamily="34" charset="-120"/>
              </a:rPr>
              <a:t>No confidential N-party net computation.</a:t>
            </a:r>
            <a:endParaRPr lang="en-US" sz="1250" dirty="0"/>
          </a:p>
        </p:txBody>
      </p:sp>
      <p:sp>
        <p:nvSpPr>
          <p:cNvPr id="13" name="Shape 11"/>
          <p:cNvSpPr/>
          <p:nvPr/>
        </p:nvSpPr>
        <p:spPr>
          <a:xfrm>
            <a:off x="640080" y="4572000"/>
            <a:ext cx="10911535" cy="1371600"/>
          </a:xfrm>
          <a:prstGeom prst="roundRect">
            <a:avLst>
              <a:gd name="adj" fmla="val 6000"/>
            </a:avLst>
          </a:prstGeom>
          <a:solidFill>
            <a:srgbClr val="10251C"/>
          </a:solidFill>
          <a:ln w="12700">
            <a:solidFill>
              <a:srgbClr val="223040"/>
            </a:solidFill>
            <a:prstDash val="solid"/>
          </a:ln>
        </p:spPr>
      </p:sp>
      <p:sp>
        <p:nvSpPr>
          <p:cNvPr id="14" name="Text 12"/>
          <p:cNvSpPr/>
          <p:nvPr/>
        </p:nvSpPr>
        <p:spPr>
          <a:xfrm>
            <a:off x="914400" y="4709160"/>
            <a:ext cx="10362895" cy="1097280"/>
          </a:xfrm>
          <a:prstGeom prst="rect">
            <a:avLst/>
          </a:prstGeom>
          <a:noFill/>
          <a:ln/>
        </p:spPr>
        <p:txBody>
          <a:bodyPr wrap="square" rtlCol="0" anchor="ctr"/>
          <a:lstStyle/>
          <a:p>
            <a:pPr indent="0" marL="0">
              <a:lnSpc>
                <a:spcPct val="120000"/>
              </a:lnSpc>
              <a:buNone/>
            </a:pPr>
            <a:r>
              <a:rPr lang="en-US" sz="1500" b="1" dirty="0">
                <a:solidFill>
                  <a:srgbClr val="38E1A4"/>
                </a:solidFill>
                <a:latin typeface="Segoe UI" pitchFamily="34" charset="0"/>
                <a:ea typeface="Segoe UI" pitchFamily="34" charset="-122"/>
                <a:cs typeface="Segoe UI" pitchFamily="34" charset="-120"/>
              </a:rPr>
              <a:t>NetChain sits at both: </a:t>
            </a:r>
            <a:pPr indent="0" marL="0">
              <a:lnSpc>
                <a:spcPct val="120000"/>
              </a:lnSpc>
              <a:buNone/>
            </a:pPr>
            <a:r>
              <a:rPr lang="en-US" sz="1300" dirty="0">
                <a:solidFill>
                  <a:srgbClr val="E6EDF3"/>
                </a:solidFill>
                <a:latin typeface="Segoe UI" pitchFamily="34" charset="0"/>
                <a:ea typeface="Segoe UI" pitchFamily="34" charset="-122"/>
                <a:cs typeface="Segoe UI" pitchFamily="34" charset="-120"/>
              </a:rPr>
              <a:t>confidential N-party netting + atomic settlement of every net leg, on Canton. J.P. Morgan bringing JPMD to Canton and Ripple/GTreasury fusing netting with a rail are independent 2026 validation that this combination is real and not yet commoditized.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7FA6C9"/>
                </a:solidFill>
                <a:latin typeface="Segoe UI" pitchFamily="34" charset="0"/>
                <a:ea typeface="Segoe UI" pitchFamily="34" charset="-122"/>
                <a:cs typeface="Segoe UI" pitchFamily="34" charset="-120"/>
              </a:rPr>
              <a:t>RECAP</a:t>
            </a:r>
            <a:endParaRPr lang="en-US" sz="1100" dirty="0"/>
          </a:p>
        </p:txBody>
      </p:sp>
      <p:sp>
        <p:nvSpPr>
          <p:cNvPr id="4" name="Text 2"/>
          <p:cNvSpPr/>
          <p:nvPr/>
        </p:nvSpPr>
        <p:spPr>
          <a:xfrm>
            <a:off x="640080" y="658368"/>
            <a:ext cx="10911535" cy="731520"/>
          </a:xfrm>
          <a:prstGeom prst="rect">
            <a:avLst/>
          </a:prstGeom>
          <a:noFill/>
          <a:ln/>
        </p:spPr>
        <p:txBody>
          <a:bodyPr wrap="square" rtlCol="0" anchor="ctr"/>
          <a:lstStyle/>
          <a:p>
            <a:pPr indent="0" marL="0">
              <a:buNone/>
            </a:pPr>
            <a:r>
              <a:rPr lang="en-US" sz="2700" b="1" dirty="0">
                <a:solidFill>
                  <a:srgbClr val="E6EDF3"/>
                </a:solidFill>
                <a:latin typeface="Segoe UI" pitchFamily="34" charset="0"/>
                <a:ea typeface="Segoe UI" pitchFamily="34" charset="-122"/>
                <a:cs typeface="Segoe UI" pitchFamily="34" charset="-120"/>
              </a:rPr>
              <a:t>Everything, on one slide</a:t>
            </a:r>
            <a:endParaRPr lang="en-US" sz="2700" dirty="0"/>
          </a:p>
        </p:txBody>
      </p:sp>
      <p:sp>
        <p:nvSpPr>
          <p:cNvPr id="5" name="Text 3"/>
          <p:cNvSpPr/>
          <p:nvPr/>
        </p:nvSpPr>
        <p:spPr>
          <a:xfrm>
            <a:off x="640080" y="6446520"/>
            <a:ext cx="5486400" cy="274320"/>
          </a:xfrm>
          <a:prstGeom prst="rect">
            <a:avLst/>
          </a:prstGeom>
          <a:noFill/>
          <a:ln/>
        </p:spPr>
        <p:txBody>
          <a:bodyPr wrap="square" rtlCol="0" anchor="ctr"/>
          <a:lstStyle/>
          <a:p>
            <a:pPr indent="0" marL="0">
              <a:buNone/>
            </a:pPr>
            <a:r>
              <a:rPr lang="en-US" sz="900" b="1" dirty="0">
                <a:solidFill>
                  <a:srgbClr val="E6EDF3"/>
                </a:solidFill>
                <a:latin typeface="Segoe UI" pitchFamily="34" charset="0"/>
                <a:ea typeface="Segoe UI" pitchFamily="34" charset="-122"/>
                <a:cs typeface="Segoe UI" pitchFamily="34" charset="-120"/>
              </a:rPr>
              <a:t>NetChain</a:t>
            </a:r>
            <a:pPr indent="0" marL="0">
              <a:buNone/>
            </a:pPr>
            <a:r>
              <a:rPr lang="en-US" sz="900" dirty="0">
                <a:solidFill>
                  <a:srgbClr val="5F7486"/>
                </a:solidFill>
                <a:latin typeface="Segoe UI" pitchFamily="34" charset="0"/>
                <a:ea typeface="Segoe UI" pitchFamily="34" charset="-122"/>
                <a:cs typeface="Segoe UI" pitchFamily="34" charset="-120"/>
              </a:rPr>
              <a:t>  deep dive</a:t>
            </a:r>
            <a:endParaRPr lang="en-US" sz="900" dirty="0"/>
          </a:p>
        </p:txBody>
      </p:sp>
      <p:sp>
        <p:nvSpPr>
          <p:cNvPr id="6" name="Text 4"/>
          <p:cNvSpPr/>
          <p:nvPr/>
        </p:nvSpPr>
        <p:spPr>
          <a:xfrm>
            <a:off x="8808415" y="6446520"/>
            <a:ext cx="2743200" cy="274320"/>
          </a:xfrm>
          <a:prstGeom prst="rect">
            <a:avLst/>
          </a:prstGeom>
          <a:noFill/>
          <a:ln/>
        </p:spPr>
        <p:txBody>
          <a:bodyPr wrap="square" rtlCol="0" anchor="ctr"/>
          <a:lstStyle/>
          <a:p>
            <a:pPr algn="r" indent="0" marL="0">
              <a:buNone/>
            </a:pPr>
            <a:r>
              <a:rPr lang="en-US" sz="900" dirty="0">
                <a:solidFill>
                  <a:srgbClr val="5F7486"/>
                </a:solidFill>
                <a:latin typeface="Segoe UI" pitchFamily="34" charset="0"/>
                <a:ea typeface="Segoe UI" pitchFamily="34" charset="-122"/>
                <a:cs typeface="Segoe UI" pitchFamily="34" charset="-120"/>
              </a:rPr>
              <a:t>netchain.vercel.app</a:t>
            </a:r>
            <a:endParaRPr lang="en-US" sz="900" dirty="0"/>
          </a:p>
        </p:txBody>
      </p:sp>
      <p:sp>
        <p:nvSpPr>
          <p:cNvPr id="7" name="Shape 5"/>
          <p:cNvSpPr/>
          <p:nvPr/>
        </p:nvSpPr>
        <p:spPr>
          <a:xfrm>
            <a:off x="640080" y="1965960"/>
            <a:ext cx="3566160" cy="1097280"/>
          </a:xfrm>
          <a:prstGeom prst="roundRect">
            <a:avLst>
              <a:gd name="adj" fmla="val 7500"/>
            </a:avLst>
          </a:prstGeom>
          <a:solidFill>
            <a:srgbClr val="141C25"/>
          </a:solidFill>
          <a:ln w="12700">
            <a:solidFill>
              <a:srgbClr val="223040"/>
            </a:solidFill>
            <a:prstDash val="solid"/>
          </a:ln>
        </p:spPr>
      </p:sp>
      <p:sp>
        <p:nvSpPr>
          <p:cNvPr id="8" name="Text 6"/>
          <p:cNvSpPr/>
          <p:nvPr/>
        </p:nvSpPr>
        <p:spPr>
          <a:xfrm>
            <a:off x="822960" y="19659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Confidential netting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460k -&gt; 45k, counterparties blind</a:t>
            </a:r>
            <a:endParaRPr lang="en-US" sz="1400" dirty="0"/>
          </a:p>
        </p:txBody>
      </p:sp>
      <p:sp>
        <p:nvSpPr>
          <p:cNvPr id="9" name="Shape 7"/>
          <p:cNvSpPr/>
          <p:nvPr/>
        </p:nvSpPr>
        <p:spPr>
          <a:xfrm>
            <a:off x="4434840" y="1965960"/>
            <a:ext cx="3566160" cy="1097280"/>
          </a:xfrm>
          <a:prstGeom prst="roundRect">
            <a:avLst>
              <a:gd name="adj" fmla="val 7500"/>
            </a:avLst>
          </a:prstGeom>
          <a:solidFill>
            <a:srgbClr val="141C25"/>
          </a:solidFill>
          <a:ln w="12700">
            <a:solidFill>
              <a:srgbClr val="223040"/>
            </a:solidFill>
            <a:prstDash val="solid"/>
          </a:ln>
        </p:spPr>
      </p:sp>
      <p:sp>
        <p:nvSpPr>
          <p:cNvPr id="10" name="Text 8"/>
          <p:cNvSpPr/>
          <p:nvPr/>
        </p:nvSpPr>
        <p:spPr>
          <a:xfrm>
            <a:off x="4617720" y="19659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Atomic settlement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all legs or none, one commit</a:t>
            </a:r>
            <a:endParaRPr lang="en-US" sz="1400" dirty="0"/>
          </a:p>
        </p:txBody>
      </p:sp>
      <p:sp>
        <p:nvSpPr>
          <p:cNvPr id="11" name="Shape 9"/>
          <p:cNvSpPr/>
          <p:nvPr/>
        </p:nvSpPr>
        <p:spPr>
          <a:xfrm>
            <a:off x="8229600" y="1965960"/>
            <a:ext cx="3566160" cy="1097280"/>
          </a:xfrm>
          <a:prstGeom prst="roundRect">
            <a:avLst>
              <a:gd name="adj" fmla="val 7500"/>
            </a:avLst>
          </a:prstGeom>
          <a:solidFill>
            <a:srgbClr val="141C25"/>
          </a:solidFill>
          <a:ln w="12700">
            <a:solidFill>
              <a:srgbClr val="223040"/>
            </a:solidFill>
            <a:prstDash val="solid"/>
          </a:ln>
        </p:spPr>
      </p:sp>
      <p:sp>
        <p:nvSpPr>
          <p:cNvPr id="12" name="Text 10"/>
          <p:cNvSpPr/>
          <p:nvPr/>
        </p:nvSpPr>
        <p:spPr>
          <a:xfrm>
            <a:off x="8412480" y="19659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Per-party privacy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real 404, ledger-enforced</a:t>
            </a:r>
            <a:endParaRPr lang="en-US" sz="1400" dirty="0"/>
          </a:p>
        </p:txBody>
      </p:sp>
      <p:sp>
        <p:nvSpPr>
          <p:cNvPr id="13" name="Shape 11"/>
          <p:cNvSpPr/>
          <p:nvPr/>
        </p:nvSpPr>
        <p:spPr>
          <a:xfrm>
            <a:off x="640080" y="3337560"/>
            <a:ext cx="3566160" cy="1097280"/>
          </a:xfrm>
          <a:prstGeom prst="roundRect">
            <a:avLst>
              <a:gd name="adj" fmla="val 7500"/>
            </a:avLst>
          </a:prstGeom>
          <a:solidFill>
            <a:srgbClr val="141C25"/>
          </a:solidFill>
          <a:ln w="12700">
            <a:solidFill>
              <a:srgbClr val="223040"/>
            </a:solidFill>
            <a:prstDash val="solid"/>
          </a:ln>
        </p:spPr>
      </p:sp>
      <p:sp>
        <p:nvSpPr>
          <p:cNvPr id="14" name="Text 12"/>
          <p:cNvSpPr/>
          <p:nvPr/>
        </p:nvSpPr>
        <p:spPr>
          <a:xfrm>
            <a:off x="822960" y="33375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Bilateral confirmation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obligee accepts, anti-fake-invoice</a:t>
            </a:r>
            <a:endParaRPr lang="en-US" sz="1400" dirty="0"/>
          </a:p>
        </p:txBody>
      </p:sp>
      <p:sp>
        <p:nvSpPr>
          <p:cNvPr id="15" name="Shape 13"/>
          <p:cNvSpPr/>
          <p:nvPr/>
        </p:nvSpPr>
        <p:spPr>
          <a:xfrm>
            <a:off x="4434840" y="3337560"/>
            <a:ext cx="3566160" cy="1097280"/>
          </a:xfrm>
          <a:prstGeom prst="roundRect">
            <a:avLst>
              <a:gd name="adj" fmla="val 7500"/>
            </a:avLst>
          </a:prstGeom>
          <a:solidFill>
            <a:srgbClr val="141C25"/>
          </a:solidFill>
          <a:ln w="12700">
            <a:solidFill>
              <a:srgbClr val="223040"/>
            </a:solidFill>
            <a:prstDash val="solid"/>
          </a:ln>
        </p:spPr>
      </p:sp>
      <p:sp>
        <p:nvSpPr>
          <p:cNvPr id="16" name="Text 14"/>
          <p:cNvSpPr/>
          <p:nvPr/>
        </p:nvSpPr>
        <p:spPr>
          <a:xfrm>
            <a:off x="4617720" y="33375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Non-bypassable policy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cap asserted in Settle</a:t>
            </a:r>
            <a:endParaRPr lang="en-US" sz="1400" dirty="0"/>
          </a:p>
        </p:txBody>
      </p:sp>
      <p:sp>
        <p:nvSpPr>
          <p:cNvPr id="17" name="Shape 15"/>
          <p:cNvSpPr/>
          <p:nvPr/>
        </p:nvSpPr>
        <p:spPr>
          <a:xfrm>
            <a:off x="8229600" y="3337560"/>
            <a:ext cx="3566160" cy="1097280"/>
          </a:xfrm>
          <a:prstGeom prst="roundRect">
            <a:avLst>
              <a:gd name="adj" fmla="val 7500"/>
            </a:avLst>
          </a:prstGeom>
          <a:solidFill>
            <a:srgbClr val="141C25"/>
          </a:solidFill>
          <a:ln w="12700">
            <a:solidFill>
              <a:srgbClr val="223040"/>
            </a:solidFill>
            <a:prstDash val="solid"/>
          </a:ln>
        </p:spPr>
      </p:sp>
      <p:sp>
        <p:nvSpPr>
          <p:cNvPr id="18" name="Text 16"/>
          <p:cNvSpPr/>
          <p:nvPr/>
        </p:nvSpPr>
        <p:spPr>
          <a:xfrm>
            <a:off x="8412480" y="33375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Maker-checker caps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four-eyes governance</a:t>
            </a:r>
            <a:endParaRPr lang="en-US" sz="1400" dirty="0"/>
          </a:p>
        </p:txBody>
      </p:sp>
      <p:sp>
        <p:nvSpPr>
          <p:cNvPr id="19" name="Shape 17"/>
          <p:cNvSpPr/>
          <p:nvPr/>
        </p:nvSpPr>
        <p:spPr>
          <a:xfrm>
            <a:off x="640080" y="4709160"/>
            <a:ext cx="3566160" cy="1097280"/>
          </a:xfrm>
          <a:prstGeom prst="roundRect">
            <a:avLst>
              <a:gd name="adj" fmla="val 7500"/>
            </a:avLst>
          </a:prstGeom>
          <a:solidFill>
            <a:srgbClr val="141C25"/>
          </a:solidFill>
          <a:ln w="12700">
            <a:solidFill>
              <a:srgbClr val="223040"/>
            </a:solidFill>
            <a:prstDash val="solid"/>
          </a:ln>
        </p:spPr>
      </p:sp>
      <p:sp>
        <p:nvSpPr>
          <p:cNvPr id="20" name="Text 18"/>
          <p:cNvSpPr/>
          <p:nvPr/>
        </p:nvSpPr>
        <p:spPr>
          <a:xfrm>
            <a:off x="822960" y="47091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Automated netting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scheduled, self-healing</a:t>
            </a:r>
            <a:endParaRPr lang="en-US" sz="1400" dirty="0"/>
          </a:p>
        </p:txBody>
      </p:sp>
      <p:sp>
        <p:nvSpPr>
          <p:cNvPr id="21" name="Shape 19"/>
          <p:cNvSpPr/>
          <p:nvPr/>
        </p:nvSpPr>
        <p:spPr>
          <a:xfrm>
            <a:off x="4434840" y="4709160"/>
            <a:ext cx="3566160" cy="1097280"/>
          </a:xfrm>
          <a:prstGeom prst="roundRect">
            <a:avLst>
              <a:gd name="adj" fmla="val 7500"/>
            </a:avLst>
          </a:prstGeom>
          <a:solidFill>
            <a:srgbClr val="141C25"/>
          </a:solidFill>
          <a:ln w="12700">
            <a:solidFill>
              <a:srgbClr val="223040"/>
            </a:solidFill>
            <a:prstDash val="solid"/>
          </a:ln>
        </p:spPr>
      </p:sp>
      <p:sp>
        <p:nvSpPr>
          <p:cNvPr id="22" name="Text 20"/>
          <p:cNvSpPr/>
          <p:nvPr/>
        </p:nvSpPr>
        <p:spPr>
          <a:xfrm>
            <a:off x="4617720" y="47091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Agent-usable (MCP)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16 tools, ledger-bounded</a:t>
            </a:r>
            <a:endParaRPr lang="en-US" sz="1400" dirty="0"/>
          </a:p>
        </p:txBody>
      </p:sp>
      <p:sp>
        <p:nvSpPr>
          <p:cNvPr id="23" name="Shape 21"/>
          <p:cNvSpPr/>
          <p:nvPr/>
        </p:nvSpPr>
        <p:spPr>
          <a:xfrm>
            <a:off x="8229600" y="4709160"/>
            <a:ext cx="3566160" cy="1097280"/>
          </a:xfrm>
          <a:prstGeom prst="roundRect">
            <a:avLst>
              <a:gd name="adj" fmla="val 7500"/>
            </a:avLst>
          </a:prstGeom>
          <a:solidFill>
            <a:srgbClr val="141C25"/>
          </a:solidFill>
          <a:ln w="12700">
            <a:solidFill>
              <a:srgbClr val="223040"/>
            </a:solidFill>
            <a:prstDash val="solid"/>
          </a:ln>
        </p:spPr>
      </p:sp>
      <p:sp>
        <p:nvSpPr>
          <p:cNvPr id="24" name="Text 22"/>
          <p:cNvSpPr/>
          <p:nvPr/>
        </p:nvSpPr>
        <p:spPr>
          <a:xfrm>
            <a:off x="8412480" y="4709160"/>
            <a:ext cx="3200400" cy="1097280"/>
          </a:xfrm>
          <a:prstGeom prst="rect">
            <a:avLst/>
          </a:prstGeom>
          <a:noFill/>
          <a:ln/>
        </p:spPr>
        <p:txBody>
          <a:bodyPr wrap="square" rtlCol="0" anchor="ctr"/>
          <a:lstStyle/>
          <a:p>
            <a:pPr indent="0" marL="0">
              <a:lnSpc>
                <a:spcPct val="110000"/>
              </a:lnSpc>
              <a:buNone/>
            </a:pPr>
            <a:r>
              <a:rPr lang="en-US" sz="1400" b="1" dirty="0">
                <a:solidFill>
                  <a:srgbClr val="7FA6C9"/>
                </a:solidFill>
                <a:latin typeface="Segoe UI" pitchFamily="34" charset="0"/>
                <a:ea typeface="Segoe UI" pitchFamily="34" charset="-122"/>
                <a:cs typeface="Segoe UI" pitchFamily="34" charset="-120"/>
              </a:rPr>
              <a:t>Verifiable + upgradable
</a:t>
            </a:r>
            <a:pPr indent="0" marL="0">
              <a:lnSpc>
                <a:spcPct val="110000"/>
              </a:lnSpc>
              <a:buNone/>
            </a:pPr>
            <a:r>
              <a:rPr lang="en-US" sz="1100" dirty="0">
                <a:solidFill>
                  <a:srgbClr val="8FA6B8"/>
                </a:solidFill>
                <a:latin typeface="Segoe UI" pitchFamily="34" charset="0"/>
                <a:ea typeface="Segoe UI" pitchFamily="34" charset="-122"/>
                <a:cs typeface="Segoe UI" pitchFamily="34" charset="-120"/>
              </a:rPr>
              <a:t>real updateIds, live SCU chain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FA6C9"/>
          </a:solidFill>
          <a:ln/>
        </p:spPr>
      </p:sp>
      <p:sp>
        <p:nvSpPr>
          <p:cNvPr id="3" name="Text 1"/>
          <p:cNvSpPr/>
          <p:nvPr/>
        </p:nvSpPr>
        <p:spPr>
          <a:xfrm>
            <a:off x="640080" y="2377440"/>
            <a:ext cx="10911535" cy="914400"/>
          </a:xfrm>
          <a:prstGeom prst="rect">
            <a:avLst/>
          </a:prstGeom>
          <a:noFill/>
          <a:ln/>
        </p:spPr>
        <p:txBody>
          <a:bodyPr wrap="square" rtlCol="0" anchor="ctr"/>
          <a:lstStyle/>
          <a:p>
            <a:pPr indent="0" marL="0">
              <a:buNone/>
            </a:pPr>
            <a:r>
              <a:rPr lang="en-US" sz="3800" b="1" dirty="0">
                <a:solidFill>
                  <a:srgbClr val="FFFFFF"/>
                </a:solidFill>
                <a:latin typeface="Segoe UI" pitchFamily="34" charset="0"/>
                <a:ea typeface="Segoe UI" pitchFamily="34" charset="-122"/>
                <a:cs typeface="Segoe UI" pitchFamily="34" charset="-120"/>
              </a:rPr>
              <a:t>Settle everything, reveal nothing.</a:t>
            </a:r>
            <a:endParaRPr lang="en-US" sz="3800" dirty="0"/>
          </a:p>
        </p:txBody>
      </p:sp>
      <p:sp>
        <p:nvSpPr>
          <p:cNvPr id="4" name="Text 2"/>
          <p:cNvSpPr/>
          <p:nvPr/>
        </p:nvSpPr>
        <p:spPr>
          <a:xfrm>
            <a:off x="640080" y="3474720"/>
            <a:ext cx="10698480" cy="640080"/>
          </a:xfrm>
          <a:prstGeom prst="rect">
            <a:avLst/>
          </a:prstGeom>
          <a:noFill/>
          <a:ln/>
        </p:spPr>
        <p:txBody>
          <a:bodyPr wrap="square" rtlCol="0" anchor="ctr"/>
          <a:lstStyle/>
          <a:p>
            <a:pPr indent="0" marL="0">
              <a:buNone/>
            </a:pPr>
            <a:r>
              <a:rPr lang="en-US" sz="1500" dirty="0">
                <a:solidFill>
                  <a:srgbClr val="8FA6B8"/>
                </a:solidFill>
                <a:latin typeface="Segoe UI" pitchFamily="34" charset="0"/>
                <a:ea typeface="Segoe UI" pitchFamily="34" charset="-122"/>
                <a:cs typeface="Segoe UI" pitchFamily="34" charset="-120"/>
              </a:rPr>
              <a:t>Confidential netting · atomic settlement · bilateral consent · maker-checker limits · a policy the ledger enforces · an agent that can't overstep it.</a:t>
            </a:r>
            <a:endParaRPr lang="en-US" sz="1500" dirty="0"/>
          </a:p>
        </p:txBody>
      </p:sp>
      <p:sp>
        <p:nvSpPr>
          <p:cNvPr id="5" name="Text 3"/>
          <p:cNvSpPr/>
          <p:nvPr/>
        </p:nvSpPr>
        <p:spPr>
          <a:xfrm>
            <a:off x="640080" y="4937760"/>
            <a:ext cx="10972800" cy="365760"/>
          </a:xfrm>
          <a:prstGeom prst="rect">
            <a:avLst/>
          </a:prstGeom>
          <a:noFill/>
          <a:ln/>
        </p:spPr>
        <p:txBody>
          <a:bodyPr wrap="square" rtlCol="0" anchor="ctr"/>
          <a:lstStyle/>
          <a:p>
            <a:pPr indent="0" marL="0">
              <a:buNone/>
            </a:pPr>
            <a:r>
              <a:rPr lang="en-US" sz="1400" dirty="0">
                <a:solidFill>
                  <a:srgbClr val="5F7486"/>
                </a:solidFill>
                <a:latin typeface="Segoe UI" pitchFamily="34" charset="0"/>
                <a:ea typeface="Segoe UI" pitchFamily="34" charset="-122"/>
                <a:cs typeface="Segoe UI" pitchFamily="34" charset="-120"/>
              </a:rPr>
              <a:t>Try it:  </a:t>
            </a:r>
            <a:pPr indent="0" marL="0">
              <a:buNone/>
            </a:pPr>
            <a:r>
              <a:rPr lang="en-US" sz="1400" b="1" dirty="0">
                <a:solidFill>
                  <a:srgbClr val="38E1A4"/>
                </a:solidFill>
                <a:latin typeface="Segoe UI" pitchFamily="34" charset="0"/>
                <a:ea typeface="Segoe UI" pitchFamily="34" charset="-122"/>
                <a:cs typeface="Segoe UI" pitchFamily="34" charset="-120"/>
              </a:rPr>
              <a:t>netchain.vercel.app</a:t>
            </a:r>
            <a:pPr indent="0" marL="0">
              <a:buNone/>
            </a:pPr>
            <a:r>
              <a:rPr lang="en-US" sz="1400" dirty="0">
                <a:solidFill>
                  <a:srgbClr val="5F7486"/>
                </a:solidFill>
                <a:latin typeface="Segoe UI" pitchFamily="34" charset="0"/>
                <a:ea typeface="Segoe UI" pitchFamily="34" charset="-122"/>
                <a:cs typeface="Segoe UI" pitchFamily="34" charset="-120"/>
              </a:rPr>
              <a:t>     Repo:  </a:t>
            </a:r>
            <a:pPr indent="0" marL="0">
              <a:buNone/>
            </a:pPr>
            <a:r>
              <a:rPr lang="en-US" sz="1400" dirty="0">
                <a:solidFill>
                  <a:srgbClr val="7FA6C9"/>
                </a:solidFill>
                <a:latin typeface="Segoe UI" pitchFamily="34" charset="0"/>
                <a:ea typeface="Segoe UI" pitchFamily="34" charset="-122"/>
                <a:cs typeface="Segoe UI" pitchFamily="34" charset="-120"/>
              </a:rPr>
              <a:t>github.com/manjeetsharma0796/Net-chain</a:t>
            </a:r>
            <a:endParaRPr lang="en-US" sz="1400" dirty="0"/>
          </a:p>
        </p:txBody>
      </p:sp>
      <p:sp>
        <p:nvSpPr>
          <p:cNvPr id="6" name="Text 4"/>
          <p:cNvSpPr/>
          <p:nvPr/>
        </p:nvSpPr>
        <p:spPr>
          <a:xfrm>
            <a:off x="640080" y="5440680"/>
            <a:ext cx="10972800" cy="365760"/>
          </a:xfrm>
          <a:prstGeom prst="rect">
            <a:avLst/>
          </a:prstGeom>
          <a:noFill/>
          <a:ln/>
        </p:spPr>
        <p:txBody>
          <a:bodyPr wrap="square" rtlCol="0" anchor="ctr"/>
          <a:lstStyle/>
          <a:p>
            <a:pPr indent="0" marL="0">
              <a:buNone/>
            </a:pPr>
            <a:r>
              <a:rPr lang="en-US" sz="1200" dirty="0">
                <a:solidFill>
                  <a:srgbClr val="5F7486"/>
                </a:solidFill>
                <a:latin typeface="Segoe UI" pitchFamily="34" charset="0"/>
                <a:ea typeface="Segoe UI" pitchFamily="34" charset="-122"/>
                <a:cs typeface="Segoe UI" pitchFamily="34" charset="-120"/>
              </a:rPr>
              <a:t>Live on Canton Devnet · package netchain v1.0.4 · every screen here is the real running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NetChain, a deep dive</dc:title>
  <dc:subject>PptxGenJS Presentation</dc:subject>
  <dc:creator>NetChain</dc:creator>
  <cp:lastModifiedBy>NetChain</cp:lastModifiedBy>
  <cp:revision>1</cp:revision>
  <dcterms:created xsi:type="dcterms:W3CDTF">2026-07-12T13:32:35Z</dcterms:created>
  <dcterms:modified xsi:type="dcterms:W3CDTF">2026-07-12T13:32:35Z</dcterms:modified>
</cp:coreProperties>
</file>